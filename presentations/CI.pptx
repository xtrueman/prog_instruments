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4" r:id="rId57"/>
    <p:sldId id="315" r:id="rId58"/>
    <p:sldId id="316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9" r:id="rId69"/>
    <p:sldId id="330" r:id="rId70"/>
    <p:sldId id="331" r:id="rId71"/>
    <p:sldId id="332" r:id="rId72"/>
    <p:sldId id="334" r:id="rId73"/>
    <p:sldId id="335" r:id="rId74"/>
    <p:sldId id="336" r:id="rId75"/>
    <p:sldId id="337" r:id="rId76"/>
    <p:sldId id="338" r:id="rId77"/>
    <p:sldId id="339" r:id="rId78"/>
    <p:sldId id="351" r:id="rId79"/>
    <p:sldId id="355" r:id="rId8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47"/>
  </p:normalViewPr>
  <p:slideViewPr>
    <p:cSldViewPr snapToGrid="0">
      <p:cViewPr>
        <p:scale>
          <a:sx n="128" d="100"/>
          <a:sy n="128" d="100"/>
        </p:scale>
        <p:origin x="55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</a:t>
            </a:r>
            <a:r>
              <a:rPr dirty="0" err="1"/>
              <a:t>Основы</a:t>
            </a:r>
            <a:r>
              <a:rPr dirty="0"/>
              <a:t> 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pull_request GitHub Actions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merge revision —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объединения</a:t>
            </a:r>
            <a:r>
              <a:rPr dirty="0"/>
              <a:t> </a:t>
            </a:r>
            <a:r>
              <a:rPr dirty="0" err="1"/>
              <a:t>ветки</a:t>
            </a:r>
            <a:r>
              <a:rPr dirty="0"/>
              <a:t> PR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целевой</a:t>
            </a:r>
            <a:r>
              <a:rPr dirty="0"/>
              <a:t> </a:t>
            </a:r>
            <a:r>
              <a:rPr dirty="0" err="1"/>
              <a:t>веткой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обратная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экономит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 CI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docs.github.com</a:t>
            </a:r>
            <a:r>
              <a:rPr dirty="0"/>
              <a:t>/en/actions/about-github-actions/understanding-github-actions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</a:t>
            </a:r>
            <a:r>
              <a:rPr dirty="0" err="1"/>
              <a:t>Статический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Инструменты </a:t>
            </a:r>
            <a:r>
              <a:rPr dirty="0" err="1"/>
              <a:t>дополняют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 Автоисправление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отдельным</a:t>
            </a:r>
            <a:r>
              <a:rPr dirty="0"/>
              <a:t> </a:t>
            </a:r>
            <a:r>
              <a:rPr dirty="0" err="1"/>
              <a:t>режимом</a:t>
            </a:r>
            <a:r>
              <a:rPr dirty="0"/>
              <a:t> </a:t>
            </a:r>
            <a:r>
              <a:rPr dirty="0" err="1"/>
              <a:t>линтера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исходные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/ruff/ ; https://github.com/</a:t>
            </a:r>
            <a:r>
              <a:rPr dirty="0" err="1"/>
              <a:t>microsoft</a:t>
            </a:r>
            <a:r>
              <a:rPr dirty="0"/>
              <a:t>/pyright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подробно</a:t>
            </a:r>
            <a:r>
              <a:rPr dirty="0"/>
              <a:t> </a:t>
            </a:r>
            <a:r>
              <a:rPr dirty="0" err="1"/>
              <a:t>изучаем</a:t>
            </a:r>
            <a:r>
              <a:rPr dirty="0"/>
              <a:t> Ruff </a:t>
            </a:r>
            <a:r>
              <a:rPr dirty="0" err="1"/>
              <a:t>и</a:t>
            </a:r>
            <a:r>
              <a:rPr dirty="0"/>
              <a:t> Pyright. Специализированные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дополнять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pylint.readthedocs.io</a:t>
            </a:r>
            <a:r>
              <a:rPr dirty="0"/>
              <a:t>/en/stable/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Файлы </a:t>
            </a:r>
            <a:r>
              <a:rPr dirty="0" err="1"/>
              <a:t>проекта</a:t>
            </a:r>
            <a:r>
              <a:rPr dirty="0"/>
              <a:t>: </a:t>
            </a:r>
            <a:r>
              <a:rPr dirty="0" err="1"/>
              <a:t>main.py</a:t>
            </a:r>
            <a:r>
              <a:rPr dirty="0"/>
              <a:t>, </a:t>
            </a:r>
            <a:r>
              <a:rPr dirty="0" err="1"/>
              <a:t>pricing.py</a:t>
            </a:r>
            <a:r>
              <a:rPr dirty="0"/>
              <a:t>, tests/</a:t>
            </a:r>
            <a:r>
              <a:rPr dirty="0" err="1"/>
              <a:t>test_pricing.py</a:t>
            </a:r>
            <a:r>
              <a:rPr dirty="0"/>
              <a:t>.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вызов</a:t>
            </a:r>
            <a:r>
              <a:rPr dirty="0"/>
              <a:t> </a:t>
            </a:r>
            <a:r>
              <a:rPr dirty="0" err="1"/>
              <a:t>печатает</a:t>
            </a:r>
            <a:r>
              <a:rPr dirty="0"/>
              <a:t> 300.0. </a:t>
            </a:r>
            <a:r>
              <a:rPr dirty="0" err="1"/>
              <a:t>Аннотация</a:t>
            </a:r>
            <a:r>
              <a:rPr dirty="0"/>
              <a:t> int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аргументы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. Полные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конспекте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Небольшая</a:t>
            </a:r>
            <a:r>
              <a:rPr dirty="0"/>
              <a:t> </a:t>
            </a:r>
            <a:r>
              <a:rPr dirty="0" err="1"/>
              <a:t>функция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аннотациями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.</a:t>
            </a:r>
          </a:p>
          <a:p>
            <a:r>
              <a:rPr dirty="0"/>
              <a:t>Тесты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заказ</a:t>
            </a:r>
            <a:r>
              <a:rPr dirty="0"/>
              <a:t>, </a:t>
            </a:r>
            <a:r>
              <a:rPr dirty="0" err="1"/>
              <a:t>нулевое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отрицательное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.</a:t>
            </a:r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будем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/pyright/blob/main/docs/type-</a:t>
            </a:r>
            <a:r>
              <a:rPr dirty="0" err="1"/>
              <a:t>concepts.md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Ruff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Ruff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совместимость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. Это </a:t>
            </a:r>
            <a:r>
              <a:rPr dirty="0" err="1"/>
              <a:t>работа</a:t>
            </a:r>
            <a:r>
              <a:rPr dirty="0"/>
              <a:t> Pyright.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/ruff/linter/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/ruff/formatter/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Вывод </a:t>
            </a:r>
            <a:r>
              <a:rPr dirty="0" err="1"/>
              <a:t>сокращён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существенной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. F401 </a:t>
            </a:r>
            <a:r>
              <a:rPr dirty="0" err="1"/>
              <a:t>происходит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Pyflakes. </a:t>
            </a:r>
            <a:r>
              <a:rPr dirty="0" err="1"/>
              <a:t>Пометка</a:t>
            </a:r>
            <a:r>
              <a:rPr dirty="0"/>
              <a:t> [*]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исправления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CI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возврата</a:t>
            </a:r>
            <a:r>
              <a:rPr dirty="0"/>
              <a:t> </a:t>
            </a:r>
            <a:r>
              <a:rPr dirty="0" err="1"/>
              <a:t>сообщает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неуспешной</a:t>
            </a:r>
            <a:r>
              <a:rPr dirty="0"/>
              <a:t> </a:t>
            </a:r>
            <a:r>
              <a:rPr dirty="0" err="1"/>
              <a:t>проверке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F401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конкретное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.</a:t>
            </a:r>
          </a:p>
          <a:p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объясняет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нарушено</a:t>
            </a:r>
            <a:r>
              <a:rPr dirty="0"/>
              <a:t>.</a:t>
            </a:r>
          </a:p>
          <a:p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завершается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ненулевым</a:t>
            </a:r>
            <a:r>
              <a:rPr dirty="0"/>
              <a:t> </a:t>
            </a:r>
            <a:r>
              <a:rPr dirty="0" err="1"/>
              <a:t>кодом</a:t>
            </a:r>
            <a:r>
              <a:rPr dirty="0"/>
              <a:t>.</a:t>
            </a:r>
          </a:p>
          <a:p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исходный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/ruff/rules/unused-import/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/ruff/linter/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Пример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терминального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вывода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сокращён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--show-settings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показывает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итоговую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конфигурацию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указанного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файла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--isolated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игнорирует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конфигурационные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файлы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показывает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встроенные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настройки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выводе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linter.rules.enabled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перечислены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конкретные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активные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ruff linter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перечисляет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поддерживаемые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группы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префиксы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; ruff rule --all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печатает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сведения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обо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всех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правилах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; ruff rule F401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объясняет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выбранное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Страница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Ruff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содержит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фильтр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Default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встроенного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набора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Набор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зависит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версии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Ruff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конфигурации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</a:t>
            </a:r>
            <a:endParaRPr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Источники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https://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/ruff/rules/ ; https://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/ruff/configuration/ ; https://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/ruff/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faq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</a:t>
            </a:r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Сравните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diff,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удалите</a:t>
            </a:r>
            <a:r>
              <a:rPr dirty="0"/>
              <a:t> </a:t>
            </a:r>
            <a:r>
              <a:rPr dirty="0" err="1"/>
              <a:t>дублирующие</a:t>
            </a:r>
            <a:r>
              <a:rPr dirty="0"/>
              <a:t> Flake8/</a:t>
            </a:r>
            <a:r>
              <a:rPr dirty="0" err="1"/>
              <a:t>isort</a:t>
            </a:r>
            <a:r>
              <a:rPr dirty="0"/>
              <a:t>/Black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функциональность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покрыта</a:t>
            </a:r>
            <a:r>
              <a:rPr dirty="0"/>
              <a:t>. Некоторые </a:t>
            </a:r>
            <a:r>
              <a:rPr dirty="0" err="1"/>
              <a:t>специализированные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Pylint, Bandit </a:t>
            </a:r>
            <a:r>
              <a:rPr dirty="0" err="1"/>
              <a:t>или</a:t>
            </a:r>
            <a:r>
              <a:rPr dirty="0"/>
              <a:t> Semgrep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остаться</a:t>
            </a:r>
            <a:r>
              <a:rPr dirty="0"/>
              <a:t>. </a:t>
            </a: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расширения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серверную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</a:t>
            </a:r>
            <a:r>
              <a:rPr dirty="0"/>
              <a:t> IDE </a:t>
            </a:r>
            <a:r>
              <a:rPr dirty="0" err="1"/>
              <a:t>включаем</a:t>
            </a:r>
            <a:r>
              <a:rPr dirty="0"/>
              <a:t> </a:t>
            </a:r>
            <a:r>
              <a:rPr dirty="0" err="1"/>
              <a:t>расширение</a:t>
            </a:r>
            <a:r>
              <a:rPr dirty="0"/>
              <a:t> Ruff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сохранении</a:t>
            </a:r>
            <a:r>
              <a:rPr dirty="0"/>
              <a:t>.</a:t>
            </a:r>
          </a:p>
          <a:p>
            <a:r>
              <a:rPr dirty="0"/>
              <a:t>Правила </a:t>
            </a:r>
            <a:r>
              <a:rPr dirty="0" err="1"/>
              <a:t>читаются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pyproject.toml.</a:t>
            </a:r>
          </a:p>
          <a:p>
            <a:r>
              <a:rPr dirty="0"/>
              <a:t>Сначала </a:t>
            </a:r>
            <a:r>
              <a:rPr dirty="0" err="1"/>
              <a:t>переносим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Flake8,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меняем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/ruff/editors/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/ruff/configuration/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</a:t>
            </a:r>
            <a:r>
              <a:rPr dirty="0" err="1"/>
              <a:t>faq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Для </a:t>
            </a:r>
            <a:r>
              <a:rPr dirty="0" err="1"/>
              <a:t>демонстрации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оставьте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main.py</a:t>
            </a:r>
            <a:r>
              <a:rPr dirty="0"/>
              <a:t> </a:t>
            </a:r>
            <a:r>
              <a:rPr dirty="0" err="1"/>
              <a:t>импорт</a:t>
            </a:r>
            <a:r>
              <a:rPr dirty="0"/>
              <a:t> os </a:t>
            </a:r>
            <a:r>
              <a:rPr dirty="0" err="1"/>
              <a:t>и</a:t>
            </a:r>
            <a:r>
              <a:rPr dirty="0"/>
              <a:t> print("Ready"). </a:t>
            </a:r>
            <a:r>
              <a:rPr dirty="0" err="1"/>
              <a:t>Покажите</a:t>
            </a:r>
            <a:r>
              <a:rPr dirty="0"/>
              <a:t> git diff. </a:t>
            </a:r>
            <a:r>
              <a:rPr dirty="0" err="1"/>
              <a:t>Функция</a:t>
            </a:r>
            <a:r>
              <a:rPr dirty="0"/>
              <a:t> </a:t>
            </a:r>
            <a:r>
              <a:rPr dirty="0" err="1"/>
              <a:t>форматирования</a:t>
            </a:r>
            <a:r>
              <a:rPr dirty="0"/>
              <a:t> </a:t>
            </a:r>
            <a:r>
              <a:rPr dirty="0" err="1"/>
              <a:t>выделена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смешивается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логическим</a:t>
            </a:r>
            <a:r>
              <a:rPr dirty="0"/>
              <a:t> </a:t>
            </a:r>
            <a:r>
              <a:rPr dirty="0" err="1"/>
              <a:t>исправлением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Ruff </a:t>
            </a:r>
            <a:r>
              <a:rPr dirty="0" err="1"/>
              <a:t>удалил</a:t>
            </a:r>
            <a:r>
              <a:rPr dirty="0"/>
              <a:t> </a:t>
            </a:r>
            <a:r>
              <a:rPr dirty="0" err="1"/>
              <a:t>неиспользуемый</a:t>
            </a:r>
            <a:r>
              <a:rPr dirty="0"/>
              <a:t> </a:t>
            </a:r>
            <a:r>
              <a:rPr dirty="0" err="1"/>
              <a:t>импорт</a:t>
            </a:r>
            <a:r>
              <a:rPr dirty="0"/>
              <a:t>.</a:t>
            </a:r>
          </a:p>
          <a:p>
            <a:r>
              <a:rPr dirty="0"/>
              <a:t>Проверяем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коммитом</a:t>
            </a:r>
            <a:r>
              <a:rPr dirty="0"/>
              <a:t>.</a:t>
            </a:r>
          </a:p>
          <a:p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исправлений</a:t>
            </a:r>
            <a:r>
              <a:rPr dirty="0"/>
              <a:t>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тесты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/ruff/linter/#fixes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Запуск</a:t>
            </a:r>
            <a:r>
              <a:rPr dirty="0"/>
              <a:t>: uv run --locked ruff format </a:t>
            </a:r>
            <a:r>
              <a:rPr dirty="0" err="1"/>
              <a:t>main.py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CI: uv run --locked ruff format --check .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порядка</a:t>
            </a:r>
            <a:r>
              <a:rPr dirty="0"/>
              <a:t> </a:t>
            </a:r>
            <a:r>
              <a:rPr dirty="0" err="1"/>
              <a:t>импортов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ruff check --select I --fix,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форматтер.</a:t>
            </a:r>
          </a:p>
          <a:p>
            <a:endParaRPr dirty="0"/>
          </a:p>
          <a:p>
            <a:r>
              <a:rPr dirty="0"/>
              <a:t>Меняет </a:t>
            </a:r>
            <a:r>
              <a:rPr dirty="0" err="1"/>
              <a:t>пробелы</a:t>
            </a:r>
            <a:r>
              <a:rPr dirty="0"/>
              <a:t>, </a:t>
            </a:r>
            <a:r>
              <a:rPr dirty="0" err="1"/>
              <a:t>переносы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кавычки</a:t>
            </a:r>
            <a:r>
              <a:rPr dirty="0"/>
              <a:t>.</a:t>
            </a:r>
          </a:p>
          <a:p>
            <a:r>
              <a:rPr dirty="0"/>
              <a:t>Правила </a:t>
            </a:r>
            <a:r>
              <a:rPr dirty="0" err="1"/>
              <a:t>форматирования</a:t>
            </a:r>
            <a:r>
              <a:rPr dirty="0"/>
              <a:t> </a:t>
            </a:r>
            <a:r>
              <a:rPr dirty="0" err="1"/>
              <a:t>одинаковы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r>
              <a:rPr dirty="0"/>
              <a:t>Сортировка </a:t>
            </a:r>
            <a:r>
              <a:rPr dirty="0" err="1"/>
              <a:t>импортов</a:t>
            </a:r>
            <a:r>
              <a:rPr dirty="0"/>
              <a:t> </a:t>
            </a:r>
            <a:r>
              <a:rPr dirty="0" err="1"/>
              <a:t>включается</a:t>
            </a:r>
            <a:r>
              <a:rPr dirty="0"/>
              <a:t> </a:t>
            </a:r>
            <a:r>
              <a:rPr dirty="0" err="1"/>
              <a:t>правилом</a:t>
            </a:r>
            <a:r>
              <a:rPr dirty="0"/>
              <a:t> I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линтере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/ruff/formatter/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Параметры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[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tool.ruff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]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задают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общие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настройки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Ruff.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Секция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[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tool.ruff.format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]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настраивает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форматтер. preview=false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исключает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нестабильные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возможности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skip-magic-trailing-comma=true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заставляет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форматтер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игнорировать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завершающую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«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магическую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»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запятую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сигнал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сохранить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перенос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строк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line-ending: auto,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lf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cr-lf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или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native.</a:t>
            </a:r>
            <a:b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Источник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https://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/ruff/configuration/</a:t>
            </a: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явный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обещание</a:t>
            </a:r>
            <a:r>
              <a:rPr dirty="0"/>
              <a:t> </a:t>
            </a:r>
            <a:r>
              <a:rPr dirty="0" err="1"/>
              <a:t>неизменных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Ruff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 </a:t>
            </a:r>
            <a:r>
              <a:rPr dirty="0" err="1"/>
              <a:t>Указание</a:t>
            </a:r>
            <a:r>
              <a:rPr dirty="0"/>
              <a:t> fixable=["ALL"]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смысл</a:t>
            </a:r>
            <a:r>
              <a:rPr dirty="0"/>
              <a:t>: </a:t>
            </a: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фиксы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включённых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/ruff/linter/#rule-selection ; https://</a:t>
            </a:r>
            <a:r>
              <a:rPr dirty="0" err="1"/>
              <a:t>docs.astral.sh</a:t>
            </a:r>
            <a:r>
              <a:rPr dirty="0"/>
              <a:t>/ruff/rules/unused-noqa/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Дополнения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ignore=["E501"]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отключает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проверку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длины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строки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; per-file-ignores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задаёт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исключения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путям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S101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запрещает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assert, F401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сообщает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неиспользуемых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импортах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Для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публичных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экспортов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__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init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__.py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предпочтительно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явно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указывать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__all__.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Блок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ALL —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самостоятельный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альтернативный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конфиг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вторая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одноимённая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таблица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том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же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TOML. D — docstring, ANN —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аннотации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ALL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включает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новые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правила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обновлении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preview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включается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отдельно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CLI-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примеры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предполагают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нарушений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выбранных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; --select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заменяет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базу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но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дополнительные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extend-select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из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конфигурации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могут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сохраняться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--extend-select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добавляет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правила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настройкам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CLI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переписывает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pyproject.toml.</a:t>
            </a:r>
            <a:endParaRPr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Источники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</a:t>
            </a:r>
            <a:endParaRPr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/ruff/linter/#rule-selection</a:t>
            </a:r>
            <a:endParaRPr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/ruff/settings/#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lint_ignore</a:t>
            </a:r>
            <a:endParaRPr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/ruff/settings/#</a:t>
            </a:r>
            <a:r>
              <a:rPr sz="120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lint_per</a:t>
            </a:r>
            <a:r>
              <a:rPr sz="120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-file-ignores</a:t>
            </a: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force-exclude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интеграций</a:t>
            </a:r>
            <a:r>
              <a:rPr dirty="0"/>
              <a:t>, </a:t>
            </a:r>
            <a:r>
              <a:rPr dirty="0" err="1"/>
              <a:t>передающих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хуках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pass_filenames</a:t>
            </a:r>
            <a:r>
              <a:rPr dirty="0"/>
              <a:t>=false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 src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классификации</a:t>
            </a:r>
            <a:r>
              <a:rPr dirty="0"/>
              <a:t> </a:t>
            </a:r>
            <a:r>
              <a:rPr dirty="0" err="1"/>
              <a:t>собственных</a:t>
            </a:r>
            <a:r>
              <a:rPr dirty="0"/>
              <a:t> </a:t>
            </a:r>
            <a:r>
              <a:rPr dirty="0" err="1"/>
              <a:t>импортов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ограничению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/ruff/settings/#force-exclude ; https://</a:t>
            </a:r>
            <a:r>
              <a:rPr dirty="0" err="1"/>
              <a:t>docs.astral.sh</a:t>
            </a:r>
            <a:r>
              <a:rPr dirty="0"/>
              <a:t>/ruff/configuration/#python-file-discovery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Префикс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обозначает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семейство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полный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код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конкретную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проверку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E4/E7/E9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приводятся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базовые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префиксы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из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исходного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учебного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примера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универсальный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список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включённых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умолчанию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состав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зависит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версии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Ruff. ANN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проверяет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наличие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аннотаций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заменяет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тайпчекер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ALL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может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включать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конфликтующие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правила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добавляет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новые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обновлении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 При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выборе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F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учитываются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доступность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, preview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настроенные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исключения</a:t>
            </a:r>
            <a:r>
              <a:rPr sz="14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</a:t>
            </a:r>
            <a:endParaRPr sz="14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2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/ruff/rules/</a:t>
            </a:r>
            <a:br>
              <a:rPr sz="12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</a:br>
            <a:r>
              <a:rPr sz="12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200" b="0" dirty="0" err="1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200" b="0" dirty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/ruff/linter/#rule-selection</a:t>
            </a: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dirty="0"/>
              <a:t> plugin </a:t>
            </a:r>
            <a:r>
              <a:rPr dirty="0" err="1"/>
              <a:t>предполагает</a:t>
            </a:r>
            <a:r>
              <a:rPr dirty="0"/>
              <a:t> </a:t>
            </a:r>
            <a:r>
              <a:rPr dirty="0" err="1"/>
              <a:t>импорт</a:t>
            </a:r>
            <a:r>
              <a:rPr dirty="0"/>
              <a:t> </a:t>
            </a:r>
            <a:r>
              <a:rPr dirty="0" err="1"/>
              <a:t>ради</a:t>
            </a:r>
            <a:r>
              <a:rPr dirty="0"/>
              <a:t> </a:t>
            </a:r>
            <a:r>
              <a:rPr dirty="0" err="1"/>
              <a:t>регистрации</a:t>
            </a:r>
            <a:r>
              <a:rPr dirty="0"/>
              <a:t> </a:t>
            </a:r>
            <a:r>
              <a:rPr dirty="0" err="1"/>
              <a:t>плагина</a:t>
            </a:r>
            <a:r>
              <a:rPr dirty="0"/>
              <a:t>. </a:t>
            </a:r>
            <a:r>
              <a:rPr dirty="0" err="1"/>
              <a:t>Файл</a:t>
            </a:r>
            <a:r>
              <a:rPr dirty="0"/>
              <a:t> plugins/__</a:t>
            </a:r>
            <a:r>
              <a:rPr dirty="0" err="1"/>
              <a:t>init</a:t>
            </a:r>
            <a:r>
              <a:rPr dirty="0"/>
              <a:t>__.py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намеренно</a:t>
            </a:r>
            <a:r>
              <a:rPr dirty="0"/>
              <a:t> </a:t>
            </a:r>
            <a:r>
              <a:rPr dirty="0" err="1"/>
              <a:t>импортировать</a:t>
            </a:r>
            <a:r>
              <a:rPr dirty="0"/>
              <a:t> </a:t>
            </a:r>
            <a:r>
              <a:rPr dirty="0" err="1"/>
              <a:t>модули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побочными</a:t>
            </a:r>
            <a:r>
              <a:rPr dirty="0"/>
              <a:t> </a:t>
            </a:r>
            <a:r>
              <a:rPr dirty="0" err="1"/>
              <a:t>эффектами</a:t>
            </a:r>
            <a:r>
              <a:rPr dirty="0"/>
              <a:t>. Для </a:t>
            </a:r>
            <a:r>
              <a:rPr dirty="0" err="1"/>
              <a:t>реэкспорта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объявить</a:t>
            </a:r>
            <a:r>
              <a:rPr dirty="0"/>
              <a:t> __all__. per-file-ignores </a:t>
            </a:r>
            <a:r>
              <a:rPr dirty="0" err="1"/>
              <a:t>действует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исключены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Сначала </a:t>
            </a:r>
            <a:r>
              <a:rPr dirty="0" err="1"/>
              <a:t>разбираемся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причине</a:t>
            </a:r>
            <a:r>
              <a:rPr dirty="0"/>
              <a:t> </a:t>
            </a:r>
            <a:r>
              <a:rPr dirty="0" err="1"/>
              <a:t>срабатывания</a:t>
            </a:r>
            <a:r>
              <a:rPr dirty="0"/>
              <a:t>.</a:t>
            </a:r>
          </a:p>
          <a:p>
            <a:r>
              <a:rPr dirty="0"/>
              <a:t>Для </a:t>
            </a:r>
            <a:r>
              <a:rPr dirty="0" err="1"/>
              <a:t>особого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задаём</a:t>
            </a:r>
            <a:r>
              <a:rPr dirty="0"/>
              <a:t> per-file-ignores.</a:t>
            </a:r>
          </a:p>
          <a:p>
            <a:r>
              <a:rPr dirty="0"/>
              <a:t>Для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указываем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noqa.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/ruff/linter/#error-suppression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Для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длины</a:t>
            </a:r>
            <a:r>
              <a:rPr dirty="0"/>
              <a:t> </a:t>
            </a:r>
            <a:r>
              <a:rPr dirty="0" err="1"/>
              <a:t>добавляем</a:t>
            </a:r>
            <a:r>
              <a:rPr dirty="0"/>
              <a:t> E501 </a:t>
            </a:r>
            <a:r>
              <a:rPr dirty="0" err="1"/>
              <a:t>в</a:t>
            </a:r>
            <a:r>
              <a:rPr dirty="0"/>
              <a:t> extend-select. </a:t>
            </a:r>
            <a:r>
              <a:rPr dirty="0" err="1"/>
              <a:t>У</a:t>
            </a:r>
            <a:r>
              <a:rPr dirty="0"/>
              <a:t> E501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исключения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некоторых</a:t>
            </a:r>
            <a:r>
              <a:rPr dirty="0"/>
              <a:t> URL. skip-magic-trailing-comma=false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завершающей</a:t>
            </a:r>
            <a:r>
              <a:rPr dirty="0"/>
              <a:t> </a:t>
            </a:r>
            <a:r>
              <a:rPr dirty="0" err="1"/>
              <a:t>запятой</a:t>
            </a:r>
            <a:r>
              <a:rPr dirty="0"/>
              <a:t>. Сортировка </a:t>
            </a:r>
            <a:r>
              <a:rPr dirty="0" err="1"/>
              <a:t>импортов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правилу</a:t>
            </a:r>
            <a:r>
              <a:rPr dirty="0"/>
              <a:t> I </a:t>
            </a:r>
            <a:r>
              <a:rPr dirty="0" err="1"/>
              <a:t>линтера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ruff format.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/ruff/formatter/#docstring-formatting ; https://</a:t>
            </a:r>
            <a:r>
              <a:rPr dirty="0" err="1"/>
              <a:t>docs.astral.sh</a:t>
            </a:r>
            <a:r>
              <a:rPr dirty="0"/>
              <a:t>/ruff/settings/#format ; https://</a:t>
            </a:r>
            <a:r>
              <a:rPr dirty="0" err="1"/>
              <a:t>docs.astral.sh</a:t>
            </a:r>
            <a:r>
              <a:rPr dirty="0"/>
              <a:t>/ruff/rules/line-too-long/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unsafe-fixes=false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подсказки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доступных</a:t>
            </a:r>
            <a:r>
              <a:rPr dirty="0"/>
              <a:t> </a:t>
            </a:r>
            <a:r>
              <a:rPr dirty="0" err="1"/>
              <a:t>небезопасных</a:t>
            </a:r>
            <a:r>
              <a:rPr dirty="0"/>
              <a:t> </a:t>
            </a:r>
            <a:r>
              <a:rPr dirty="0" err="1"/>
              <a:t>исправлениях</a:t>
            </a:r>
            <a:r>
              <a:rPr dirty="0"/>
              <a:t>. Если </a:t>
            </a:r>
            <a:r>
              <a:rPr dirty="0" err="1"/>
              <a:t>параметр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,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применяются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подсказки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. --fix --unsafe-fixes </a:t>
            </a:r>
            <a:r>
              <a:rPr dirty="0" err="1"/>
              <a:t>допускает</a:t>
            </a:r>
            <a:r>
              <a:rPr dirty="0"/>
              <a:t> </a:t>
            </a:r>
            <a:r>
              <a:rPr dirty="0" err="1"/>
              <a:t>такие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. После </a:t>
            </a:r>
            <a:r>
              <a:rPr dirty="0" err="1"/>
              <a:t>фиксов</a:t>
            </a:r>
            <a:r>
              <a:rPr dirty="0"/>
              <a:t> </a:t>
            </a:r>
            <a:r>
              <a:rPr dirty="0" err="1"/>
              <a:t>просматриваем</a:t>
            </a:r>
            <a:r>
              <a:rPr dirty="0"/>
              <a:t> diff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тесты</a:t>
            </a:r>
            <a:r>
              <a:rPr dirty="0"/>
              <a:t>. </a:t>
            </a:r>
            <a:r>
              <a:rPr dirty="0" err="1"/>
              <a:t>Пример</a:t>
            </a:r>
            <a:r>
              <a:rPr dirty="0"/>
              <a:t> unfixable=["B"]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возможную</a:t>
            </a:r>
            <a:r>
              <a:rPr dirty="0"/>
              <a:t> </a:t>
            </a:r>
            <a:r>
              <a:rPr dirty="0" err="1"/>
              <a:t>политику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обязательную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 </a:t>
            </a:r>
            <a:r>
              <a:rPr dirty="0" err="1"/>
              <a:t>сквозного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/ruff/linter/#fix-safety ; https://</a:t>
            </a:r>
            <a:r>
              <a:rPr dirty="0" err="1"/>
              <a:t>docs.astral.sh</a:t>
            </a:r>
            <a:r>
              <a:rPr dirty="0"/>
              <a:t>/ruff/linter/#disabling-fixes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: 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Далее </a:t>
            </a:r>
            <a:r>
              <a:rPr dirty="0" err="1"/>
              <a:t>используем</a:t>
            </a:r>
            <a:r>
              <a:rPr dirty="0"/>
              <a:t> Pyright. Ruff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mypy.readthedocs.io</a:t>
            </a:r>
            <a:r>
              <a:rPr dirty="0"/>
              <a:t>/en/stable/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</a:t>
            </a:r>
          </a:p>
          <a:p>
            <a:endParaRPr dirty="0"/>
          </a:p>
          <a:p>
            <a:r>
              <a:rPr dirty="0"/>
              <a:t>- https://pyre-</a:t>
            </a:r>
            <a:r>
              <a:rPr dirty="0" err="1"/>
              <a:t>check.org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google.github.io</a:t>
            </a:r>
            <a:r>
              <a:rPr dirty="0"/>
              <a:t>/pytype/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/ty/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pyrefly.org</a:t>
            </a:r>
            <a:r>
              <a:rPr dirty="0"/>
              <a:t>/en/docs/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Вывод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сокращён</a:t>
            </a:r>
            <a:r>
              <a:rPr dirty="0"/>
              <a:t>. </a:t>
            </a:r>
            <a:r>
              <a:rPr dirty="0" err="1"/>
              <a:t>Исходная</a:t>
            </a:r>
            <a:r>
              <a:rPr dirty="0"/>
              <a:t> </a:t>
            </a:r>
            <a:r>
              <a:rPr dirty="0" err="1"/>
              <a:t>функция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pricing.py</a:t>
            </a:r>
            <a:r>
              <a:rPr dirty="0"/>
              <a:t> </a:t>
            </a:r>
            <a:r>
              <a:rPr dirty="0" err="1"/>
              <a:t>аннотирована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замены</a:t>
            </a:r>
            <a:r>
              <a:rPr dirty="0"/>
              <a:t> "3" </a:t>
            </a:r>
            <a:r>
              <a:rPr dirty="0" err="1"/>
              <a:t>на</a:t>
            </a:r>
            <a:r>
              <a:rPr dirty="0"/>
              <a:t> 3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проходит</a:t>
            </a:r>
            <a:r>
              <a:rPr dirty="0"/>
              <a:t>. Python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автоматическую</a:t>
            </a:r>
            <a:r>
              <a:rPr dirty="0"/>
              <a:t> runtime-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аннотаций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Аннотация</a:t>
            </a:r>
            <a:r>
              <a:rPr dirty="0"/>
              <a:t> quantity: int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.</a:t>
            </a:r>
          </a:p>
          <a:p>
            <a:r>
              <a:rPr dirty="0"/>
              <a:t>Ruff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 </a:t>
            </a:r>
            <a:r>
              <a:rPr dirty="0" err="1"/>
              <a:t>такую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r>
              <a:rPr dirty="0"/>
              <a:t>Pyright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вызов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/pyright/blob/main/docs/type-</a:t>
            </a:r>
            <a:r>
              <a:rPr dirty="0" err="1"/>
              <a:t>concepts.md</a:t>
            </a:r>
            <a:endParaRPr dirty="0"/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редакторе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reveal_type</a:t>
            </a:r>
            <a:r>
              <a:rPr dirty="0"/>
              <a:t>(value). </a:t>
            </a:r>
            <a:r>
              <a:rPr dirty="0" err="1"/>
              <a:t>Тогда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выводе</a:t>
            </a:r>
            <a:r>
              <a:rPr dirty="0"/>
              <a:t> Pyright </a:t>
            </a:r>
            <a:r>
              <a:rPr dirty="0" err="1"/>
              <a:t>появится</a:t>
            </a:r>
            <a:r>
              <a:rPr dirty="0"/>
              <a:t> </a:t>
            </a:r>
            <a:r>
              <a:rPr dirty="0" err="1"/>
              <a:t>информационная</a:t>
            </a:r>
            <a:r>
              <a:rPr dirty="0"/>
              <a:t>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типом</a:t>
            </a:r>
            <a:r>
              <a:rPr dirty="0"/>
              <a:t> str.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: </a:t>
            </a:r>
            <a:r>
              <a:rPr dirty="0" err="1"/>
              <a:t>TypeGuard</a:t>
            </a:r>
            <a:r>
              <a:rPr dirty="0"/>
              <a:t>, </a:t>
            </a:r>
            <a:r>
              <a:rPr dirty="0" err="1"/>
              <a:t>TypeIs</a:t>
            </a:r>
            <a:r>
              <a:rPr dirty="0"/>
              <a:t>, Protocol </a:t>
            </a:r>
            <a:r>
              <a:rPr dirty="0" err="1"/>
              <a:t>и</a:t>
            </a:r>
            <a:r>
              <a:rPr dirty="0"/>
              <a:t> overload.</a:t>
            </a:r>
          </a:p>
          <a:p>
            <a:endParaRPr dirty="0"/>
          </a:p>
          <a:p>
            <a:r>
              <a:rPr dirty="0"/>
              <a:t>После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None </a:t>
            </a:r>
            <a:r>
              <a:rPr dirty="0" err="1"/>
              <a:t>остаётся</a:t>
            </a:r>
            <a:r>
              <a:rPr dirty="0"/>
              <a:t> str.</a:t>
            </a:r>
          </a:p>
          <a:p>
            <a:r>
              <a:rPr dirty="0"/>
              <a:t>Pyright </a:t>
            </a:r>
            <a:r>
              <a:rPr dirty="0" err="1"/>
              <a:t>учитывает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достижимость</a:t>
            </a:r>
            <a:r>
              <a:rPr dirty="0"/>
              <a:t> </a:t>
            </a:r>
            <a:r>
              <a:rPr dirty="0" err="1"/>
              <a:t>веток</a:t>
            </a:r>
            <a:r>
              <a:rPr dirty="0"/>
              <a:t>.</a:t>
            </a:r>
          </a:p>
          <a:p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isinstance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/pyright/blob/main/docs/type-concepts-</a:t>
            </a:r>
            <a:r>
              <a:rPr dirty="0" err="1"/>
              <a:t>advanced.md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рассчитана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.venv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корне</a:t>
            </a:r>
            <a:r>
              <a:rPr dirty="0"/>
              <a:t>. CLI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uv run --locked pyright.</a:t>
            </a:r>
          </a:p>
          <a:p>
            <a:r>
              <a:rPr dirty="0" err="1"/>
              <a:t>Источники</a:t>
            </a:r>
            <a:r>
              <a:rPr dirty="0"/>
              <a:t>: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r>
              <a:rPr dirty="0"/>
              <a:t> ;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import-resolution.md#configuring-your-python-environment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альтернатива</a:t>
            </a:r>
            <a:r>
              <a:rPr dirty="0"/>
              <a:t> </a:t>
            </a:r>
            <a:r>
              <a:rPr dirty="0" err="1"/>
              <a:t>глобальному</a:t>
            </a:r>
            <a:r>
              <a:rPr dirty="0"/>
              <a:t> strict,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tool.pyright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файле</a:t>
            </a:r>
            <a:r>
              <a:rPr dirty="0"/>
              <a:t>. reportMissingTypeStubs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следует</a:t>
            </a:r>
            <a:r>
              <a:rPr dirty="0"/>
              <a:t> </a:t>
            </a:r>
            <a:r>
              <a:rPr dirty="0" err="1"/>
              <a:t>отключать</a:t>
            </a:r>
            <a:r>
              <a:rPr dirty="0"/>
              <a:t> </a:t>
            </a:r>
            <a:r>
              <a:rPr dirty="0" err="1"/>
              <a:t>механически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strict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диагностические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усиливать</a:t>
            </a:r>
            <a:r>
              <a:rPr dirty="0"/>
              <a:t> </a:t>
            </a:r>
            <a:r>
              <a:rPr dirty="0" err="1"/>
              <a:t>строгость</a:t>
            </a:r>
            <a:r>
              <a:rPr dirty="0"/>
              <a:t>. Параметры Python </a:t>
            </a:r>
            <a:r>
              <a:rPr dirty="0" err="1"/>
              <a:t>и</a:t>
            </a:r>
            <a:r>
              <a:rPr dirty="0"/>
              <a:t> .venv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базового</a:t>
            </a:r>
            <a:r>
              <a:rPr dirty="0"/>
              <a:t> </a:t>
            </a:r>
            <a:r>
              <a:rPr dirty="0" err="1"/>
              <a:t>примера</a:t>
            </a:r>
            <a:r>
              <a:rPr dirty="0"/>
              <a:t> </a:t>
            </a:r>
            <a:r>
              <a:rPr dirty="0" err="1"/>
              <a:t>сохраняем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r>
              <a:rPr dirty="0"/>
              <a:t> ; https://github.com/</a:t>
            </a:r>
            <a:r>
              <a:rPr dirty="0" err="1"/>
              <a:t>microsoft</a:t>
            </a:r>
            <a:r>
              <a:rPr dirty="0"/>
              <a:t>/pyright/blob/main/docs/command-</a:t>
            </a:r>
            <a:r>
              <a:rPr dirty="0" err="1"/>
              <a:t>line.md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mypy, Pyre </a:t>
            </a:r>
            <a:r>
              <a:rPr dirty="0" err="1"/>
              <a:t>и</a:t>
            </a:r>
            <a:r>
              <a:rPr dirty="0"/>
              <a:t> pytype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существуют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используем</a:t>
            </a:r>
            <a:r>
              <a:rPr dirty="0"/>
              <a:t> Pyright.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mypy.readthedocs.io</a:t>
            </a:r>
            <a:r>
              <a:rPr dirty="0"/>
              <a:t>/en/stable/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Basedpyright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движок</a:t>
            </a:r>
            <a:r>
              <a:rPr dirty="0"/>
              <a:t> Pyright,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строгие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,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baseline.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режиме</a:t>
            </a:r>
            <a:r>
              <a:rPr dirty="0"/>
              <a:t> recommended </a:t>
            </a:r>
            <a:r>
              <a:rPr dirty="0" err="1"/>
              <a:t>менее</a:t>
            </a:r>
            <a:r>
              <a:rPr dirty="0"/>
              <a:t> </a:t>
            </a:r>
            <a:r>
              <a:rPr dirty="0" err="1"/>
              <a:t>критичные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warning,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failOnWarnings</a:t>
            </a:r>
            <a:r>
              <a:rPr dirty="0"/>
              <a:t>=true </a:t>
            </a:r>
            <a:r>
              <a:rPr dirty="0" err="1"/>
              <a:t>заставляет</a:t>
            </a:r>
            <a:r>
              <a:rPr dirty="0"/>
              <a:t> CLI </a:t>
            </a:r>
            <a:r>
              <a:rPr dirty="0" err="1"/>
              <a:t>вернуть</a:t>
            </a:r>
            <a:r>
              <a:rPr dirty="0"/>
              <a:t> </a:t>
            </a:r>
            <a:r>
              <a:rPr dirty="0" err="1"/>
              <a:t>ненулевой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.</a:t>
            </a:r>
          </a:p>
          <a:p>
            <a:r>
              <a:rPr dirty="0"/>
              <a:t>Baseline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существующий</a:t>
            </a:r>
            <a:r>
              <a:rPr dirty="0"/>
              <a:t> </a:t>
            </a:r>
            <a:r>
              <a:rPr dirty="0" err="1"/>
              <a:t>долг</a:t>
            </a:r>
            <a:r>
              <a:rPr dirty="0"/>
              <a:t>. Его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постоянную</a:t>
            </a:r>
            <a:r>
              <a:rPr dirty="0"/>
              <a:t> </a:t>
            </a:r>
            <a:r>
              <a:rPr dirty="0" err="1"/>
              <a:t>замену</a:t>
            </a:r>
            <a:r>
              <a:rPr dirty="0"/>
              <a:t> </a:t>
            </a:r>
            <a:r>
              <a:rPr dirty="0" err="1"/>
              <a:t>точечному</a:t>
            </a:r>
            <a:r>
              <a:rPr dirty="0"/>
              <a:t> # pyright: ignore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ложных</a:t>
            </a:r>
            <a:r>
              <a:rPr dirty="0"/>
              <a:t> </a:t>
            </a:r>
            <a:r>
              <a:rPr dirty="0" err="1"/>
              <a:t>срабатываний</a:t>
            </a:r>
            <a:r>
              <a:rPr dirty="0"/>
              <a:t>.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сквозном</a:t>
            </a:r>
            <a:r>
              <a:rPr dirty="0"/>
              <a:t> </a:t>
            </a:r>
            <a:r>
              <a:rPr dirty="0" err="1"/>
              <a:t>примере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Pyright,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посреди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docs.basedpyright.com</a:t>
            </a:r>
            <a:r>
              <a:rPr dirty="0"/>
              <a:t>/dev/configuration/config-files/</a:t>
            </a:r>
          </a:p>
          <a:p>
            <a:r>
              <a:rPr dirty="0"/>
              <a:t>https://</a:t>
            </a:r>
            <a:r>
              <a:rPr dirty="0" err="1"/>
              <a:t>docs.basedpyright.com</a:t>
            </a:r>
            <a:r>
              <a:rPr dirty="0"/>
              <a:t>/dev/benefits-over-pyright/better-defaults/</a:t>
            </a:r>
          </a:p>
          <a:p>
            <a:r>
              <a:rPr dirty="0"/>
              <a:t>https://</a:t>
            </a:r>
            <a:r>
              <a:rPr dirty="0" err="1"/>
              <a:t>docs.basedpyright.com</a:t>
            </a:r>
            <a:r>
              <a:rPr dirty="0"/>
              <a:t>/latest/configuration/command-line/#regenerating-the-baseline-file</a:t>
            </a:r>
          </a:p>
          <a:p>
            <a:r>
              <a:rPr dirty="0"/>
              <a:t>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uv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pyproject.toml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метаданные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,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версий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r>
              <a:rPr dirty="0"/>
              <a:t>uv lock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обновляет</a:t>
            </a:r>
            <a:r>
              <a:rPr dirty="0"/>
              <a:t> uv.lock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точными</a:t>
            </a:r>
            <a:r>
              <a:rPr dirty="0"/>
              <a:t> </a:t>
            </a:r>
            <a:r>
              <a:rPr dirty="0" err="1"/>
              <a:t>версиями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полным</a:t>
            </a:r>
            <a:r>
              <a:rPr dirty="0"/>
              <a:t> </a:t>
            </a:r>
            <a:r>
              <a:rPr dirty="0" err="1"/>
              <a:t>графом</a:t>
            </a:r>
            <a:r>
              <a:rPr dirty="0"/>
              <a:t>.</a:t>
            </a:r>
          </a:p>
          <a:p>
            <a:r>
              <a:rPr dirty="0"/>
              <a:t>uv sync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выбранный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lock-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.venv. Версию </a:t>
            </a:r>
            <a:r>
              <a:rPr dirty="0" err="1"/>
              <a:t>интерпретатора</a:t>
            </a:r>
            <a:r>
              <a:rPr dirty="0"/>
              <a:t> uv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учётом</a:t>
            </a:r>
            <a:r>
              <a:rPr dirty="0"/>
              <a:t> .python-version </a:t>
            </a:r>
            <a:r>
              <a:rPr dirty="0" err="1"/>
              <a:t>и</a:t>
            </a:r>
            <a:r>
              <a:rPr dirty="0"/>
              <a:t> requires-python.</a:t>
            </a:r>
          </a:p>
          <a:p>
            <a:r>
              <a:rPr dirty="0"/>
              <a:t>uv run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актуальность</a:t>
            </a:r>
            <a:r>
              <a:rPr dirty="0"/>
              <a:t> lock-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lock </a:t>
            </a:r>
            <a:r>
              <a:rPr dirty="0" err="1"/>
              <a:t>и</a:t>
            </a:r>
            <a:r>
              <a:rPr dirty="0"/>
              <a:t> sync,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проектного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/uv/concepts/python-versions/#python-version-files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/uv/concepts/projects/run/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Dependency groups — </a:t>
            </a:r>
            <a:r>
              <a:rPr dirty="0" err="1"/>
              <a:t>именованные</a:t>
            </a:r>
            <a:r>
              <a:rPr dirty="0"/>
              <a:t> </a:t>
            </a:r>
            <a:r>
              <a:rPr dirty="0" err="1"/>
              <a:t>наборы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.</a:t>
            </a:r>
          </a:p>
          <a:p>
            <a:r>
              <a:rPr dirty="0" err="1"/>
              <a:t>Группа</a:t>
            </a:r>
            <a:r>
              <a:rPr dirty="0"/>
              <a:t> dev </a:t>
            </a:r>
            <a:r>
              <a:rPr dirty="0" err="1"/>
              <a:t>включается</a:t>
            </a:r>
            <a:r>
              <a:rPr dirty="0"/>
              <a:t> uv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uv sync </a:t>
            </a:r>
            <a:r>
              <a:rPr dirty="0" err="1"/>
              <a:t>и</a:t>
            </a:r>
            <a:r>
              <a:rPr dirty="0"/>
              <a:t> uv run. Другие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подключаются</a:t>
            </a:r>
            <a:r>
              <a:rPr dirty="0"/>
              <a:t> </a:t>
            </a:r>
            <a:r>
              <a:rPr dirty="0" err="1"/>
              <a:t>флагами</a:t>
            </a:r>
            <a:r>
              <a:rPr dirty="0"/>
              <a:t> --group </a:t>
            </a:r>
            <a:r>
              <a:rPr dirty="0" err="1"/>
              <a:t>или</a:t>
            </a:r>
            <a:r>
              <a:rPr dirty="0"/>
              <a:t> --only-group.</a:t>
            </a:r>
          </a:p>
          <a:p>
            <a:r>
              <a:rPr dirty="0"/>
              <a:t>Группы </a:t>
            </a:r>
            <a:r>
              <a:rPr dirty="0" err="1"/>
              <a:t>фиксируются</a:t>
            </a:r>
            <a:r>
              <a:rPr dirty="0"/>
              <a:t> </a:t>
            </a:r>
            <a:r>
              <a:rPr dirty="0" err="1"/>
              <a:t>совместно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uv.lock,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входят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published dependencies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/uv/concepts/projects/dependencies/#dependency-groups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начало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pyproject.toml. Настройки Ruff </a:t>
            </a:r>
            <a:r>
              <a:rPr dirty="0" err="1"/>
              <a:t>и</a:t>
            </a:r>
            <a:r>
              <a:rPr dirty="0"/>
              <a:t> Pyright </a:t>
            </a:r>
            <a:r>
              <a:rPr dirty="0" err="1"/>
              <a:t>добавим</a:t>
            </a:r>
            <a:r>
              <a:rPr dirty="0"/>
              <a:t> </a:t>
            </a:r>
            <a:r>
              <a:rPr dirty="0" err="1"/>
              <a:t>отдельными</a:t>
            </a:r>
            <a:r>
              <a:rPr dirty="0"/>
              <a:t> </a:t>
            </a:r>
            <a:r>
              <a:rPr dirty="0" err="1"/>
              <a:t>секциями</a:t>
            </a:r>
            <a:r>
              <a:rPr dirty="0"/>
              <a:t>. .python-version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3.12,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линию</a:t>
            </a:r>
            <a:r>
              <a:rPr dirty="0"/>
              <a:t> minor,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точный</a:t>
            </a:r>
            <a:r>
              <a:rPr dirty="0"/>
              <a:t> patch. </a:t>
            </a:r>
            <a:r>
              <a:rPr dirty="0" err="1"/>
              <a:t>Сам</a:t>
            </a:r>
            <a:r>
              <a:rPr dirty="0"/>
              <a:t> Python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uv.lock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pyproject.toml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r>
              <a:rPr dirty="0"/>
              <a:t>uv.lock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разрешённые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. Его </a:t>
            </a:r>
            <a:r>
              <a:rPr dirty="0" err="1"/>
              <a:t>коммитим</a:t>
            </a:r>
            <a:r>
              <a:rPr dirty="0"/>
              <a:t>.</a:t>
            </a:r>
          </a:p>
          <a:p>
            <a:r>
              <a:rPr dirty="0"/>
              <a:t>.python-version </a:t>
            </a:r>
            <a:r>
              <a:rPr dirty="0" err="1"/>
              <a:t>выбирает</a:t>
            </a:r>
            <a:r>
              <a:rPr dirty="0"/>
              <a:t> Python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r>
              <a:rPr dirty="0"/>
              <a:t>.venv </a:t>
            </a:r>
            <a:r>
              <a:rPr dirty="0" err="1"/>
              <a:t>создаётся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попадает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Git.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/uv/guides/projects/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/uv/concepts/python-versions/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uv sync </a:t>
            </a:r>
            <a:r>
              <a:rPr dirty="0" err="1"/>
              <a:t>и</a:t>
            </a:r>
            <a:r>
              <a:rPr dirty="0"/>
              <a:t> uv run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обновить</a:t>
            </a:r>
            <a:r>
              <a:rPr dirty="0"/>
              <a:t> uv.lock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выполнением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r>
              <a:rPr dirty="0"/>
              <a:t>--locked </a:t>
            </a:r>
            <a:r>
              <a:rPr dirty="0" err="1"/>
              <a:t>требует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uv.lock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существовал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соответствовал</a:t>
            </a:r>
            <a:r>
              <a:rPr dirty="0"/>
              <a:t> </a:t>
            </a:r>
            <a:r>
              <a:rPr dirty="0" err="1"/>
              <a:t>метаданным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Если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отсутствует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, uv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r>
              <a:rPr dirty="0" err="1"/>
              <a:t>В</a:t>
            </a:r>
            <a:r>
              <a:rPr dirty="0"/>
              <a:t> CI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предотвращает</a:t>
            </a:r>
            <a:r>
              <a:rPr dirty="0"/>
              <a:t> </a:t>
            </a:r>
            <a:r>
              <a:rPr dirty="0" err="1"/>
              <a:t>скрытое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lock-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обнаруживает</a:t>
            </a:r>
            <a:r>
              <a:rPr dirty="0"/>
              <a:t> </a:t>
            </a:r>
            <a:r>
              <a:rPr dirty="0" err="1"/>
              <a:t>ситуацию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pyproject.toml </a:t>
            </a:r>
            <a:r>
              <a:rPr dirty="0" err="1"/>
              <a:t>изменили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uv.lock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закоммитили</a:t>
            </a:r>
            <a:r>
              <a:rPr dirty="0"/>
              <a:t>.</a:t>
            </a:r>
          </a:p>
          <a:p>
            <a:r>
              <a:rPr dirty="0"/>
              <a:t>--frozen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существующий</a:t>
            </a:r>
            <a:r>
              <a:rPr dirty="0"/>
              <a:t> lock-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актуальности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/uv/concepts/projects/sync/#automatic-lock-and-sync</a:t>
            </a:r>
          </a:p>
          <a:p>
            <a:r>
              <a:rPr dirty="0"/>
              <a:t>https://</a:t>
            </a:r>
            <a:r>
              <a:rPr dirty="0" err="1"/>
              <a:t>docs.astral.sh</a:t>
            </a:r>
            <a:r>
              <a:rPr dirty="0"/>
              <a:t>/uv/reference/cli/#uv-sync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CI </a:t>
            </a:r>
            <a:r>
              <a:rPr dirty="0" err="1"/>
              <a:t>используем</a:t>
            </a:r>
            <a:r>
              <a:rPr dirty="0"/>
              <a:t> --locked: </a:t>
            </a:r>
            <a:r>
              <a:rPr dirty="0" err="1"/>
              <a:t>устаревший</a:t>
            </a:r>
            <a:r>
              <a:rPr dirty="0"/>
              <a:t> </a:t>
            </a:r>
            <a:r>
              <a:rPr dirty="0" err="1"/>
              <a:t>lockfile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приводить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обновляться</a:t>
            </a:r>
            <a:r>
              <a:rPr dirty="0"/>
              <a:t>. uv lock --upgrade </a:t>
            </a:r>
            <a:r>
              <a:rPr dirty="0" err="1"/>
              <a:t>показан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осознанное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сопровождающего</a:t>
            </a:r>
            <a:r>
              <a:rPr dirty="0"/>
              <a:t>. Для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воспроизведения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Python, ОС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uv.</a:t>
            </a:r>
          </a:p>
          <a:p>
            <a:endParaRPr dirty="0"/>
          </a:p>
          <a:p>
            <a:r>
              <a:rPr dirty="0"/>
              <a:t>--locked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соответствия</a:t>
            </a:r>
            <a:r>
              <a:rPr dirty="0"/>
              <a:t> uv.lock </a:t>
            </a:r>
            <a:r>
              <a:rPr dirty="0" err="1"/>
              <a:t>и</a:t>
            </a:r>
            <a:r>
              <a:rPr dirty="0"/>
              <a:t> pyproject.toml.</a:t>
            </a:r>
          </a:p>
          <a:p>
            <a:r>
              <a:rPr dirty="0"/>
              <a:t>--frozen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lockfile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актуальности</a:t>
            </a:r>
            <a:r>
              <a:rPr dirty="0"/>
              <a:t>.</a:t>
            </a:r>
          </a:p>
          <a:p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 </a:t>
            </a:r>
            <a:r>
              <a:rPr dirty="0" err="1"/>
              <a:t>делаем</a:t>
            </a:r>
            <a:r>
              <a:rPr dirty="0"/>
              <a:t> </a:t>
            </a:r>
            <a:r>
              <a:rPr dirty="0" err="1"/>
              <a:t>отдельным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При </a:t>
            </a:r>
            <a:r>
              <a:rPr dirty="0" err="1"/>
              <a:t>обновлении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измениться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связанные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 Появление </a:t>
            </a:r>
            <a:r>
              <a:rPr dirty="0" err="1"/>
              <a:t>новой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индексе</a:t>
            </a:r>
            <a:r>
              <a:rPr dirty="0"/>
              <a:t> </a:t>
            </a:r>
            <a:r>
              <a:rPr dirty="0" err="1"/>
              <a:t>само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lock-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устаревшим</a:t>
            </a:r>
            <a:r>
              <a:rPr dirty="0"/>
              <a:t>.</a:t>
            </a:r>
          </a:p>
          <a:p>
            <a:r>
              <a:rPr dirty="0" err="1"/>
              <a:t>Источник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/uv/concepts/projects/sync/#upgrading-locked-package-versions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Реальный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20.09.2026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изолированном</a:t>
            </a:r>
            <a:r>
              <a:rPr dirty="0"/>
              <a:t>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проекте</a:t>
            </a:r>
            <a:r>
              <a:rPr dirty="0"/>
              <a:t>. uv 0.12.0, Python 3.12.13, Pyright 1.1.411, pytest 9.1.1.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опущены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прогресса</a:t>
            </a:r>
            <a:r>
              <a:rPr dirty="0"/>
              <a:t> pytest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уведомление</a:t>
            </a:r>
            <a:r>
              <a:rPr dirty="0"/>
              <a:t> Python-</a:t>
            </a:r>
            <a:r>
              <a:rPr dirty="0" err="1"/>
              <a:t>обёртки</a:t>
            </a:r>
            <a:r>
              <a:rPr dirty="0"/>
              <a:t> Pyright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доступном</a:t>
            </a:r>
            <a:r>
              <a:rPr dirty="0"/>
              <a:t> </a:t>
            </a:r>
            <a:r>
              <a:rPr dirty="0" err="1"/>
              <a:t>обновлении</a:t>
            </a:r>
            <a:r>
              <a:rPr dirty="0"/>
              <a:t>. </a:t>
            </a:r>
            <a:r>
              <a:rPr dirty="0" err="1"/>
              <a:t>Тесты</a:t>
            </a:r>
            <a:r>
              <a:rPr dirty="0"/>
              <a:t>: </a:t>
            </a:r>
            <a:r>
              <a:rPr dirty="0" err="1"/>
              <a:t>обычное</a:t>
            </a:r>
            <a:r>
              <a:rPr dirty="0"/>
              <a:t>, </a:t>
            </a:r>
            <a:r>
              <a:rPr dirty="0" err="1"/>
              <a:t>нулевое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отрицательное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.</a:t>
            </a:r>
          </a:p>
          <a:p>
            <a:r>
              <a:rPr dirty="0" err="1"/>
              <a:t>Источник</a:t>
            </a:r>
            <a:r>
              <a:rPr dirty="0"/>
              <a:t>: 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make </a:t>
            </a:r>
            <a:r>
              <a:rPr dirty="0" err="1"/>
              <a:t>и</a:t>
            </a:r>
            <a:r>
              <a:rPr dirty="0"/>
              <a:t> Makefile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Технический</a:t>
            </a:r>
            <a:r>
              <a:rPr dirty="0"/>
              <a:t> </a:t>
            </a:r>
            <a:r>
              <a:rPr dirty="0" err="1"/>
              <a:t>отчёт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make </a:t>
            </a:r>
            <a:r>
              <a:rPr dirty="0" err="1"/>
              <a:t>вышел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1977 </a:t>
            </a:r>
            <a:r>
              <a:rPr dirty="0" err="1"/>
              <a:t>году</a:t>
            </a:r>
            <a:r>
              <a:rPr dirty="0"/>
              <a:t>, </a:t>
            </a:r>
            <a:r>
              <a:rPr dirty="0" err="1"/>
              <a:t>журнальная</a:t>
            </a:r>
            <a:r>
              <a:rPr dirty="0"/>
              <a:t> </a:t>
            </a:r>
            <a:r>
              <a:rPr dirty="0" err="1"/>
              <a:t>статья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1979 </a:t>
            </a:r>
            <a:r>
              <a:rPr dirty="0" err="1"/>
              <a:t>году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onlinelibrary.wiley.com</a:t>
            </a:r>
            <a:r>
              <a:rPr dirty="0"/>
              <a:t>/</a:t>
            </a:r>
            <a:r>
              <a:rPr dirty="0" err="1"/>
              <a:t>doi</a:t>
            </a:r>
            <a:r>
              <a:rPr dirty="0"/>
              <a:t>/10.1002/spe.4380090402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Overview.html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Классическая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make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построении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командах</a:t>
            </a:r>
            <a:r>
              <a:rPr dirty="0"/>
              <a:t> </a:t>
            </a:r>
            <a:r>
              <a:rPr dirty="0" err="1"/>
              <a:t>сборка</a:t>
            </a:r>
            <a:r>
              <a:rPr dirty="0"/>
              <a:t> </a:t>
            </a:r>
            <a:r>
              <a:rPr dirty="0" err="1"/>
              <a:t>выполнена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 Следующий </a:t>
            </a:r>
            <a:r>
              <a:rPr dirty="0" err="1"/>
              <a:t>слайд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ту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декларативно</a:t>
            </a:r>
            <a:r>
              <a:rPr dirty="0"/>
              <a:t>. </a:t>
            </a:r>
            <a:r>
              <a:rPr dirty="0" err="1"/>
              <a:t>Точный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 </a:t>
            </a:r>
            <a:r>
              <a:rPr dirty="0" err="1"/>
              <a:t>примера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Компилятор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объектный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.c.</a:t>
            </a:r>
          </a:p>
          <a:p>
            <a:r>
              <a:rPr dirty="0"/>
              <a:t>Линкер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исполняемый</a:t>
            </a:r>
            <a:r>
              <a:rPr dirty="0"/>
              <a:t> calculator.</a:t>
            </a:r>
          </a:p>
          <a:p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math.h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объектных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Introduction.html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/Rule-</a:t>
            </a:r>
            <a:r>
              <a:rPr dirty="0" err="1"/>
              <a:t>Introduction.html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calculator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main.o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math.o</a:t>
            </a:r>
            <a:r>
              <a:rPr dirty="0"/>
              <a:t>.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объектный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исходника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заголовка</a:t>
            </a:r>
            <a:r>
              <a:rPr dirty="0"/>
              <a:t>. Recipe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реальное</a:t>
            </a:r>
            <a:r>
              <a:rPr dirty="0"/>
              <a:t>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полном</a:t>
            </a:r>
            <a:r>
              <a:rPr dirty="0"/>
              <a:t> </a:t>
            </a:r>
            <a:r>
              <a:rPr dirty="0" err="1"/>
              <a:t>конспекте</a:t>
            </a:r>
            <a:r>
              <a:rPr dirty="0"/>
              <a:t> Makefile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буквальные</a:t>
            </a:r>
            <a:r>
              <a:rPr dirty="0"/>
              <a:t> </a:t>
            </a:r>
            <a:r>
              <a:rPr dirty="0" err="1"/>
              <a:t>символы</a:t>
            </a:r>
            <a:r>
              <a:rPr dirty="0"/>
              <a:t> TAB.</a:t>
            </a:r>
          </a:p>
          <a:p>
            <a:endParaRPr dirty="0"/>
          </a:p>
          <a:p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двоеточия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.</a:t>
            </a:r>
          </a:p>
          <a:p>
            <a:r>
              <a:rPr dirty="0"/>
              <a:t>После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перечислены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TAB.</a:t>
            </a:r>
          </a:p>
          <a:p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target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make.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/Rule-</a:t>
            </a:r>
            <a:r>
              <a:rPr dirty="0" err="1"/>
              <a:t>Syntax.html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/Simple-</a:t>
            </a:r>
            <a:r>
              <a:rPr dirty="0" err="1"/>
              <a:t>Makefile.html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Временная</a:t>
            </a:r>
            <a:r>
              <a:rPr dirty="0"/>
              <a:t> </a:t>
            </a:r>
            <a:r>
              <a:rPr dirty="0" err="1"/>
              <a:t>метка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— </a:t>
            </a: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актуальности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. Изменение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рецепта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значений</a:t>
            </a:r>
            <a:r>
              <a:rPr dirty="0"/>
              <a:t> </a:t>
            </a:r>
            <a:r>
              <a:rPr dirty="0" err="1"/>
              <a:t>флагов</a:t>
            </a:r>
            <a:r>
              <a:rPr dirty="0"/>
              <a:t> </a:t>
            </a:r>
            <a:r>
              <a:rPr dirty="0" err="1"/>
              <a:t>само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зависимостью</a:t>
            </a:r>
            <a:r>
              <a:rPr dirty="0"/>
              <a:t>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make.html#Rule-Syntax</a:t>
            </a:r>
            <a:r>
              <a:rPr dirty="0"/>
              <a:t> ;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/Options-</a:t>
            </a:r>
            <a:r>
              <a:rPr dirty="0" err="1"/>
              <a:t>Summary.html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Точный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GNU Make 3.81 </a:t>
            </a:r>
            <a:r>
              <a:rPr dirty="0" err="1"/>
              <a:t>на</a:t>
            </a:r>
            <a:r>
              <a:rPr dirty="0"/>
              <a:t> macOS, </a:t>
            </a:r>
            <a:r>
              <a:rPr dirty="0" err="1"/>
              <a:t>проверенный</a:t>
            </a:r>
            <a:r>
              <a:rPr dirty="0"/>
              <a:t> 20.09.2026. make -n calculator </a:t>
            </a:r>
            <a:r>
              <a:rPr dirty="0" err="1"/>
              <a:t>выполнен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появления</a:t>
            </a:r>
            <a:r>
              <a:rPr dirty="0"/>
              <a:t> .o </a:t>
            </a:r>
            <a:r>
              <a:rPr dirty="0" err="1"/>
              <a:t>и</a:t>
            </a:r>
            <a:r>
              <a:rPr dirty="0"/>
              <a:t> calculator. Затем </a:t>
            </a:r>
            <a:r>
              <a:rPr dirty="0" err="1"/>
              <a:t>обычная</a:t>
            </a:r>
            <a:r>
              <a:rPr dirty="0"/>
              <a:t> </a:t>
            </a:r>
            <a:r>
              <a:rPr dirty="0" err="1"/>
              <a:t>сборка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успешно</a:t>
            </a:r>
            <a:r>
              <a:rPr dirty="0"/>
              <a:t> </a:t>
            </a:r>
            <a:r>
              <a:rPr dirty="0" err="1"/>
              <a:t>выполнены</a:t>
            </a:r>
            <a:r>
              <a:rPr dirty="0"/>
              <a:t>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повторного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пунктуация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make.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+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рекурсивным</a:t>
            </a:r>
            <a:r>
              <a:rPr dirty="0"/>
              <a:t> $(MAKE),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пересборка</a:t>
            </a:r>
            <a:r>
              <a:rPr dirty="0"/>
              <a:t> </a:t>
            </a:r>
            <a:r>
              <a:rPr dirty="0" err="1"/>
              <a:t>включённых</a:t>
            </a:r>
            <a:r>
              <a:rPr dirty="0"/>
              <a:t> Makefile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выполняться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-n.</a:t>
            </a:r>
          </a:p>
          <a:p>
            <a:r>
              <a:rPr dirty="0" err="1"/>
              <a:t>Источники</a:t>
            </a:r>
            <a:r>
              <a:rPr dirty="0"/>
              <a:t>: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/Options-</a:t>
            </a:r>
            <a:r>
              <a:rPr dirty="0" err="1"/>
              <a:t>Summary.html</a:t>
            </a:r>
            <a:r>
              <a:rPr dirty="0"/>
              <a:t> ;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make.html#Instead-of-Execution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Шаблон</a:t>
            </a:r>
            <a:r>
              <a:rPr dirty="0"/>
              <a:t> %.o: %.c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соответствующих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проектах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заголовков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генерирует</a:t>
            </a:r>
            <a:r>
              <a:rPr dirty="0"/>
              <a:t> </a:t>
            </a:r>
            <a:r>
              <a:rPr dirty="0" err="1"/>
              <a:t>компилятор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-MMD/-MP. Это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,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указана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$@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.</a:t>
            </a:r>
          </a:p>
          <a:p>
            <a:r>
              <a:rPr dirty="0"/>
              <a:t>$&lt;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.</a:t>
            </a:r>
          </a:p>
          <a:p>
            <a:r>
              <a:rPr dirty="0"/>
              <a:t>% </a:t>
            </a:r>
            <a:r>
              <a:rPr dirty="0" err="1"/>
              <a:t>подставляет</a:t>
            </a:r>
            <a:r>
              <a:rPr dirty="0"/>
              <a:t> </a:t>
            </a:r>
            <a:r>
              <a:rPr dirty="0" err="1"/>
              <a:t>общую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math.h</a:t>
            </a:r>
            <a:r>
              <a:rPr dirty="0"/>
              <a:t> </a:t>
            </a:r>
            <a:r>
              <a:rPr dirty="0" err="1"/>
              <a:t>сохраняется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/Pattern-</a:t>
            </a:r>
            <a:r>
              <a:rPr dirty="0" err="1"/>
              <a:t>Rules.html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/Automatic-</a:t>
            </a:r>
            <a:r>
              <a:rPr dirty="0" err="1"/>
              <a:t>Variables.html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Для </a:t>
            </a:r>
            <a:r>
              <a:rPr dirty="0" err="1"/>
              <a:t>примера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установленный</a:t>
            </a:r>
            <a:r>
              <a:rPr dirty="0"/>
              <a:t> whisper, </a:t>
            </a:r>
            <a:r>
              <a:rPr dirty="0" err="1"/>
              <a:t>необходимые</a:t>
            </a:r>
            <a:r>
              <a:rPr dirty="0"/>
              <a:t> </a:t>
            </a:r>
            <a:r>
              <a:rPr dirty="0" err="1"/>
              <a:t>внешние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summarize.py</a:t>
            </a:r>
            <a:r>
              <a:rPr dirty="0"/>
              <a:t>. </a:t>
            </a:r>
            <a:r>
              <a:rPr dirty="0" err="1"/>
              <a:t>Команда</a:t>
            </a:r>
            <a:r>
              <a:rPr dirty="0"/>
              <a:t> CLI whisper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interview.txt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interview.wav</a:t>
            </a:r>
            <a:r>
              <a:rPr dirty="0"/>
              <a:t>.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make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отслеживает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: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стоит</a:t>
            </a:r>
            <a:r>
              <a:rPr dirty="0"/>
              <a:t> </a:t>
            </a:r>
            <a:r>
              <a:rPr dirty="0" err="1"/>
              <a:t>оформить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принудительно</a:t>
            </a:r>
            <a:r>
              <a:rPr dirty="0"/>
              <a:t> </a:t>
            </a:r>
            <a:r>
              <a:rPr dirty="0" err="1"/>
              <a:t>пересобрать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Целью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любой</a:t>
            </a:r>
            <a:r>
              <a:rPr dirty="0"/>
              <a:t> </a:t>
            </a:r>
            <a:r>
              <a:rPr dirty="0" err="1"/>
              <a:t>получаемый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  <a:p>
            <a:r>
              <a:rPr dirty="0"/>
              <a:t>Новое </a:t>
            </a:r>
            <a:r>
              <a:rPr dirty="0" err="1"/>
              <a:t>аудио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</a:t>
            </a:r>
            <a:r>
              <a:rPr dirty="0" err="1"/>
              <a:t>повторную</a:t>
            </a:r>
            <a:r>
              <a:rPr dirty="0"/>
              <a:t> </a:t>
            </a:r>
            <a:r>
              <a:rPr dirty="0" err="1"/>
              <a:t>транскрипцию</a:t>
            </a:r>
            <a:r>
              <a:rPr dirty="0"/>
              <a:t>.</a:t>
            </a:r>
          </a:p>
          <a:p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summarize.py</a:t>
            </a:r>
            <a:r>
              <a:rPr dirty="0"/>
              <a:t> </a:t>
            </a:r>
            <a:r>
              <a:rPr dirty="0" err="1"/>
              <a:t>обновит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summary.txt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Introduction.html</a:t>
            </a:r>
            <a:endParaRPr dirty="0"/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openai</a:t>
            </a:r>
            <a:r>
              <a:rPr dirty="0"/>
              <a:t>/whisper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make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частым</a:t>
            </a:r>
            <a:r>
              <a:rPr dirty="0"/>
              <a:t> </a:t>
            </a:r>
            <a:r>
              <a:rPr dirty="0" err="1"/>
              <a:t>операциям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объявляйте</a:t>
            </a:r>
            <a:r>
              <a:rPr dirty="0"/>
              <a:t>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phony,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повторные</a:t>
            </a:r>
            <a:r>
              <a:rPr dirty="0"/>
              <a:t> </a:t>
            </a:r>
            <a:r>
              <a:rPr dirty="0" err="1"/>
              <a:t>сборки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пропускаться</a:t>
            </a:r>
            <a:r>
              <a:rPr dirty="0"/>
              <a:t>. .PHONY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run, test </a:t>
            </a:r>
            <a:r>
              <a:rPr dirty="0" err="1"/>
              <a:t>и</a:t>
            </a:r>
            <a:r>
              <a:rPr dirty="0"/>
              <a:t> lint </a:t>
            </a:r>
            <a:r>
              <a:rPr dirty="0" err="1"/>
              <a:t>обозначают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.</a:t>
            </a:r>
          </a:p>
          <a:p>
            <a:r>
              <a:rPr dirty="0"/>
              <a:t>.PHONY </a:t>
            </a:r>
            <a:r>
              <a:rPr dirty="0" err="1"/>
              <a:t>заставляет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независимо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одноимённых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  <a:p>
            <a:r>
              <a:rPr dirty="0"/>
              <a:t>Запуск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коротким</a:t>
            </a:r>
            <a:r>
              <a:rPr dirty="0"/>
              <a:t>: make test.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/Phony-</a:t>
            </a:r>
            <a:r>
              <a:rPr dirty="0" err="1"/>
              <a:t>Targets.html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переопределяет</a:t>
            </a:r>
            <a:r>
              <a:rPr dirty="0"/>
              <a:t> </a:t>
            </a:r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присваивания</a:t>
            </a:r>
            <a:r>
              <a:rPr dirty="0"/>
              <a:t> Makefile. Для </a:t>
            </a:r>
            <a:r>
              <a:rPr dirty="0" err="1"/>
              <a:t>составных</a:t>
            </a:r>
            <a:r>
              <a:rPr dirty="0"/>
              <a:t> </a:t>
            </a:r>
            <a:r>
              <a:rPr dirty="0" err="1"/>
              <a:t>аргументов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кавычки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передавайте</a:t>
            </a:r>
            <a:r>
              <a:rPr dirty="0"/>
              <a:t> </a:t>
            </a:r>
            <a:r>
              <a:rPr dirty="0" err="1"/>
              <a:t>непроверенный</a:t>
            </a:r>
            <a:r>
              <a:rPr dirty="0"/>
              <a:t> </a:t>
            </a:r>
            <a:r>
              <a:rPr dirty="0" err="1"/>
              <a:t>внешний</a:t>
            </a:r>
            <a:r>
              <a:rPr dirty="0"/>
              <a:t> </a:t>
            </a:r>
            <a:r>
              <a:rPr dirty="0" err="1"/>
              <a:t>ввод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оболочки</a:t>
            </a:r>
            <a:r>
              <a:rPr dirty="0"/>
              <a:t>. Настройки </a:t>
            </a:r>
            <a:r>
              <a:rPr dirty="0" err="1"/>
              <a:t>линтеров</a:t>
            </a:r>
            <a:r>
              <a:rPr dirty="0"/>
              <a:t> </a:t>
            </a:r>
            <a:r>
              <a:rPr dirty="0" err="1"/>
              <a:t>остаются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pyproject.toml.</a:t>
            </a:r>
          </a:p>
          <a:p>
            <a:endParaRPr dirty="0"/>
          </a:p>
          <a:p>
            <a:r>
              <a:rPr dirty="0"/>
              <a:t>?=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задано</a:t>
            </a:r>
            <a:r>
              <a:rPr dirty="0"/>
              <a:t>.</a:t>
            </a:r>
          </a:p>
          <a:p>
            <a:r>
              <a:rPr dirty="0"/>
              <a:t>:= </a:t>
            </a:r>
            <a:r>
              <a:rPr dirty="0" err="1"/>
              <a:t>вычисляет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.</a:t>
            </a:r>
          </a:p>
          <a:p>
            <a:r>
              <a:rPr dirty="0"/>
              <a:t>$(NAME) </a:t>
            </a:r>
            <a:r>
              <a:rPr dirty="0" err="1"/>
              <a:t>подставляет</a:t>
            </a:r>
            <a:r>
              <a:rPr dirty="0"/>
              <a:t> </a:t>
            </a:r>
            <a:r>
              <a:rPr dirty="0" err="1"/>
              <a:t>переменную</a:t>
            </a:r>
            <a:r>
              <a:rPr dirty="0"/>
              <a:t> make.</a:t>
            </a:r>
          </a:p>
          <a:p>
            <a:r>
              <a:rPr dirty="0"/>
              <a:t>Параметры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частый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/Using-</a:t>
            </a:r>
            <a:r>
              <a:rPr dirty="0" err="1"/>
              <a:t>Variables.html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Overriding.html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Фактический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инструмента</a:t>
            </a:r>
            <a:r>
              <a:rPr dirty="0"/>
              <a:t> @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shell-</a:t>
            </a:r>
            <a:r>
              <a:rPr dirty="0" err="1"/>
              <a:t>переменной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Makefile </a:t>
            </a:r>
            <a:r>
              <a:rPr dirty="0" err="1"/>
              <a:t>нужен</a:t>
            </a:r>
            <a:r>
              <a:rPr dirty="0"/>
              <a:t> $$,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$ </a:t>
            </a:r>
            <a:r>
              <a:rPr dirty="0" err="1"/>
              <a:t>обрабатывает</a:t>
            </a:r>
            <a:r>
              <a:rPr dirty="0"/>
              <a:t> make. Практически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писать</a:t>
            </a:r>
            <a:r>
              <a:rPr dirty="0"/>
              <a:t> cd tests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строке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рассчитывать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следующей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@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печать</a:t>
            </a:r>
            <a:r>
              <a:rPr dirty="0"/>
              <a:t> </a:t>
            </a:r>
            <a:r>
              <a:rPr dirty="0" err="1"/>
              <a:t>самой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r>
              <a:rPr dirty="0"/>
              <a:t>Ошибка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останавливает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.</a:t>
            </a:r>
          </a:p>
          <a:p>
            <a:r>
              <a:rPr dirty="0"/>
              <a:t>Каждая </a:t>
            </a:r>
            <a:r>
              <a:rPr dirty="0" err="1"/>
              <a:t>строка</a:t>
            </a:r>
            <a:r>
              <a:rPr dirty="0"/>
              <a:t> recipe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 </a:t>
            </a:r>
            <a:r>
              <a:rPr dirty="0" err="1"/>
              <a:t>оболочке</a:t>
            </a:r>
            <a:r>
              <a:rPr dirty="0"/>
              <a:t>.</a:t>
            </a:r>
          </a:p>
          <a:p>
            <a:r>
              <a:rPr dirty="0"/>
              <a:t>cd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следующую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связываем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&amp;&amp;.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Execution.html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Echoing.html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Errors.html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Перед</a:t>
            </a:r>
            <a:r>
              <a:rPr dirty="0"/>
              <a:t> -j </a:t>
            </a:r>
            <a:r>
              <a:rPr dirty="0" err="1"/>
              <a:t>синхронизируйте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. При </a:t>
            </a:r>
            <a:r>
              <a:rPr dirty="0" err="1"/>
              <a:t>параллельных</a:t>
            </a:r>
            <a:r>
              <a:rPr dirty="0"/>
              <a:t> uv run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предварительный</a:t>
            </a:r>
            <a:r>
              <a:rPr dirty="0"/>
              <a:t> sync </a:t>
            </a:r>
            <a:r>
              <a:rPr dirty="0" err="1"/>
              <a:t>и</a:t>
            </a:r>
            <a:r>
              <a:rPr dirty="0"/>
              <a:t> --no-sync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специальной</a:t>
            </a:r>
            <a:r>
              <a:rPr dirty="0"/>
              <a:t> </a:t>
            </a:r>
            <a:r>
              <a:rPr dirty="0" err="1"/>
              <a:t>оптимизированной</a:t>
            </a:r>
            <a:r>
              <a:rPr dirty="0"/>
              <a:t> </a:t>
            </a:r>
            <a:r>
              <a:rPr dirty="0" err="1"/>
              <a:t>схеме</a:t>
            </a:r>
            <a:r>
              <a:rPr dirty="0"/>
              <a:t>. Базовый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последовательно</a:t>
            </a:r>
            <a:r>
              <a:rPr dirty="0"/>
              <a:t>. </a:t>
            </a:r>
            <a:r>
              <a:rPr dirty="0" err="1"/>
              <a:t>Порядок</a:t>
            </a:r>
            <a:r>
              <a:rPr dirty="0"/>
              <a:t> prerequisites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надёжную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-j.</a:t>
            </a:r>
          </a:p>
          <a:p>
            <a:endParaRPr dirty="0"/>
          </a:p>
          <a:p>
            <a:r>
              <a:rPr dirty="0"/>
              <a:t>check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независимых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.</a:t>
            </a:r>
          </a:p>
          <a:p>
            <a:r>
              <a:rPr dirty="0"/>
              <a:t>-j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параллельное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r>
              <a:rPr dirty="0"/>
              <a:t>Автоисправления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</a:t>
            </a:r>
            <a:r>
              <a:rPr dirty="0" err="1"/>
              <a:t>параллельно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запускаем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</a:t>
            </a:r>
            <a:r>
              <a:rPr dirty="0" err="1"/>
              <a:t>Parallel.html</a:t>
            </a:r>
            <a:endParaRPr dirty="0"/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Сначала </a:t>
            </a:r>
            <a:r>
              <a:rPr dirty="0" err="1"/>
              <a:t>выполните</a:t>
            </a:r>
            <a:r>
              <a:rPr dirty="0"/>
              <a:t> make sync, </a:t>
            </a:r>
            <a:r>
              <a:rPr dirty="0" err="1"/>
              <a:t>затем</a:t>
            </a:r>
            <a:r>
              <a:rPr dirty="0"/>
              <a:t> make hooks. </a:t>
            </a: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локальна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клона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переносится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git clone </a:t>
            </a:r>
            <a:r>
              <a:rPr dirty="0" err="1"/>
              <a:t>автоматически</a:t>
            </a:r>
            <a:r>
              <a:rPr dirty="0"/>
              <a:t>. Команды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конспекте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Makefile.</a:t>
            </a:r>
          </a:p>
          <a:p>
            <a:endParaRPr dirty="0"/>
          </a:p>
          <a:p>
            <a:r>
              <a:rPr dirty="0"/>
              <a:t>make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аргументов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check.</a:t>
            </a:r>
          </a:p>
          <a:p>
            <a:r>
              <a:rPr dirty="0"/>
              <a:t>make sync </a:t>
            </a:r>
            <a:r>
              <a:rPr dirty="0" err="1"/>
              <a:t>готовит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.</a:t>
            </a:r>
          </a:p>
          <a:p>
            <a:r>
              <a:rPr dirty="0"/>
              <a:t>make hooks </a:t>
            </a:r>
            <a:r>
              <a:rPr dirty="0" err="1"/>
              <a:t>ставит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Git-</a:t>
            </a:r>
            <a:r>
              <a:rPr dirty="0" err="1"/>
              <a:t>хука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клона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/Special-</a:t>
            </a:r>
            <a:r>
              <a:rPr dirty="0" err="1"/>
              <a:t>Variables.html</a:t>
            </a:r>
            <a:endParaRPr dirty="0"/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/#pre-commit-install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Git-</a:t>
            </a:r>
            <a:r>
              <a:rPr dirty="0" err="1"/>
              <a:t>хуки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pre-commit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называются</a:t>
            </a:r>
            <a:r>
              <a:rPr dirty="0"/>
              <a:t> pre-commit,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дефисом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- https://git-</a:t>
            </a:r>
            <a:r>
              <a:rPr dirty="0" err="1"/>
              <a:t>scm.com</a:t>
            </a:r>
            <a:r>
              <a:rPr dirty="0"/>
              <a:t>/docs/</a:t>
            </a:r>
            <a:r>
              <a:rPr dirty="0" err="1"/>
              <a:t>githooks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Исправления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: make fix,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просматриваем</a:t>
            </a:r>
            <a:r>
              <a:rPr dirty="0"/>
              <a:t> diff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выполняем</a:t>
            </a:r>
            <a:r>
              <a:rPr dirty="0"/>
              <a:t> git add.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/#confining-hooks-to-run-at-certain-stages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language unsupported </a:t>
            </a:r>
            <a:r>
              <a:rPr dirty="0" err="1"/>
              <a:t>ранее</a:t>
            </a:r>
            <a:r>
              <a:rPr dirty="0"/>
              <a:t> </a:t>
            </a:r>
            <a:r>
              <a:rPr dirty="0" err="1"/>
              <a:t>назывался</a:t>
            </a:r>
            <a:r>
              <a:rPr dirty="0"/>
              <a:t> system. </a:t>
            </a:r>
            <a:r>
              <a:rPr dirty="0" err="1"/>
              <a:t>Переименование</a:t>
            </a:r>
            <a:r>
              <a:rPr dirty="0"/>
              <a:t> </a:t>
            </a:r>
            <a:r>
              <a:rPr dirty="0" err="1"/>
              <a:t>введено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pre-commit 4.4.0; </a:t>
            </a:r>
            <a:r>
              <a:rPr dirty="0" err="1"/>
              <a:t>старое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стало</a:t>
            </a:r>
            <a:r>
              <a:rPr dirty="0"/>
              <a:t> deprecated alias. Это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Python,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hook entry.</a:t>
            </a:r>
          </a:p>
          <a:p>
            <a:endParaRPr dirty="0"/>
          </a:p>
          <a:p>
            <a:r>
              <a:rPr dirty="0"/>
              <a:t>repo: local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  <a:p>
            <a:r>
              <a:rPr dirty="0"/>
              <a:t>entry </a:t>
            </a:r>
            <a:r>
              <a:rPr dirty="0" err="1"/>
              <a:t>вызывает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Makefile.</a:t>
            </a:r>
          </a:p>
          <a:p>
            <a:r>
              <a:rPr dirty="0"/>
              <a:t>Окружением </a:t>
            </a:r>
            <a:r>
              <a:rPr dirty="0" err="1"/>
              <a:t>управляет</a:t>
            </a:r>
            <a:r>
              <a:rPr dirty="0"/>
              <a:t> uv </a:t>
            </a:r>
            <a:r>
              <a:rPr dirty="0" err="1"/>
              <a:t>внутри</a:t>
            </a:r>
            <a:r>
              <a:rPr dirty="0"/>
              <a:t> make.</a:t>
            </a:r>
          </a:p>
          <a:p>
            <a:r>
              <a:rPr dirty="0" err="1"/>
              <a:t>Продолжение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YAML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следующем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/#unsupported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/#repository-local-hooks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Вывод </a:t>
            </a:r>
            <a:r>
              <a:rPr dirty="0" err="1"/>
              <a:t>сокращён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сквозном</a:t>
            </a:r>
            <a:r>
              <a:rPr dirty="0"/>
              <a:t> </a:t>
            </a:r>
            <a:r>
              <a:rPr dirty="0" err="1"/>
              <a:t>примере</a:t>
            </a:r>
            <a:r>
              <a:rPr dirty="0"/>
              <a:t> </a:t>
            </a:r>
            <a:r>
              <a:rPr dirty="0" err="1"/>
              <a:t>default_install_hook_types</a:t>
            </a:r>
            <a:r>
              <a:rPr dirty="0"/>
              <a:t> </a:t>
            </a:r>
            <a:r>
              <a:rPr dirty="0" err="1"/>
              <a:t>перечисляет</a:t>
            </a:r>
            <a:r>
              <a:rPr dirty="0"/>
              <a:t> pre-commit </a:t>
            </a:r>
            <a:r>
              <a:rPr dirty="0" err="1"/>
              <a:t>и</a:t>
            </a:r>
            <a:r>
              <a:rPr dirty="0"/>
              <a:t> pre-push,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install </a:t>
            </a:r>
            <a:r>
              <a:rPr dirty="0" err="1"/>
              <a:t>достаточно</a:t>
            </a:r>
            <a:r>
              <a:rPr dirty="0"/>
              <a:t>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uv </a:t>
            </a:r>
            <a:r>
              <a:rPr dirty="0" err="1"/>
              <a:t>и</a:t>
            </a:r>
            <a:r>
              <a:rPr dirty="0"/>
              <a:t> make. </a:t>
            </a:r>
            <a:r>
              <a:rPr dirty="0" err="1"/>
              <a:t>На</a:t>
            </a:r>
            <a:r>
              <a:rPr dirty="0"/>
              <a:t> Windows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рассчитан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WSL </a:t>
            </a:r>
            <a:r>
              <a:rPr dirty="0" err="1"/>
              <a:t>либо</a:t>
            </a:r>
            <a:r>
              <a:rPr dirty="0"/>
              <a:t> </a:t>
            </a:r>
            <a:r>
              <a:rPr dirty="0" err="1"/>
              <a:t>среду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make.</a:t>
            </a:r>
          </a:p>
          <a:p>
            <a:endParaRPr dirty="0"/>
          </a:p>
          <a:p>
            <a:r>
              <a:rPr dirty="0"/>
              <a:t>install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клон</a:t>
            </a:r>
            <a:r>
              <a:rPr dirty="0"/>
              <a:t>.</a:t>
            </a:r>
          </a:p>
          <a:p>
            <a:r>
              <a:rPr dirty="0"/>
              <a:t>run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коммита</a:t>
            </a:r>
            <a:r>
              <a:rPr dirty="0"/>
              <a:t>.</a:t>
            </a:r>
          </a:p>
          <a:p>
            <a:r>
              <a:rPr dirty="0" err="1"/>
              <a:t>Для</a:t>
            </a:r>
            <a:r>
              <a:rPr dirty="0"/>
              <a:t> pre-push </a:t>
            </a:r>
            <a:r>
              <a:rPr dirty="0" err="1"/>
              <a:t>этап</a:t>
            </a:r>
            <a:r>
              <a:rPr dirty="0"/>
              <a:t> </a:t>
            </a:r>
            <a:r>
              <a:rPr dirty="0" err="1"/>
              <a:t>задаём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/#pre-commit-run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/#pre-commit-install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Форматирующий</a:t>
            </a:r>
            <a:r>
              <a:rPr dirty="0"/>
              <a:t> </a:t>
            </a:r>
            <a:r>
              <a:rPr dirty="0" err="1"/>
              <a:t>хук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--fix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возможен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повторить</a:t>
            </a:r>
            <a:r>
              <a:rPr dirty="0"/>
              <a:t> git add </a:t>
            </a:r>
            <a:r>
              <a:rPr dirty="0" err="1"/>
              <a:t>и</a:t>
            </a:r>
            <a:r>
              <a:rPr dirty="0"/>
              <a:t> commit.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схеме</a:t>
            </a:r>
            <a:r>
              <a:rPr dirty="0"/>
              <a:t> </a:t>
            </a:r>
            <a:r>
              <a:rPr dirty="0" err="1"/>
              <a:t>автоматические</a:t>
            </a:r>
            <a:r>
              <a:rPr dirty="0"/>
              <a:t> </a:t>
            </a:r>
            <a:r>
              <a:rPr dirty="0" err="1"/>
              <a:t>этапы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;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воспроизводить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Читаем </a:t>
            </a:r>
            <a:r>
              <a:rPr dirty="0" err="1"/>
              <a:t>диагностику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отключаем</a:t>
            </a:r>
            <a:r>
              <a:rPr dirty="0"/>
              <a:t> </a:t>
            </a:r>
            <a:r>
              <a:rPr dirty="0" err="1"/>
              <a:t>хук</a:t>
            </a:r>
            <a:r>
              <a:rPr dirty="0"/>
              <a:t>.</a:t>
            </a:r>
          </a:p>
          <a:p>
            <a:r>
              <a:rPr dirty="0" err="1"/>
              <a:t>Исправляем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dirty="0"/>
              <a:t> </a:t>
            </a:r>
            <a:r>
              <a:rPr dirty="0" err="1"/>
              <a:t>добавляем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.</a:t>
            </a:r>
          </a:p>
          <a:p>
            <a:r>
              <a:rPr dirty="0" err="1"/>
              <a:t>Неисправляемые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правим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/#usage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pyproject.toml </a:t>
            </a:r>
            <a:r>
              <a:rPr dirty="0" err="1"/>
              <a:t>и</a:t>
            </a:r>
            <a:r>
              <a:rPr dirty="0"/>
              <a:t> uv.lock </a:t>
            </a:r>
            <a:r>
              <a:rPr dirty="0" err="1"/>
              <a:t>добавляем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коммит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/#staged-files-only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/#pre-push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объединённый</a:t>
            </a:r>
            <a:r>
              <a:rPr dirty="0"/>
              <a:t> Makefile, </a:t>
            </a:r>
            <a:r>
              <a:rPr dirty="0" err="1"/>
              <a:t>включая</a:t>
            </a:r>
            <a:r>
              <a:rPr dirty="0"/>
              <a:t> sync, hooks </a:t>
            </a:r>
            <a:r>
              <a:rPr dirty="0" err="1"/>
              <a:t>и</a:t>
            </a:r>
            <a:r>
              <a:rPr dirty="0"/>
              <a:t> run,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конспекте</a:t>
            </a:r>
            <a:r>
              <a:rPr dirty="0"/>
              <a:t>. Этот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Git-</a:t>
            </a:r>
            <a:r>
              <a:rPr dirty="0" err="1"/>
              <a:t>хуков</a:t>
            </a:r>
            <a:r>
              <a:rPr dirty="0"/>
              <a:t>: make lint, make </a:t>
            </a:r>
            <a:r>
              <a:rPr dirty="0" err="1"/>
              <a:t>typecheck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make test.</a:t>
            </a:r>
          </a:p>
          <a:p>
            <a:endParaRPr dirty="0"/>
          </a:p>
          <a:p>
            <a:r>
              <a:rPr dirty="0"/>
              <a:t>uv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.</a:t>
            </a:r>
          </a:p>
          <a:p>
            <a:r>
              <a:rPr dirty="0"/>
              <a:t>Ruff </a:t>
            </a:r>
            <a:r>
              <a:rPr dirty="0" err="1"/>
              <a:t>и</a:t>
            </a:r>
            <a:r>
              <a:rPr dirty="0"/>
              <a:t> Pyright </a:t>
            </a:r>
            <a:r>
              <a:rPr dirty="0" err="1"/>
              <a:t>читают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pyproject.toml.</a:t>
            </a:r>
          </a:p>
          <a:p>
            <a:r>
              <a:rPr dirty="0"/>
              <a:t>Makefile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/uv/concepts/projects/run/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/ruff/configuration/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Зависимости </a:t>
            </a:r>
            <a:r>
              <a:rPr dirty="0" err="1"/>
              <a:t>ацикличны</a:t>
            </a:r>
            <a:r>
              <a:rPr dirty="0"/>
              <a:t>. make ci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pre-commit,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make ci. Набор </a:t>
            </a:r>
            <a:r>
              <a:rPr dirty="0" err="1"/>
              <a:t>инструментов</a:t>
            </a:r>
            <a:r>
              <a:rPr dirty="0"/>
              <a:t> </a:t>
            </a:r>
            <a:r>
              <a:rPr dirty="0" err="1"/>
              <a:t>одинаков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объём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 </a:t>
            </a:r>
            <a:r>
              <a:rPr dirty="0" err="1"/>
              <a:t>определяются</a:t>
            </a:r>
            <a:r>
              <a:rPr dirty="0"/>
              <a:t> </a:t>
            </a:r>
            <a:r>
              <a:rPr dirty="0" err="1"/>
              <a:t>составными</a:t>
            </a:r>
            <a:r>
              <a:rPr dirty="0"/>
              <a:t> </a:t>
            </a:r>
            <a:r>
              <a:rPr dirty="0" err="1"/>
              <a:t>целями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make fix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исходные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r>
              <a:rPr dirty="0"/>
              <a:t>make check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.</a:t>
            </a:r>
          </a:p>
          <a:p>
            <a:r>
              <a:rPr dirty="0"/>
              <a:t>Хуки </a:t>
            </a:r>
            <a:r>
              <a:rPr dirty="0" err="1"/>
              <a:t>вызывают</a:t>
            </a:r>
            <a:r>
              <a:rPr dirty="0"/>
              <a:t> </a:t>
            </a:r>
            <a:r>
              <a:rPr dirty="0" err="1"/>
              <a:t>подходящую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.</a:t>
            </a:r>
          </a:p>
          <a:p>
            <a:r>
              <a:rPr dirty="0"/>
              <a:t>make ci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/Phony-</a:t>
            </a:r>
            <a:r>
              <a:rPr dirty="0" err="1"/>
              <a:t>Targets.html</a:t>
            </a:r>
            <a:endParaRPr dirty="0"/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/#repository-local-hooks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Разработчик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make check,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хуков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make hook-commit </a:t>
            </a:r>
            <a:r>
              <a:rPr dirty="0" err="1"/>
              <a:t>либо</a:t>
            </a:r>
            <a:r>
              <a:rPr dirty="0"/>
              <a:t> make hook-push,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make ci. Все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одни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Makefile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uv. uv.lock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; pyproject.toml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Ruff </a:t>
            </a:r>
            <a:r>
              <a:rPr dirty="0" err="1"/>
              <a:t>и</a:t>
            </a:r>
            <a:r>
              <a:rPr dirty="0"/>
              <a:t> Pyright. Хуки </a:t>
            </a:r>
            <a:r>
              <a:rPr dirty="0" err="1"/>
              <a:t>запускают</a:t>
            </a:r>
            <a:r>
              <a:rPr dirty="0"/>
              <a:t> </a:t>
            </a:r>
            <a:r>
              <a:rPr dirty="0" err="1"/>
              <a:t>выбранную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, </a:t>
            </a:r>
            <a:r>
              <a:rPr dirty="0" err="1"/>
              <a:t>полный</a:t>
            </a:r>
            <a:r>
              <a:rPr dirty="0"/>
              <a:t> make check / make ci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/#repository-local-hooks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/uv/concepts/projects/run/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www.gnu.org</a:t>
            </a:r>
            <a:r>
              <a:rPr dirty="0"/>
              <a:t>/software/make/manual/</a:t>
            </a:r>
            <a:r>
              <a:rPr dirty="0" err="1"/>
              <a:t>html_node</a:t>
            </a:r>
            <a:r>
              <a:rPr dirty="0"/>
              <a:t>/Phony-</a:t>
            </a:r>
            <a:r>
              <a:rPr dirty="0" err="1"/>
              <a:t>Targets.html</a:t>
            </a:r>
            <a:endParaRPr dirty="0"/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Раздел</a:t>
            </a:r>
            <a:r>
              <a:rPr dirty="0"/>
              <a:t>: CI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читаемости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указаны</a:t>
            </a:r>
            <a:r>
              <a:rPr dirty="0"/>
              <a:t> </a:t>
            </a:r>
            <a:r>
              <a:rPr dirty="0" err="1"/>
              <a:t>проверенные</a:t>
            </a:r>
            <a:r>
              <a:rPr dirty="0"/>
              <a:t> tags.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полном</a:t>
            </a:r>
            <a:r>
              <a:rPr dirty="0"/>
              <a:t> CI-</a:t>
            </a:r>
            <a:r>
              <a:rPr dirty="0" err="1"/>
              <a:t>конфиге</a:t>
            </a:r>
            <a:r>
              <a:rPr dirty="0"/>
              <a:t> </a:t>
            </a:r>
            <a:r>
              <a:rPr dirty="0" err="1"/>
              <a:t>конспекта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фиксируются</a:t>
            </a:r>
            <a:r>
              <a:rPr dirty="0"/>
              <a:t> commit SHA. setup-uv </a:t>
            </a:r>
            <a:r>
              <a:rPr dirty="0" err="1"/>
              <a:t>задаёт</a:t>
            </a:r>
            <a:r>
              <a:rPr dirty="0"/>
              <a:t> UV_PYTHON,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последующий</a:t>
            </a:r>
            <a:r>
              <a:rPr dirty="0"/>
              <a:t> uv sync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Python. </a:t>
            </a:r>
            <a:r>
              <a:rPr dirty="0" err="1"/>
              <a:t>Для</a:t>
            </a:r>
            <a:r>
              <a:rPr dirty="0"/>
              <a:t> pull_request </a:t>
            </a:r>
            <a:r>
              <a:rPr dirty="0" err="1"/>
              <a:t>стандартно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merge revision. Это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GitHub Actions, </a:t>
            </a:r>
            <a:r>
              <a:rPr dirty="0" err="1"/>
              <a:t>а</a:t>
            </a:r>
            <a:r>
              <a:rPr dirty="0"/>
              <a:t> make ci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CI-</a:t>
            </a:r>
            <a:r>
              <a:rPr dirty="0" err="1"/>
              <a:t>системам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Сервер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ревизию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Git.</a:t>
            </a:r>
          </a:p>
          <a:p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push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pull request.</a:t>
            </a:r>
          </a:p>
          <a:p>
            <a:r>
              <a:rPr dirty="0"/>
              <a:t>setup-uv </a:t>
            </a:r>
            <a:r>
              <a:rPr dirty="0" err="1"/>
              <a:t>устанавливает</a:t>
            </a:r>
            <a:r>
              <a:rPr dirty="0"/>
              <a:t> uv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 Python.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/uv/guides/integration/github/</a:t>
            </a:r>
          </a:p>
          <a:p>
            <a:endParaRPr dirty="0"/>
          </a:p>
          <a:p>
            <a:r>
              <a:rPr dirty="0"/>
              <a:t>- https://github.com/actions/checkout</a:t>
            </a:r>
          </a:p>
          <a:p>
            <a:endParaRPr dirty="0"/>
          </a:p>
          <a:p>
            <a:r>
              <a:rPr dirty="0"/>
              <a:t>- https://github.com/astral-</a:t>
            </a:r>
            <a:r>
              <a:rPr dirty="0" err="1"/>
              <a:t>sh</a:t>
            </a:r>
            <a:r>
              <a:rPr dirty="0"/>
              <a:t>/setup-uv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docs.github.com</a:t>
            </a:r>
            <a:r>
              <a:rPr dirty="0"/>
              <a:t>/en/actions/writing-workflows/workflow-syntax-for-github-actions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Логи </a:t>
            </a:r>
            <a:r>
              <a:rPr dirty="0" err="1"/>
              <a:t>сокращены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итогов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UI GitHub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требовать</a:t>
            </a:r>
            <a:r>
              <a:rPr dirty="0"/>
              <a:t> </a:t>
            </a:r>
            <a:r>
              <a:rPr dirty="0" err="1"/>
              <a:t>успешный</a:t>
            </a:r>
            <a:r>
              <a:rPr dirty="0"/>
              <a:t> job quality </a:t>
            </a:r>
            <a:r>
              <a:rPr dirty="0" err="1"/>
              <a:t>перед</a:t>
            </a:r>
            <a:r>
              <a:rPr dirty="0"/>
              <a:t> merge. </a:t>
            </a:r>
            <a:r>
              <a:rPr dirty="0" err="1"/>
              <a:t>Само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workflow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запрещает</a:t>
            </a:r>
            <a:r>
              <a:rPr dirty="0"/>
              <a:t> merge: </a:t>
            </a:r>
            <a:r>
              <a:rPr dirty="0" err="1"/>
              <a:t>необходимы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ветки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ruleset.</a:t>
            </a:r>
          </a:p>
          <a:p>
            <a:endParaRPr dirty="0"/>
          </a:p>
          <a:p>
            <a:r>
              <a:rPr dirty="0"/>
              <a:t>sync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актуальный</a:t>
            </a:r>
            <a:r>
              <a:rPr dirty="0"/>
              <a:t> uv.lock.</a:t>
            </a:r>
          </a:p>
          <a:p>
            <a:r>
              <a:rPr dirty="0"/>
              <a:t>ci </a:t>
            </a:r>
            <a:r>
              <a:rPr dirty="0" err="1"/>
              <a:t>выполняет</a:t>
            </a:r>
            <a:r>
              <a:rPr dirty="0"/>
              <a:t> lint, format-check, </a:t>
            </a:r>
            <a:r>
              <a:rPr dirty="0" err="1"/>
              <a:t>typecheck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test.</a:t>
            </a:r>
          </a:p>
          <a:p>
            <a:r>
              <a:rPr dirty="0"/>
              <a:t>Ненулевой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завершает</a:t>
            </a:r>
            <a:r>
              <a:rPr dirty="0"/>
              <a:t> job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ошибкой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/uv/guides/integration/github/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docs.github.com</a:t>
            </a:r>
            <a:r>
              <a:rPr dirty="0"/>
              <a:t>/en/repositories/configuring-branches-and-merges-in-your-repository/managing-protected-branches/about-protected-branches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Хуки </a:t>
            </a:r>
            <a:r>
              <a:rPr dirty="0" err="1"/>
              <a:t>ускоряют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разработчика</a:t>
            </a:r>
            <a:r>
              <a:rPr dirty="0"/>
              <a:t>. </a:t>
            </a:r>
            <a:r>
              <a:rPr dirty="0" err="1"/>
              <a:t>Правила</a:t>
            </a:r>
            <a:r>
              <a:rPr dirty="0"/>
              <a:t> merge </a:t>
            </a:r>
            <a:r>
              <a:rPr dirty="0" err="1"/>
              <a:t>устанавливаются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docs.github.com</a:t>
            </a:r>
            <a:r>
              <a:rPr dirty="0"/>
              <a:t>/en/repositories/configuring-branches-and-merges-in-your-repository/managing-protected-branches/about-protected-branches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После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конфигов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этапа</a:t>
            </a:r>
            <a:r>
              <a:rPr dirty="0"/>
              <a:t> </a:t>
            </a:r>
            <a:r>
              <a:rPr dirty="0" err="1"/>
              <a:t>хуков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/uv/concepts/projects/sync/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/ruff/linter/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При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клонировании</a:t>
            </a:r>
            <a:r>
              <a:rPr dirty="0"/>
              <a:t> </a:t>
            </a:r>
            <a:r>
              <a:rPr dirty="0" err="1"/>
              <a:t>выполните</a:t>
            </a:r>
            <a:r>
              <a:rPr dirty="0"/>
              <a:t> make hooks. </a:t>
            </a:r>
            <a:r>
              <a:rPr dirty="0" err="1"/>
              <a:t>Многоточие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git add </a:t>
            </a:r>
            <a:r>
              <a:rPr dirty="0" err="1"/>
              <a:t>означает</a:t>
            </a:r>
            <a:r>
              <a:rPr dirty="0"/>
              <a:t> выбор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коммита</a:t>
            </a:r>
            <a:r>
              <a:rPr dirty="0"/>
              <a:t>; </a:t>
            </a:r>
            <a:r>
              <a:rPr dirty="0" err="1"/>
              <a:t>после</a:t>
            </a:r>
            <a:r>
              <a:rPr dirty="0"/>
              <a:t> staging </a:t>
            </a:r>
            <a:r>
              <a:rPr dirty="0" err="1"/>
              <a:t>выполняется</a:t>
            </a:r>
            <a:r>
              <a:rPr dirty="0"/>
              <a:t> git commit. </a:t>
            </a:r>
            <a:r>
              <a:rPr dirty="0" err="1"/>
              <a:t>Затем</a:t>
            </a:r>
            <a:r>
              <a:rPr dirty="0"/>
              <a:t> uv.lock </a:t>
            </a:r>
            <a:r>
              <a:rPr dirty="0" err="1"/>
              <a:t>обновляется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изменениями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 </a:t>
            </a:r>
            <a:r>
              <a:rPr dirty="0" err="1"/>
              <a:t>Перед</a:t>
            </a:r>
            <a:r>
              <a:rPr dirty="0"/>
              <a:t> merge </a:t>
            </a:r>
            <a:r>
              <a:rPr dirty="0" err="1"/>
              <a:t>ориентируемся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/uv/</a:t>
            </a:r>
          </a:p>
          <a:p>
            <a:endParaRPr dirty="0"/>
          </a:p>
          <a:p>
            <a:r>
              <a:rPr dirty="0"/>
              <a:t>- https://</a:t>
            </a:r>
            <a:r>
              <a:rPr dirty="0" err="1"/>
              <a:t>docs.astral.sh</a:t>
            </a:r>
            <a:r>
              <a:rPr dirty="0"/>
              <a:t>/ruff/</a:t>
            </a:r>
          </a:p>
          <a:p>
            <a:endParaRPr dirty="0"/>
          </a:p>
          <a:p>
            <a:r>
              <a:rPr dirty="0"/>
              <a:t>- https://github.com/</a:t>
            </a:r>
            <a:r>
              <a:rPr dirty="0" err="1"/>
              <a:t>microsoft</a:t>
            </a:r>
            <a:r>
              <a:rPr dirty="0"/>
              <a:t>/pyright/blob/main/docs/</a:t>
            </a:r>
            <a:r>
              <a:rPr dirty="0" err="1"/>
              <a:t>configuration.md</a:t>
            </a:r>
            <a:endParaRPr dirty="0"/>
          </a:p>
          <a:p>
            <a:endParaRPr dirty="0"/>
          </a:p>
          <a:p>
            <a:r>
              <a:rPr dirty="0"/>
              <a:t>- https://pre-</a:t>
            </a:r>
            <a:r>
              <a:rPr dirty="0" err="1"/>
              <a:t>commit.com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endParaRPr sz="1050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docs.pytest.org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/en/stable/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Вариант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структуры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расширенного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tests/unit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tests/integration. Это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развитие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исходной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папки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tests.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docs.pytest.org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/en/stable/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endParaRPr sz="1050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Это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секция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jobs,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которую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добавляют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name, on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permissions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из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базового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workflow. make sync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использует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uv sync --locked --dev. Версию Python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задаёт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.python-version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учебного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/en/actions/how-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tos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/write-workflows/choose-what-workflows-do/use-jobs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/uv/guides/integration/github/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Фрагмент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расположен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внутри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jobs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рядом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quality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tests.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Команда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uv build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требует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настроенного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build-system Python-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пакета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/en/actions/how-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tos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/write-workflows/choose-what-workflows-do/use-jobs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/en/actions/tutorials/store-and-share-data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Пример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чьи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requires-python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lockfile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поддерживают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Python 3.12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3.13.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Заменяет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tests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предыдущего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слайда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добавляет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второй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одноимённый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ключ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/en/actions/how-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tos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/write-workflows/choose-what-workflows-do/use-jobs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/uv/guides/integration/github/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Учебный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сокращённый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лог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make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вернул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ошибку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вслед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pytest.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Диагностика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ModuleNotFoundError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требует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проверить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структуру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пакета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установку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рабочий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каталог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добавлять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случайные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пути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docs.pytest.org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/en/stable/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/en/actions/monitoring-and-troubleshooting-workflows/using-workflow-run-logs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Вывод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терминала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иллюстративный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Версия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Python 3.12.8 —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пример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строки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диагностики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рекомендация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устанавливать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эту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patch-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версию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https://git-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scm.com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/docs/git-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worktree</a:t>
            </a:r>
            <a:b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</a:b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docs.astral.sh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/uv/concepts/projects/sync/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https://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docs.github.com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/en/actions/tutorials/use-containerized-services/create-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postgresql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-service-containers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Практическое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задание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объединяет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новые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темы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 PostgreSQL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wheel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требуют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расширения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структуры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учебного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показанного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предыдущих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примерах</a:t>
            </a:r>
            <a:r>
              <a:rPr sz="1050" b="0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1FF9D-034A-75AC-E052-07BB9BF1F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43A349-947A-8847-14F8-BFE0FE249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BFE8D8-C4D1-E273-73F4-A3A542A224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3A2F09-7175-F6E1-340F-CC3646910F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B5EC2-C4D2-6AA5-7C47-DF8123D8C4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9A56D-5BA3-25CA-7CEB-35C683EF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882D7-2E6C-88B3-9A16-2ECA0F9A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A13377-64C0-1268-81E6-A1F67B4D4C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D961D6-966E-7173-8269-7FA71A0107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CDAB6B-A414-6E68-B007-63A01F2D2E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39A3C-B736-F2AD-6576-A57FF18A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6F73B8-73DD-5A3C-28EC-C514C25CD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718281-D907-840F-813D-6D139E4B25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631393-1EAD-01A3-E851-6EB06CCB57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F3B84F-E455-E4B9-C12D-1E19F7413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17309-5AB3-C9A1-9FA3-3FA44F83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085D4-06C4-05C2-ACE9-2E5CD9400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CFFC83-8EA3-ADD3-3B96-B5BF45C1BAC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D0FB9E-A7F9-0FC0-49C3-82ADA54401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40B452-9373-A9CA-0488-373A8DE23F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2938D8-A03E-B52D-780D-5C5964F015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6BAD3-AA91-9720-962A-C1164391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AF6C0F-F250-1D36-8B0A-A230D1A0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810B5B-9451-644F-2823-565CB7F4ED6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536322-8F6E-E5B6-B080-5E54503C1D1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70FD61-ED66-5715-322C-D1DE76E0E59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BB137C-F5E1-83A1-4736-1FFDC774F3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8AA9BC-5C77-B516-8DCC-FC349D7B4E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2ABA8D-067B-C1A7-7BA9-20623952B4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7B994-4F69-A69E-C135-6A17C02E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113879-95A3-80C3-E743-95FEF2A04B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5C600B-8BB6-7E55-9828-4B6B5DDDE0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54B2F7-8526-080D-1785-02A723FF5C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6AD4FB-A6B6-807C-0565-0DC93C83F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84CE28-AEB4-D404-59F0-16366EC9CB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72F624-E90E-F075-CFAE-0A86855EC4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DED45-13E8-73C0-D3C0-36B03E83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DEA68-9EB9-A389-A9CF-0A93F661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EB5FD7-4235-A486-0EAC-50903F712A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00F924-E1A4-C4F6-C9CF-9401B1CB51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086731-DAA5-9100-D0A1-3C147E2433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AAE26F-48F2-4AC7-95C8-EE1AAC778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370F4-04D1-6590-9E98-51A71809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3D61E69-F9CC-B567-0FFF-C646CA00C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4177B0-2F43-A71E-7F70-5319CC6746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0300BA-E6A2-7877-A1B9-797B0651D5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816D23-A2CF-A776-3B64-C6F5131D10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4AC7DA-F718-3BFD-C659-A04AA0ED8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F70EF-FFEB-63A9-0394-08F96D9A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6FDFB1-2603-0F93-80F7-53194895F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E3AE94-6251-7F5C-4E49-0CDD4A0BCC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37651-BD10-CEDF-926D-DCDD218CCC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7E502E-F3F2-55D4-F217-E1BDE7C8A3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4916AE-E03A-CBFC-CA42-C06ABB5F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C77B65-533F-82D0-6EF0-EEBEDE439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C3DDB1-9AAF-E9F1-C380-FC610ABABA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3387-E925-E9CD-94C7-6404C06C09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61C12-2E89-8EA6-06A8-DD1C49406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9324FE-EA5D-834E-96D8-722C28031D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5411B-E4B3-80F6-8C5F-1171B5496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3567F3-C043-20CD-816E-9604FB7C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FC83B3-D09D-34D6-E409-136ACEB8001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578CD-DB1D-754A-9497-339195838427}" type="datetimeFigureOut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CF3BD-BA78-D8C7-3C0C-ECD2CFB867C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003F05-A268-A266-F57B-FAD3578521A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324FE-EA5D-834E-96D8-722C28031DF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Calibri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Calibri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ruff/default-rule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32DB94-5424-EB54-8F93-9EC5FF95F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472" y="3823855"/>
            <a:ext cx="5961528" cy="2852896"/>
          </a:xfrm>
        </p:spPr>
        <p:txBody>
          <a:bodyPr>
            <a:normAutofit/>
          </a:bodyPr>
          <a:lstStyle/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Continuous Integration </a:t>
            </a:r>
            <a:r>
              <a:rPr kumimoji="0" lang="ru-RU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в </a:t>
            </a: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Python:</a:t>
            </a: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ruff</a:t>
            </a: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uv</a:t>
            </a: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" sz="2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make, gh actions</a:t>
            </a: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ctr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Валерий Студенников</a:t>
            </a:r>
          </a:p>
        </p:txBody>
      </p:sp>
      <p:pic>
        <p:nvPicPr>
          <p:cNvPr id="10" name="Рисунок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987" y="181248"/>
            <a:ext cx="3069020" cy="906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CF5B5-845A-DFCB-122F-FF325D80299E}"/>
              </a:ext>
            </a:extLst>
          </p:cNvPr>
          <p:cNvSpPr>
            <a:spLocks noGrp="1"/>
          </p:cNvSpPr>
          <p:nvPr/>
        </p:nvSpPr>
        <p:spPr>
          <a:xfrm>
            <a:off x="8070573" y="311459"/>
            <a:ext cx="36152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chemeClr val="accent5">
                    <a:lumMod val="50000"/>
                  </a:schemeClr>
                </a:solidFill>
              </a:rPr>
              <a:t>Курс «Технологии и методы программирования»</a:t>
            </a:r>
          </a:p>
        </p:txBody>
      </p:sp>
      <p:pic>
        <p:nvPicPr>
          <p:cNvPr id="12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0201"/>
            <a:ext cx="4558553" cy="341421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753367-F22F-7C51-6B91-1FE3CCFCDBA1}"/>
              </a:ext>
            </a:extLst>
          </p:cNvPr>
          <p:cNvSpPr txBox="1">
            <a:spLocks/>
          </p:cNvSpPr>
          <p:nvPr/>
        </p:nvSpPr>
        <p:spPr>
          <a:xfrm>
            <a:off x="681644" y="1122363"/>
            <a:ext cx="9986356" cy="2131825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dirty="0">
                <a:solidFill>
                  <a:srgbClr val="0070C0"/>
                </a:solidFill>
                <a:latin typeface="Calibri Light"/>
              </a:rPr>
              <a:t>Continuous</a:t>
            </a:r>
            <a:r>
              <a:rPr lang="ru-RU" dirty="0">
                <a:solidFill>
                  <a:srgbClr val="0070C0"/>
                </a:solidFill>
                <a:latin typeface="Calibri Light"/>
              </a:rPr>
              <a:t> </a:t>
            </a:r>
            <a:r>
              <a:rPr lang="en-US" dirty="0">
                <a:solidFill>
                  <a:srgbClr val="0070C0"/>
                </a:solidFill>
                <a:latin typeface="Calibri Light"/>
              </a:rPr>
              <a:t>Integration</a:t>
            </a:r>
            <a:r>
              <a:rPr lang="ru-RU" dirty="0">
                <a:solidFill>
                  <a:srgbClr val="0070C0"/>
                </a:solidFill>
                <a:latin typeface="Calibri Light"/>
              </a:rPr>
              <a:t> +</a:t>
            </a:r>
            <a:br>
              <a:rPr lang="en-US" dirty="0">
                <a:solidFill>
                  <a:srgbClr val="0070C0"/>
                </a:solidFill>
                <a:latin typeface="Calibri Light"/>
              </a:rPr>
            </a:br>
            <a:r>
              <a:rPr lang="ru-RU" dirty="0">
                <a:solidFill>
                  <a:srgbClr val="FF0000"/>
                </a:solidFill>
                <a:latin typeface="Calibri Light"/>
              </a:rPr>
              <a:t>полезные </a:t>
            </a:r>
            <a:r>
              <a:rPr lang="ru-RU" dirty="0">
                <a:solidFill>
                  <a:srgbClr val="00B050"/>
                </a:solidFill>
                <a:latin typeface="Calibri Light"/>
              </a:rPr>
              <a:t>инструменты</a:t>
            </a:r>
          </a:p>
        </p:txBody>
      </p:sp>
    </p:spTree>
    <p:extLst>
      <p:ext uri="{BB962C8B-B14F-4D97-AF65-F5344CB8AC3E}">
        <p14:creationId xmlns:p14="http://schemas.microsoft.com/office/powerpoint/2010/main" val="58714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alue0">
            <a:extLst>
              <a:ext uri="{FF2B5EF4-FFF2-40B4-BE49-F238E27FC236}">
                <a16:creationId xmlns:a16="http://schemas.microsoft.com/office/drawing/2014/main" id="{24A04548-CA2E-506F-DDB4-1E099B7FF62D}"/>
              </a:ext>
            </a:extLst>
          </p:cNvPr>
          <p:cNvSpPr>
            <a:spLocks noGrp="1"/>
          </p:cNvSpPr>
          <p:nvPr/>
        </p:nvSpPr>
        <p:spPr>
          <a:xfrm>
            <a:off x="403099" y="4276895"/>
            <a:ext cx="10820400" cy="2339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Calibri"/>
              <a:buChar char="•"/>
            </a:pPr>
            <a:r>
              <a:rPr sz="2200" b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CI (Continuous Integration, непрерывная интеграция)</a:t>
            </a:r>
            <a:r>
              <a:rPr sz="22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это автоматическая сборка и проверка кода при отправке изменений в репозиторий.</a:t>
            </a: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400"/>
              </a:spcBef>
              <a:buFont typeface="Calibri"/>
              <a:buChar char="•"/>
            </a:pPr>
            <a:r>
              <a:rPr sz="2200" b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Continuous Delivery (непрерывная доставка)</a:t>
            </a:r>
            <a:r>
              <a:rPr sz="22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код автоматически готовится к выпуску, а запуск обновления подтверждает человек.</a:t>
            </a: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400"/>
              </a:spcBef>
              <a:buFont typeface="Calibri"/>
              <a:buChar char="•"/>
            </a:pPr>
            <a:r>
              <a:rPr sz="2200" b="1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Continuous Deployment (непрерывное развёртывание)</a:t>
            </a:r>
            <a:r>
              <a:rPr sz="22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код после успешных проверок автоматически выпускается пользователям.</a:t>
            </a: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sz="202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Рисунок 1"/>
          <p:cNvPicPr>
            <a:picLocks noChangeAspect="1"/>
          </p:cNvPicPr>
          <p:nvPr/>
        </p:nvPicPr>
        <p:blipFill>
          <a:blip r:embed="rId3"/>
          <a:srcRect l="13781" r="11126"/>
          <a:stretch>
            <a:fillRect/>
          </a:stretch>
        </p:blipFill>
        <p:spPr>
          <a:xfrm>
            <a:off x="109591" y="241317"/>
            <a:ext cx="4356242" cy="2183384"/>
          </a:xfrm>
          <a:prstGeom prst="rect">
            <a:avLst/>
          </a:prstGeom>
        </p:spPr>
      </p:pic>
      <p:pic>
        <p:nvPicPr>
          <p:cNvPr id="9" name="Рисунок 6"/>
          <p:cNvPicPr>
            <a:picLocks noChangeAspect="1"/>
          </p:cNvPicPr>
          <p:nvPr/>
        </p:nvPicPr>
        <p:blipFill>
          <a:blip r:embed="rId4"/>
          <a:srcRect l="5223" t="7162" r="5815" b="9005"/>
          <a:stretch>
            <a:fillRect/>
          </a:stretch>
        </p:blipFill>
        <p:spPr>
          <a:xfrm>
            <a:off x="4638573" y="123415"/>
            <a:ext cx="7553427" cy="400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42C2C-044A-44AC-A47F-3451765B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89" y="278573"/>
            <a:ext cx="10515600" cy="741299"/>
          </a:xfrm>
        </p:spPr>
        <p:txBody>
          <a:bodyPr/>
          <a:lstStyle/>
          <a:p>
            <a:r>
              <a:t>CI (на примере Python)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D264F6-89D2-D75E-7C45-0C6563B7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77" y="1079502"/>
            <a:ext cx="7602876" cy="5586474"/>
          </a:xfrm>
        </p:spPr>
        <p:txBody>
          <a:bodyPr>
            <a:noAutofit/>
          </a:bodyPr>
          <a:lstStyle/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Линтеры</a:t>
            </a:r>
            <a:r>
              <a:rPr sz="2000"/>
              <a:t> — поиск ошибок и проблем стиля: </a:t>
            </a:r>
            <a:r>
              <a:rPr sz="2000">
                <a:latin typeface="Consolas"/>
                <a:ea typeface="Consolas"/>
                <a:cs typeface="Consolas"/>
              </a:rPr>
              <a:t>ruff</a:t>
            </a:r>
            <a:r>
              <a:rPr sz="2000"/>
              <a:t>, </a:t>
            </a:r>
            <a:r>
              <a:rPr sz="2000">
                <a:latin typeface="Consolas"/>
                <a:ea typeface="Consolas"/>
                <a:cs typeface="Consolas"/>
              </a:rPr>
              <a:t>flake8</a:t>
            </a:r>
            <a:r>
              <a:rPr sz="2000"/>
              <a:t>, </a:t>
            </a:r>
            <a:r>
              <a:rPr sz="2000">
                <a:latin typeface="Consolas"/>
                <a:ea typeface="Consolas"/>
                <a:cs typeface="Consolas"/>
              </a:rPr>
              <a:t>pylint</a:t>
            </a:r>
            <a:r>
              <a:rPr sz="2000"/>
              <a:t>.</a:t>
            </a:r>
          </a:p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Проверку форматирования</a:t>
            </a:r>
            <a:r>
              <a:rPr sz="2000"/>
              <a:t> — соответствие единому стилю: </a:t>
            </a:r>
            <a:r>
              <a:rPr sz="2000">
                <a:latin typeface="Consolas"/>
                <a:ea typeface="Consolas"/>
                <a:cs typeface="Consolas"/>
              </a:rPr>
              <a:t>Black</a:t>
            </a:r>
            <a:r>
              <a:rPr sz="2000"/>
              <a:t>, </a:t>
            </a:r>
            <a:r>
              <a:rPr sz="2000">
                <a:latin typeface="Consolas"/>
                <a:ea typeface="Consolas"/>
                <a:cs typeface="Consolas"/>
              </a:rPr>
              <a:t>ruff formatter</a:t>
            </a:r>
            <a:r>
              <a:rPr sz="2000"/>
              <a:t>.</a:t>
            </a:r>
          </a:p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Проверку типов</a:t>
            </a:r>
            <a:r>
              <a:rPr sz="2000"/>
              <a:t> — согласованность аннотаций типов: </a:t>
            </a:r>
            <a:r>
              <a:rPr sz="2000">
                <a:latin typeface="Consolas"/>
                <a:ea typeface="Consolas"/>
                <a:cs typeface="Consolas"/>
              </a:rPr>
              <a:t>mypy</a:t>
            </a:r>
            <a:r>
              <a:rPr sz="2000"/>
              <a:t>, </a:t>
            </a:r>
            <a:r>
              <a:rPr sz="2000">
                <a:latin typeface="Consolas"/>
                <a:ea typeface="Consolas"/>
                <a:cs typeface="Consolas"/>
              </a:rPr>
              <a:t>pyright</a:t>
            </a:r>
            <a:r>
              <a:rPr sz="2000"/>
              <a:t>.</a:t>
            </a:r>
          </a:p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Автотесты</a:t>
            </a:r>
            <a:r>
              <a:rPr sz="2000"/>
              <a:t> — модульные, интеграционные и сквозные: </a:t>
            </a:r>
            <a:r>
              <a:rPr sz="2000">
                <a:latin typeface="Consolas"/>
                <a:ea typeface="Consolas"/>
                <a:cs typeface="Consolas"/>
              </a:rPr>
              <a:t>pytest</a:t>
            </a:r>
            <a:r>
              <a:rPr sz="2000"/>
              <a:t>.</a:t>
            </a:r>
          </a:p>
          <a:p>
            <a:pPr marL="637200" lvl="1" indent="-180000">
              <a:lnSpc>
                <a:spcPct val="100000"/>
              </a:lnSpc>
              <a:buNone/>
            </a:pPr>
            <a:r>
              <a:rPr sz="1600" b="1"/>
              <a:t>Измерение покрытия тестами</a:t>
            </a:r>
            <a:r>
              <a:rPr sz="1600"/>
              <a:t> — какие строки и ветки кода выполнялись в тестах</a:t>
            </a:r>
          </a:p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Прочие проверки:</a:t>
            </a:r>
          </a:p>
          <a:p>
            <a:pPr marL="432000" lvl="1" indent="-180000">
              <a:lnSpc>
                <a:spcPct val="100000"/>
              </a:lnSpc>
              <a:spcBef>
                <a:spcPts val="200"/>
              </a:spcBef>
              <a:buNone/>
            </a:pPr>
            <a:r>
              <a:rPr sz="1600" b="1"/>
              <a:t>Проверки безопасности</a:t>
            </a:r>
            <a:r>
              <a:rPr sz="1600"/>
              <a:t> — опасные конструкции в коде, уязвимости зависимостей и случайно добавленные секреты.</a:t>
            </a:r>
          </a:p>
          <a:p>
            <a:pPr marL="432000" lvl="1" indent="-180000">
              <a:lnSpc>
                <a:spcPct val="100000"/>
              </a:lnSpc>
              <a:spcBef>
                <a:spcPts val="200"/>
              </a:spcBef>
              <a:buNone/>
            </a:pPr>
            <a:r>
              <a:rPr sz="1600" b="1"/>
              <a:t>Проверку сборки, Сборка</a:t>
            </a:r>
            <a:r>
              <a:rPr sz="1600"/>
              <a:t> — собирается ли Python-пакет или Docker-образ.</a:t>
            </a:r>
          </a:p>
          <a:p>
            <a:pPr marL="432000" lvl="1" indent="-180000">
              <a:lnSpc>
                <a:spcPct val="100000"/>
              </a:lnSpc>
              <a:spcBef>
                <a:spcPts val="200"/>
              </a:spcBef>
              <a:buNone/>
            </a:pPr>
            <a:r>
              <a:rPr sz="1600" b="1"/>
              <a:t>Проверку совместимости</a:t>
            </a:r>
            <a:r>
              <a:rPr sz="1600"/>
              <a:t> — работают ли тесты на разных версиях Python и ОС.</a:t>
            </a:r>
          </a:p>
          <a:p>
            <a:pPr marL="432000" lvl="1" indent="-180000">
              <a:lnSpc>
                <a:spcPct val="100000"/>
              </a:lnSpc>
              <a:spcBef>
                <a:spcPts val="200"/>
              </a:spcBef>
              <a:buNone/>
            </a:pPr>
            <a:r>
              <a:rPr sz="1600" b="1"/>
              <a:t>Проверку миграций БД</a:t>
            </a:r>
            <a:r>
              <a:rPr sz="1600"/>
              <a:t> — применяются ли изменения схемы к тестовой базе.</a:t>
            </a:r>
          </a:p>
          <a:p>
            <a:pPr marL="180000" lvl="0" indent="-180000">
              <a:lnSpc>
                <a:spcPct val="100000"/>
              </a:lnSpc>
              <a:spcBef>
                <a:spcPts val="500"/>
              </a:spcBef>
              <a:buNone/>
            </a:pPr>
            <a:r>
              <a:rPr sz="2000" b="1"/>
              <a:t>Сохранение артефактов</a:t>
            </a:r>
            <a:r>
              <a:rPr sz="2000"/>
              <a:t> — собранных пакетов, образов и отчётов для дальнейшего использования.</a:t>
            </a:r>
          </a:p>
        </p:txBody>
      </p:sp>
      <p:pic>
        <p:nvPicPr>
          <p:cNvPr id="7" name="Рисунок 3"/>
          <p:cNvPicPr>
            <a:picLocks noChangeAspect="1"/>
          </p:cNvPicPr>
          <p:nvPr/>
        </p:nvPicPr>
        <p:blipFill>
          <a:blip r:embed="rId3"/>
          <a:srcRect l="2784" t="2042" r="2758" b="1800"/>
          <a:stretch>
            <a:fillRect/>
          </a:stretch>
        </p:blipFill>
        <p:spPr>
          <a:xfrm>
            <a:off x="7969321" y="1389580"/>
            <a:ext cx="4222679" cy="407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6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8FF73-5468-40A5-9084-15183890C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686"/>
            <a:ext cx="10820400" cy="704850"/>
          </a:xfrm>
        </p:spPr>
        <p:txBody>
          <a:bodyPr/>
          <a:lstStyle/>
          <a:p>
            <a:r>
              <a:t>Где мы замечаем ошибку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D56D5421-762D-40FE-842B-64094743567B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C56603AC-BBF3-468C-8197-9CCA68340AD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sz="2025" b="1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2BF05F53-AE87-41E3-BCF0-33DBD34659F8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DC0E5D62-4AFA-4AA7-96BF-E1FCF1EB3544}"/>
              </a:ext>
            </a:extLst>
          </p:cNvPr>
          <p:cNvSpPr>
            <a:spLocks noGrp="1"/>
          </p:cNvSpPr>
          <p:nvPr/>
        </p:nvSpPr>
        <p:spPr>
          <a:xfrm>
            <a:off x="5385674" y="3906369"/>
            <a:ext cx="6591683" cy="246103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 sz="200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5" name="Таблица 11"/>
          <p:cNvGraphicFramePr/>
          <p:nvPr/>
        </p:nvGraphicFramePr>
        <p:xfrm>
          <a:off x="685800" y="1011892"/>
          <a:ext cx="1113674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2200">
                          <a:latin typeface="+mn-lt"/>
                          <a:ea typeface="+mn-lt"/>
                          <a:cs typeface="+mn-lt"/>
                        </a:rPr>
                        <a:t>Где / когда проверяем 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latin typeface="+mn-lt"/>
                          <a:ea typeface="+mn-lt"/>
                          <a:cs typeface="+mn-lt"/>
                        </a:rPr>
                        <a:t>Как это происходит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200" b="1">
                          <a:solidFill>
                            <a:srgbClr val="203A50"/>
                          </a:solidFill>
                          <a:latin typeface="+mn-lt"/>
                          <a:ea typeface="+mn-lt"/>
                          <a:cs typeface="+mn-lt"/>
                        </a:rPr>
                        <a:t>Во время работы в редакторе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200" b="0">
                          <a:solidFill>
                            <a:srgbClr val="26323E"/>
                          </a:solidFill>
                          <a:latin typeface="+mn-lt"/>
                          <a:ea typeface="+mn-lt"/>
                          <a:cs typeface="+mn-lt"/>
                        </a:rPr>
                        <a:t>IDE показывает проблему рядом с кодом.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200" b="1">
                          <a:latin typeface="+mn-lt"/>
                          <a:ea typeface="+mn-lt"/>
                          <a:cs typeface="+mn-lt"/>
                        </a:rPr>
                        <a:t>В произвольное 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latin typeface="+mn-lt"/>
                          <a:ea typeface="+mn-lt"/>
                          <a:cs typeface="+mn-lt"/>
                        </a:rPr>
                        <a:t>Запускаем инструменты проверки вручную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200" b="1">
                          <a:solidFill>
                            <a:srgbClr val="203A50"/>
                          </a:solidFill>
                          <a:latin typeface="+mn-lt"/>
                          <a:ea typeface="+mn-lt"/>
                          <a:cs typeface="+mn-lt"/>
                        </a:rPr>
                        <a:t>Перед git commit или 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200" b="0">
                          <a:solidFill>
                            <a:srgbClr val="26323E"/>
                          </a:solidFill>
                          <a:latin typeface="+mn-lt"/>
                          <a:ea typeface="+mn-lt"/>
                          <a:cs typeface="+mn-lt"/>
                        </a:rPr>
                        <a:t>precommit / prepush хук — запускает линтеры, тесты и прочее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130">
                <a:tc>
                  <a:txBody>
                    <a:bodyPr/>
                    <a:lstStyle/>
                    <a:p>
                      <a:r>
                        <a:rPr sz="2200" b="1">
                          <a:latin typeface="+mn-lt"/>
                          <a:ea typeface="+mn-lt"/>
                          <a:cs typeface="+mn-lt"/>
                        </a:rPr>
                        <a:t>В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200" b="0">
                          <a:solidFill>
                            <a:srgbClr val="26323E"/>
                          </a:solidFill>
                          <a:latin typeface="+mn-lt"/>
                          <a:ea typeface="+mn-lt"/>
                          <a:cs typeface="+mn-lt"/>
                        </a:rPr>
                        <a:t>Сервер проверяет ревизию (после каждого push или PR).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F3C39A8-153D-CBD6-297D-E4F0533763E8}"/>
              </a:ext>
            </a:extLst>
          </p:cNvPr>
          <p:cNvSpPr>
            <a:spLocks noGrp="1"/>
          </p:cNvSpPr>
          <p:nvPr/>
        </p:nvSpPr>
        <p:spPr>
          <a:xfrm>
            <a:off x="5879117" y="4528476"/>
            <a:ext cx="6098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buFont typeface="Calibri"/>
              <a:buChar char="•"/>
            </a:pPr>
            <a:r>
              <a:rPr sz="2000" b="1"/>
              <a:t>Событие в Git</a:t>
            </a:r>
            <a:r>
              <a:rPr sz="2000"/>
              <a:t> (</a:t>
            </a:r>
            <a:r>
              <a:rPr sz="2000">
                <a:latin typeface="Lucida Console"/>
                <a:ea typeface="Lucida Console"/>
                <a:cs typeface="Lucida Console"/>
              </a:rPr>
              <a:t>push</a:t>
            </a:r>
            <a:r>
              <a:rPr sz="2000"/>
              <a:t> или </a:t>
            </a:r>
            <a:r>
              <a:rPr sz="2000">
                <a:latin typeface="Lucida Console"/>
                <a:ea typeface="Lucida Console"/>
                <a:cs typeface="Lucida Console"/>
              </a:rPr>
              <a:t>pull_request</a:t>
            </a:r>
            <a:r>
              <a:rPr sz="2000"/>
              <a:t>) — запускает workflow из репозитория.</a:t>
            </a:r>
          </a:p>
          <a:p>
            <a:pPr marL="216000" indent="-216000">
              <a:buFont typeface="Calibri"/>
              <a:buChar char="•"/>
            </a:pPr>
            <a:r>
              <a:rPr sz="2000" b="1"/>
              <a:t>Задание</a:t>
            </a:r>
            <a:r>
              <a:rPr sz="2000"/>
              <a:t> — runner (github actions, gitlab actions) — получает код, готовит окружение и выполняет проверки. Ошибка даёт статус Failed.</a:t>
            </a:r>
          </a:p>
        </p:txBody>
      </p:sp>
      <p:pic>
        <p:nvPicPr>
          <p:cNvPr id="27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552757"/>
            <a:ext cx="5879117" cy="330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FB323342-487B-45FE-983F-5328060F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10572750" cy="1619250"/>
          </a:xfrm>
        </p:spPr>
        <p:txBody>
          <a:bodyPr anchor="b"/>
          <a:lstStyle/>
          <a:p>
            <a:r>
              <a:t>Статический анализ Python</a:t>
            </a:r>
          </a:p>
        </p:txBody>
      </p:sp>
      <p:pic>
        <p:nvPicPr>
          <p:cNvPr id="5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293370"/>
            <a:ext cx="5351417" cy="30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156B3A6-9B48-4B15-901B-F4E708CC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55" y="400050"/>
            <a:ext cx="11374581" cy="575995"/>
          </a:xfrm>
        </p:spPr>
        <p:txBody>
          <a:bodyPr>
            <a:normAutofit fontScale="90000"/>
          </a:bodyPr>
          <a:lstStyle/>
          <a:p>
            <a:r>
              <a:t>Статические инструменты для кода в Python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6FA7AC7C-E6D7-4414-B6E9-06EF2B6AA42C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650">
              <a:solidFill>
                <a:srgbClr val="3E56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CC52D-D74E-ED8C-7BE1-8510EAC9B6F3}"/>
              </a:ext>
            </a:extLst>
          </p:cNvPr>
          <p:cNvSpPr>
            <a:spLocks noGrp="1"/>
          </p:cNvSpPr>
          <p:nvPr/>
        </p:nvSpPr>
        <p:spPr>
          <a:xfrm>
            <a:off x="344055" y="1158467"/>
            <a:ext cx="3692235" cy="4219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/>
              <a:t>Линтер</a:t>
            </a:r>
            <a:endParaRPr sz="2000"/>
          </a:p>
          <a:p>
            <a:pPr>
              <a:spcBef>
                <a:spcPts val="500"/>
              </a:spcBef>
              <a:buNone/>
            </a:pPr>
            <a:r>
              <a:rPr sz="2000"/>
              <a:t>Статический анализ кода для поиска ошибок, проблем и нарушений стиля кодирования.</a:t>
            </a:r>
          </a:p>
          <a:p>
            <a:endParaRPr sz="2000"/>
          </a:p>
          <a:p>
            <a:pPr marL="180000" indent="-180000">
              <a:buFont typeface="Calibri"/>
              <a:buChar char="•"/>
            </a:pPr>
            <a:r>
              <a:rPr sz="2000"/>
              <a:t>Проверяет исходный текст, 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Синтаксические ошибки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Неиспользуемые переменные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Подозрительные конструкции,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Правила стиля.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Нарушения PEP 8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Потенциальные баги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Проблемы безопасности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A8B55-F7F4-3837-F3CE-33190878FC29}"/>
              </a:ext>
            </a:extLst>
          </p:cNvPr>
          <p:cNvSpPr>
            <a:spLocks noGrp="1"/>
          </p:cNvSpPr>
          <p:nvPr/>
        </p:nvSpPr>
        <p:spPr>
          <a:xfrm>
            <a:off x="4348108" y="1156507"/>
            <a:ext cx="3692235" cy="4834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/>
              <a:t>Форматтер</a:t>
            </a:r>
            <a:endParaRPr sz="2000" b="1"/>
          </a:p>
          <a:p>
            <a:pPr>
              <a:spcBef>
                <a:spcPts val="500"/>
              </a:spcBef>
              <a:buNone/>
            </a:pPr>
            <a:r>
              <a:rPr sz="2000"/>
              <a:t>Автоматическое приведение кода к единому стилю и форматированию.</a:t>
            </a:r>
          </a:p>
          <a:p>
            <a:endParaRPr sz="2000"/>
          </a:p>
          <a:p>
            <a:pPr marL="180000" indent="-180000">
              <a:buFont typeface="Calibri"/>
              <a:buChar char="•"/>
            </a:pPr>
            <a:r>
              <a:rPr sz="2000"/>
              <a:t>Выравнивание отступов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Расстановка пробелов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Длина строк (обрезка)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Кавычки и скобки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Пустые строки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Единообразный стиль</a:t>
            </a:r>
          </a:p>
          <a:p>
            <a:pPr marL="144000" indent="-144000">
              <a:buFont typeface="Calibri"/>
              <a:buChar char="•"/>
            </a:pPr>
            <a:endParaRPr sz="2000"/>
          </a:p>
          <a:p>
            <a:r>
              <a:rPr sz="2000"/>
              <a:t>Единый стиль уменьшает шум в diff и споры на code review.</a:t>
            </a:r>
          </a:p>
          <a:p>
            <a:endParaRPr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F787CD-5CFB-BE70-9976-A1C5CEB4D6C9}"/>
              </a:ext>
            </a:extLst>
          </p:cNvPr>
          <p:cNvSpPr>
            <a:spLocks noGrp="1"/>
          </p:cNvSpPr>
          <p:nvPr/>
        </p:nvSpPr>
        <p:spPr>
          <a:xfrm>
            <a:off x="8222854" y="1156507"/>
            <a:ext cx="3495782" cy="480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/>
              <a:t>Сортировка импортов</a:t>
            </a:r>
          </a:p>
          <a:p>
            <a:pPr>
              <a:spcBef>
                <a:spcPts val="500"/>
              </a:spcBef>
              <a:buNone/>
            </a:pPr>
            <a:r>
              <a:rPr sz="2000"/>
              <a:t>Организация и упорядочивание импортов по стандартным правилам Python.</a:t>
            </a:r>
          </a:p>
          <a:p>
            <a:endParaRPr sz="2000" b="1"/>
          </a:p>
          <a:p>
            <a:pPr marL="216000" indent="-216000">
              <a:buFont typeface="+mj-lt"/>
              <a:buAutoNum type="arabicPeriod"/>
            </a:pPr>
            <a:r>
              <a:rPr sz="2000"/>
              <a:t>Стандартная библиотека</a:t>
            </a:r>
          </a:p>
          <a:p>
            <a:pPr marL="216000" indent="-216000">
              <a:buFont typeface="+mj-lt"/>
              <a:buAutoNum type="arabicPeriod"/>
            </a:pPr>
            <a:r>
              <a:rPr sz="2000"/>
              <a:t>Сторонние пакеты</a:t>
            </a:r>
          </a:p>
          <a:p>
            <a:pPr marL="216000" indent="-216000">
              <a:buFont typeface="+mj-lt"/>
              <a:buAutoNum type="arabicPeriod"/>
            </a:pPr>
            <a:r>
              <a:rPr sz="2000"/>
              <a:t>Локальные модули</a:t>
            </a:r>
          </a:p>
          <a:p>
            <a:pPr marL="285750" indent="-285750">
              <a:buFont typeface="Calibri"/>
              <a:buChar char="•"/>
            </a:pPr>
            <a:endParaRPr sz="2000"/>
          </a:p>
          <a:p>
            <a:pPr marL="180000" indent="-180000">
              <a:buFont typeface="Calibri"/>
              <a:buChar char="•"/>
            </a:pPr>
            <a:r>
              <a:rPr sz="2000"/>
              <a:t>Алфавитная сортировка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Удаление дубликатов</a:t>
            </a:r>
          </a:p>
          <a:p>
            <a:pPr marL="180000" indent="-180000">
              <a:buFont typeface="Calibri"/>
              <a:buChar char="•"/>
            </a:pPr>
            <a:r>
              <a:rPr sz="2000"/>
              <a:t>Группировка related импортов</a:t>
            </a:r>
          </a:p>
          <a:p>
            <a:endParaRPr b="1"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4A978-841E-44F6-BC53-2935983B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Статический анализ: инструменты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1D4B702C-538D-469A-9429-BE26554AD1C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3431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u="sng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Flake8</a:t>
            </a: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 и Pylint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34FAA2E5-489B-4F0F-B858-56016962FB11}"/>
              </a:ext>
            </a:extLst>
          </p:cNvPr>
          <p:cNvSpPr>
            <a:spLocks noGrp="1"/>
          </p:cNvSpPr>
          <p:nvPr/>
        </p:nvSpPr>
        <p:spPr>
          <a:xfrm>
            <a:off x="4995510" y="1504950"/>
            <a:ext cx="6510689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Общие проверки Python. Flake8 расширяется плагинами.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CE0DFAC5-48E5-416C-8874-53B664C535C7}"/>
              </a:ext>
            </a:extLst>
          </p:cNvPr>
          <p:cNvSpPr>
            <a:spLocks noGrp="1"/>
          </p:cNvSpPr>
          <p:nvPr/>
        </p:nvSpPr>
        <p:spPr>
          <a:xfrm>
            <a:off x="685799" y="2571750"/>
            <a:ext cx="4213459" cy="3431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pycodestyle, Pyflakes, pydocstyle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CA4CF056-5EEF-43AB-BDC6-B3D03DD3EA20}"/>
              </a:ext>
            </a:extLst>
          </p:cNvPr>
          <p:cNvSpPr>
            <a:spLocks noGrp="1"/>
          </p:cNvSpPr>
          <p:nvPr/>
        </p:nvSpPr>
        <p:spPr>
          <a:xfrm>
            <a:off x="4995512" y="2571750"/>
            <a:ext cx="6510688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Стиль, подозрительный код и docstring.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F43E2AE0-2639-45FF-9592-6BF436862674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657600" cy="3672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Vulture, Bandit, </a:t>
            </a:r>
            <a:r>
              <a:rPr sz="2025" b="1" i="0" u="none" cap="none" spc="0">
                <a:ln>
                  <a:noFill/>
                </a:ln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Semgrep</a:t>
            </a:r>
            <a:endParaRPr sz="2025" b="1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D212BF65-90C4-4028-A990-214E066305CD}"/>
              </a:ext>
            </a:extLst>
          </p:cNvPr>
          <p:cNvSpPr>
            <a:spLocks noGrp="1"/>
          </p:cNvSpPr>
          <p:nvPr/>
        </p:nvSpPr>
        <p:spPr>
          <a:xfrm>
            <a:off x="4995510" y="3638550"/>
            <a:ext cx="651069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Неиспользуемый код и специализированные проверки.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670823FF-D8E8-41DF-BB7D-593428502D95}"/>
              </a:ext>
            </a:extLst>
          </p:cNvPr>
          <p:cNvSpPr>
            <a:spLocks noGrp="1"/>
          </p:cNvSpPr>
          <p:nvPr/>
        </p:nvSpPr>
        <p:spPr>
          <a:xfrm>
            <a:off x="685799" y="4705350"/>
            <a:ext cx="4088331" cy="3672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Prospector, Pylama, Radon, Wily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90ABB501-FB28-40A0-9D58-ED41785A1259}"/>
              </a:ext>
            </a:extLst>
          </p:cNvPr>
          <p:cNvSpPr>
            <a:spLocks noGrp="1"/>
          </p:cNvSpPr>
          <p:nvPr/>
        </p:nvSpPr>
        <p:spPr>
          <a:xfrm>
            <a:off x="4995510" y="4705350"/>
            <a:ext cx="651069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Агрегаторы анализаторов и метрики сложности.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A556A3FA-DC69-462C-BB00-A51DC4A91C2D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В этой лекции подробно изучаем </a:t>
            </a:r>
            <a:r>
              <a:rPr sz="1725" b="0">
                <a:solidFill>
                  <a:srgbClr val="3A4D5D"/>
                </a:solidFill>
                <a:latin typeface="Lucida Console"/>
                <a:ea typeface="Lucida Console"/>
                <a:cs typeface="Lucida Console"/>
              </a:rPr>
              <a:t>Ruff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Специализированные проверки могут дополнять их.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sz="1725" b="0">
              <a:solidFill>
                <a:srgbClr val="3A4D5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" name="Рисунок 11"/>
          <p:cNvPicPr>
            <a:picLocks noChangeAspect="1"/>
          </p:cNvPicPr>
          <p:nvPr/>
        </p:nvPicPr>
        <p:blipFill>
          <a:blip r:embed="rId3"/>
          <a:stretch/>
        </p:blipFill>
        <p:spPr>
          <a:xfrm flipH="1">
            <a:off x="685799" y="1838323"/>
            <a:ext cx="546234" cy="552607"/>
          </a:xfrm>
          <a:prstGeom prst="rect">
            <a:avLst/>
          </a:prstGeom>
        </p:spPr>
      </p:pic>
      <p:pic>
        <p:nvPicPr>
          <p:cNvPr id="35" name="Рисунок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76413" y="1855470"/>
            <a:ext cx="436269" cy="536179"/>
          </a:xfrm>
          <a:prstGeom prst="rect">
            <a:avLst/>
          </a:prstGeom>
        </p:spPr>
      </p:pic>
      <p:pic>
        <p:nvPicPr>
          <p:cNvPr id="36" name="Рисунок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798" y="2938962"/>
            <a:ext cx="546233" cy="546233"/>
          </a:xfrm>
          <a:prstGeom prst="rect">
            <a:avLst/>
          </a:prstGeom>
        </p:spPr>
      </p:pic>
      <p:pic>
        <p:nvPicPr>
          <p:cNvPr id="37" name="Рисунок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427672" y="2942926"/>
            <a:ext cx="542269" cy="542269"/>
          </a:xfrm>
          <a:prstGeom prst="rect">
            <a:avLst/>
          </a:prstGeom>
        </p:spPr>
      </p:pic>
      <p:pic>
        <p:nvPicPr>
          <p:cNvPr id="38" name="Рисунок 1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165582" y="2943702"/>
            <a:ext cx="551495" cy="551495"/>
          </a:xfrm>
          <a:prstGeom prst="rect">
            <a:avLst/>
          </a:prstGeom>
        </p:spPr>
      </p:pic>
      <p:pic>
        <p:nvPicPr>
          <p:cNvPr id="39" name="Рисунок 1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79581" y="3932071"/>
            <a:ext cx="546233" cy="546233"/>
          </a:xfrm>
          <a:prstGeom prst="rect">
            <a:avLst/>
          </a:prstGeom>
        </p:spPr>
      </p:pic>
      <p:pic>
        <p:nvPicPr>
          <p:cNvPr id="40" name="Рисунок 1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427672" y="3932071"/>
            <a:ext cx="488470" cy="546233"/>
          </a:xfrm>
          <a:prstGeom prst="rect">
            <a:avLst/>
          </a:prstGeom>
        </p:spPr>
      </p:pic>
      <p:pic>
        <p:nvPicPr>
          <p:cNvPr id="41" name="Рисунок 1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062912" y="4143174"/>
            <a:ext cx="2095500" cy="316207"/>
          </a:xfrm>
          <a:prstGeom prst="rect">
            <a:avLst/>
          </a:prstGeom>
        </p:spPr>
      </p:pic>
      <p:pic>
        <p:nvPicPr>
          <p:cNvPr id="42" name="Рисунок 19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09847" y="5103783"/>
            <a:ext cx="515967" cy="515967"/>
          </a:xfrm>
          <a:prstGeom prst="rect">
            <a:avLst/>
          </a:prstGeom>
        </p:spPr>
      </p:pic>
      <p:pic>
        <p:nvPicPr>
          <p:cNvPr id="43" name="Рисунок 20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424278" y="5103783"/>
            <a:ext cx="340538" cy="515967"/>
          </a:xfrm>
          <a:prstGeom prst="rect">
            <a:avLst/>
          </a:prstGeom>
        </p:spPr>
      </p:pic>
      <p:pic>
        <p:nvPicPr>
          <p:cNvPr id="44" name="Рисунок 21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63280" y="5123842"/>
            <a:ext cx="515967" cy="515967"/>
          </a:xfrm>
          <a:prstGeom prst="rect">
            <a:avLst/>
          </a:prstGeom>
        </p:spPr>
      </p:pic>
      <p:pic>
        <p:nvPicPr>
          <p:cNvPr id="45" name="Рисунок 22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656967" y="5123841"/>
            <a:ext cx="907390" cy="51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08A64-6528-434E-9DE4-79FA9FD1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58846"/>
            <a:ext cx="10820400" cy="704850"/>
          </a:xfrm>
        </p:spPr>
        <p:txBody>
          <a:bodyPr/>
          <a:lstStyle/>
          <a:p>
            <a:r>
              <a:t>Сквозной пример: стоимость заказа</a:t>
            </a:r>
          </a:p>
        </p:txBody>
      </p:sp>
      <p:sp>
        <p:nvSpPr>
          <p:cNvPr id="3" name="label pricing.py">
            <a:extLst>
              <a:ext uri="{FF2B5EF4-FFF2-40B4-BE49-F238E27FC236}">
                <a16:creationId xmlns:a16="http://schemas.microsoft.com/office/drawing/2014/main" id="{6C1F6432-39CE-4953-B92D-1E4A5CC38128}"/>
              </a:ext>
            </a:extLst>
          </p:cNvPr>
          <p:cNvSpPr>
            <a:spLocks noGrp="1"/>
          </p:cNvSpPr>
          <p:nvPr/>
        </p:nvSpPr>
        <p:spPr>
          <a:xfrm>
            <a:off x="685800" y="1263721"/>
            <a:ext cx="7239000" cy="3936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pricing.py</a:t>
            </a:r>
          </a:p>
        </p:txBody>
      </p:sp>
      <p:sp>
        <p:nvSpPr>
          <p:cNvPr id="4" name="snippet python">
            <a:extLst>
              <a:ext uri="{FF2B5EF4-FFF2-40B4-BE49-F238E27FC236}">
                <a16:creationId xmlns:a16="http://schemas.microsoft.com/office/drawing/2014/main" id="{E2661992-2B86-414C-9D53-B1C3487FE31D}"/>
              </a:ext>
            </a:extLst>
          </p:cNvPr>
          <p:cNvSpPr>
            <a:spLocks noGrp="1"/>
          </p:cNvSpPr>
          <p:nvPr/>
        </p:nvSpPr>
        <p:spPr>
          <a:xfrm>
            <a:off x="685799" y="1695450"/>
            <a:ext cx="7736305" cy="1390650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(price: </a:t>
            </a: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quantity: </a:t>
            </a: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-&gt;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quantity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raise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ValueError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"quantity must be &gt;= 0"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price </a:t>
            </a:r>
            <a:r>
              <a:rPr sz="2000"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quantity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label main.py">
            <a:extLst>
              <a:ext uri="{FF2B5EF4-FFF2-40B4-BE49-F238E27FC236}">
                <a16:creationId xmlns:a16="http://schemas.microsoft.com/office/drawing/2014/main" id="{28F2A069-0BCC-4C16-94EB-85B71F0B154E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main.py</a:t>
            </a:r>
          </a:p>
        </p:txBody>
      </p:sp>
      <p:sp>
        <p:nvSpPr>
          <p:cNvPr id="6" name="snippet python">
            <a:extLst>
              <a:ext uri="{FF2B5EF4-FFF2-40B4-BE49-F238E27FC236}">
                <a16:creationId xmlns:a16="http://schemas.microsoft.com/office/drawing/2014/main" id="{6A086593-C91D-4AB9-B185-3755C1F0AB6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7239000" cy="1114425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pricing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(pricing.</a:t>
            </a:r>
            <a:r>
              <a:rPr sz="2000"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100.0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))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854B1569-01D1-4F47-B5D6-38645920A89D}"/>
              </a:ext>
            </a:extLst>
          </p:cNvPr>
          <p:cNvSpPr>
            <a:spLocks noGrp="1"/>
          </p:cNvSpPr>
          <p:nvPr/>
        </p:nvSpPr>
        <p:spPr>
          <a:xfrm>
            <a:off x="8806314" y="1695450"/>
            <a:ext cx="3200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</a:rPr>
              <a:t>Небольшая функция с аннотациями типов.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</a:rPr>
              <a:t>Тесты проверяют обычный заказ, нулевое и отрицательное количество.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</a:rPr>
              <a:t>На этом проекте будем запускать все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2B492355-882C-4CBC-A995-BA524213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70" y="2762250"/>
            <a:ext cx="3439884" cy="1619250"/>
          </a:xfrm>
        </p:spPr>
        <p:txBody>
          <a:bodyPr anchor="b"/>
          <a:lstStyle/>
          <a:p>
            <a:r>
              <a:t>Ruff</a:t>
            </a:r>
          </a:p>
        </p:txBody>
      </p:sp>
      <p:pic>
        <p:nvPicPr>
          <p:cNvPr id="6" name="Рисунок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6870" y="3238772"/>
            <a:ext cx="1066800" cy="1066800"/>
          </a:xfrm>
          <a:prstGeom prst="rect">
            <a:avLst/>
          </a:prstGeom>
        </p:spPr>
      </p:pic>
      <p:pic>
        <p:nvPicPr>
          <p:cNvPr id="7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326" y="1666875"/>
            <a:ext cx="635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AD334-5612-43C0-B0CF-6B1AD055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Ruff: три роли</a:t>
            </a:r>
          </a:p>
        </p:txBody>
      </p:sp>
      <p:sp>
        <p:nvSpPr>
          <p:cNvPr id="3" name="role0">
            <a:extLst>
              <a:ext uri="{FF2B5EF4-FFF2-40B4-BE49-F238E27FC236}">
                <a16:creationId xmlns:a16="http://schemas.microsoft.com/office/drawing/2014/main" id="{C9ABA4D3-8412-4D88-9498-C3B09359C98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Линтер</a:t>
            </a:r>
          </a:p>
        </p:txBody>
      </p:sp>
      <p:sp>
        <p:nvSpPr>
          <p:cNvPr id="4" name="role-description0">
            <a:extLst>
              <a:ext uri="{FF2B5EF4-FFF2-40B4-BE49-F238E27FC236}">
                <a16:creationId xmlns:a16="http://schemas.microsoft.com/office/drawing/2014/main" id="{95EEFE45-A548-48C6-A169-CE90AC6ACF3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3905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95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Находит нарушения выбранных правил.</a:t>
            </a:r>
          </a:p>
        </p:txBody>
      </p:sp>
      <p:sp>
        <p:nvSpPr>
          <p:cNvPr id="5" name="terminal-command0">
            <a:extLst>
              <a:ext uri="{FF2B5EF4-FFF2-40B4-BE49-F238E27FC236}">
                <a16:creationId xmlns:a16="http://schemas.microsoft.com/office/drawing/2014/main" id="{26524CDE-A222-429E-B64D-F668E1B22906}"/>
              </a:ext>
            </a:extLst>
          </p:cNvPr>
          <p:cNvSpPr>
            <a:spLocks noGrp="1"/>
          </p:cNvSpPr>
          <p:nvPr/>
        </p:nvSpPr>
        <p:spPr>
          <a:xfrm>
            <a:off x="5010150" y="1562100"/>
            <a:ext cx="6496050" cy="6667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ruff check .</a:t>
            </a:r>
          </a:p>
        </p:txBody>
      </p:sp>
      <p:sp>
        <p:nvSpPr>
          <p:cNvPr id="6" name="role1">
            <a:extLst>
              <a:ext uri="{FF2B5EF4-FFF2-40B4-BE49-F238E27FC236}">
                <a16:creationId xmlns:a16="http://schemas.microsoft.com/office/drawing/2014/main" id="{E88B1C91-DB4D-4BA6-91A5-41429F44F47D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Автоисправления</a:t>
            </a:r>
          </a:p>
        </p:txBody>
      </p:sp>
      <p:sp>
        <p:nvSpPr>
          <p:cNvPr id="7" name="role-description1">
            <a:extLst>
              <a:ext uri="{FF2B5EF4-FFF2-40B4-BE49-F238E27FC236}">
                <a16:creationId xmlns:a16="http://schemas.microsoft.com/office/drawing/2014/main" id="{4CBEC642-8B7C-461F-BAF8-B5E2AA8E65E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3905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95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Применяет доступные безопасные исправления.</a:t>
            </a:r>
          </a:p>
        </p:txBody>
      </p:sp>
      <p:sp>
        <p:nvSpPr>
          <p:cNvPr id="8" name="terminal-command1">
            <a:extLst>
              <a:ext uri="{FF2B5EF4-FFF2-40B4-BE49-F238E27FC236}">
                <a16:creationId xmlns:a16="http://schemas.microsoft.com/office/drawing/2014/main" id="{888D5B07-C88F-4DFB-88C5-716E274C23FA}"/>
              </a:ext>
            </a:extLst>
          </p:cNvPr>
          <p:cNvSpPr>
            <a:spLocks noGrp="1"/>
          </p:cNvSpPr>
          <p:nvPr/>
        </p:nvSpPr>
        <p:spPr>
          <a:xfrm>
            <a:off x="5010150" y="2924175"/>
            <a:ext cx="6496050" cy="6667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ruff check . --fix</a:t>
            </a:r>
          </a:p>
        </p:txBody>
      </p:sp>
      <p:sp>
        <p:nvSpPr>
          <p:cNvPr id="9" name="role2">
            <a:extLst>
              <a:ext uri="{FF2B5EF4-FFF2-40B4-BE49-F238E27FC236}">
                <a16:creationId xmlns:a16="http://schemas.microsoft.com/office/drawing/2014/main" id="{2475A038-F75B-4CB8-A2A9-4EF540CB7B74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Форматтер</a:t>
            </a:r>
          </a:p>
        </p:txBody>
      </p:sp>
      <p:sp>
        <p:nvSpPr>
          <p:cNvPr id="10" name="role-description2">
            <a:extLst>
              <a:ext uri="{FF2B5EF4-FFF2-40B4-BE49-F238E27FC236}">
                <a16:creationId xmlns:a16="http://schemas.microsoft.com/office/drawing/2014/main" id="{1C96D75F-6DDB-419C-86A8-EBCF566B1DB1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3905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95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Приводит оформление к единому стилю.</a:t>
            </a:r>
          </a:p>
        </p:txBody>
      </p:sp>
      <p:sp>
        <p:nvSpPr>
          <p:cNvPr id="11" name="terminal-command2">
            <a:extLst>
              <a:ext uri="{FF2B5EF4-FFF2-40B4-BE49-F238E27FC236}">
                <a16:creationId xmlns:a16="http://schemas.microsoft.com/office/drawing/2014/main" id="{BC46A0AA-C74D-44B6-B1F0-0AD769A246A6}"/>
              </a:ext>
            </a:extLst>
          </p:cNvPr>
          <p:cNvSpPr>
            <a:spLocks noGrp="1"/>
          </p:cNvSpPr>
          <p:nvPr/>
        </p:nvSpPr>
        <p:spPr>
          <a:xfrm>
            <a:off x="5010150" y="4286250"/>
            <a:ext cx="6496050" cy="6667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ruff format .</a:t>
            </a:r>
          </a:p>
        </p:txBody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69625DEC-C6E0-450A-9665-C35B8ADC254D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Lucida Console"/>
                <a:ea typeface="Lucida Console"/>
                <a:cs typeface="Lucida Console"/>
              </a:rPr>
              <a:t>Ruff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 не проверяет совместимость типов. Это работа </a:t>
            </a:r>
            <a:r>
              <a:rPr sz="1725" b="0">
                <a:solidFill>
                  <a:srgbClr val="3A4D5D"/>
                </a:solidFill>
                <a:latin typeface="Lucida Console"/>
                <a:ea typeface="Lucida Console"/>
                <a:cs typeface="Lucida Console"/>
              </a:rPr>
              <a:t>Pyright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DF34C-A3EC-4002-B9FA-6C6BFD85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Линтер: неиспользуемый импорт</a:t>
            </a:r>
          </a:p>
        </p:txBody>
      </p:sp>
      <p:sp>
        <p:nvSpPr>
          <p:cNvPr id="100" name="label main.py">
            <a:extLst>
              <a:ext uri="{FF2B5EF4-FFF2-40B4-BE49-F238E27FC236}">
                <a16:creationId xmlns:a16="http://schemas.microsoft.com/office/drawing/2014/main" id="{92E2F49B-C896-491C-8ED6-CFCEB9B2E5E0}"/>
              </a:ext>
            </a:extLst>
          </p:cNvPr>
          <p:cNvSpPr>
            <a:spLocks noGrp="1"/>
          </p:cNvSpPr>
          <p:nvPr/>
        </p:nvSpPr>
        <p:spPr>
          <a:xfrm>
            <a:off x="270164" y="1352550"/>
            <a:ext cx="4505036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main.py</a:t>
            </a:r>
            <a:r>
              <a:rPr sz="1600"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несколько независимых проблем</a:t>
            </a:r>
            <a:endParaRPr sz="1425"/>
          </a:p>
        </p:txBody>
      </p:sp>
      <p:sp>
        <p:nvSpPr>
          <p:cNvPr id="101" name="snippet python">
            <a:extLst>
              <a:ext uri="{FF2B5EF4-FFF2-40B4-BE49-F238E27FC236}">
                <a16:creationId xmlns:a16="http://schemas.microsoft.com/office/drawing/2014/main" id="{FD40B4D0-12E3-4AE8-8E3F-FCEAF8827A4F}"/>
              </a:ext>
            </a:extLst>
          </p:cNvPr>
          <p:cNvSpPr>
            <a:spLocks noGrp="1"/>
          </p:cNvSpPr>
          <p:nvPr/>
        </p:nvSpPr>
        <p:spPr>
          <a:xfrm>
            <a:off x="270164" y="1695450"/>
            <a:ext cx="4505036" cy="308610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os</a:t>
            </a:r>
            <a:endParaRPr sz="165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pathlib </a:t>
            </a:r>
            <a:r>
              <a:rPr sz="1650" b="1" i="0"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Path</a:t>
            </a:r>
            <a:endParaRPr sz="165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sz="1650"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sz="1650"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50" b="1" i="0"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(prices):</a:t>
            </a:r>
            <a:endParaRPr sz="165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50"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50" b="0" i="0"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f"Calculating total"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  <a:endParaRPr sz="165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50" b="1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50"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(prices) </a:t>
            </a:r>
            <a:r>
              <a:rPr sz="1650" b="0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+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delivery</a:t>
            </a:r>
            <a:endParaRPr sz="165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sz="1650"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sz="1650"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50" b="1" i="0"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([</a:t>
            </a:r>
            <a:r>
              <a:rPr sz="1650"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120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650"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80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650"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50</a:t>
            </a:r>
            <a:r>
              <a:rPr sz="16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]))</a:t>
            </a:r>
            <a:endParaRPr sz="1650"/>
          </a:p>
        </p:txBody>
      </p:sp>
      <p:sp>
        <p:nvSpPr>
          <p:cNvPr id="102" name="label Терминал">
            <a:extLst>
              <a:ext uri="{FF2B5EF4-FFF2-40B4-BE49-F238E27FC236}">
                <a16:creationId xmlns:a16="http://schemas.microsoft.com/office/drawing/2014/main" id="{294189EB-D7D1-4585-A42E-2089E3E74D99}"/>
              </a:ext>
            </a:extLst>
          </p:cNvPr>
          <p:cNvSpPr>
            <a:spLocks noGrp="1"/>
          </p:cNvSpPr>
          <p:nvPr/>
        </p:nvSpPr>
        <p:spPr>
          <a:xfrm>
            <a:off x="4917210" y="1352550"/>
            <a:ext cx="5257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sz="1600"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Терминал: диагностики сокращены</a:t>
            </a:r>
            <a:endParaRPr sz="1425"/>
          </a:p>
        </p:txBody>
      </p:sp>
      <p:sp>
        <p:nvSpPr>
          <p:cNvPr id="103" name="snippet terminal">
            <a:extLst>
              <a:ext uri="{FF2B5EF4-FFF2-40B4-BE49-F238E27FC236}">
                <a16:creationId xmlns:a16="http://schemas.microsoft.com/office/drawing/2014/main" id="{C3C2C1C4-3CF1-489D-91AC-84C4AD610704}"/>
              </a:ext>
            </a:extLst>
          </p:cNvPr>
          <p:cNvSpPr>
            <a:spLocks noGrp="1"/>
          </p:cNvSpPr>
          <p:nvPr/>
        </p:nvSpPr>
        <p:spPr>
          <a:xfrm>
            <a:off x="4917210" y="1695450"/>
            <a:ext cx="6757553" cy="308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main.py --select F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main.py:1:8   F401 [*] unused import: os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main.py:2:21  F401 [*] unused import: Path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main.py:6:11  F541 [*] f-string without {}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main.py:7:26  F821 undefined name: delivery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endParaRPr b="0" i="0" u="none" kern="1200" cap="none" spc="0" baseline="0">
              <a:ln>
                <a:noFill/>
              </a:ln>
              <a:solidFill>
                <a:srgbClr val="72F777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Found 4 errors.</a:t>
            </a:r>
            <a:endParaRPr/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[*] 3 fixable with the `--fix` option.</a:t>
            </a:r>
            <a:endParaRPr/>
          </a:p>
        </p:txBody>
      </p:sp>
      <p:sp>
        <p:nvSpPr>
          <p:cNvPr id="104" name="explanation">
            <a:extLst>
              <a:ext uri="{FF2B5EF4-FFF2-40B4-BE49-F238E27FC236}">
                <a16:creationId xmlns:a16="http://schemas.microsoft.com/office/drawing/2014/main" id="{38AC3781-7ED1-45F3-9FB3-2E3E42E93ABE}"/>
              </a:ext>
            </a:extLst>
          </p:cNvPr>
          <p:cNvSpPr>
            <a:spLocks noGrp="1"/>
          </p:cNvSpPr>
          <p:nvPr/>
        </p:nvSpPr>
        <p:spPr>
          <a:xfrm>
            <a:off x="4917210" y="5067300"/>
            <a:ext cx="6588990" cy="1390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F401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два неиспользуемых импорта.</a:t>
            </a:r>
            <a:br/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F541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у f-строки нет подстановок.</a:t>
            </a:r>
            <a:endParaRPr/>
          </a:p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F821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переменная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delivery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нигде не определена.</a:t>
            </a:r>
            <a:endParaRPr/>
          </a:p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Метка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[*]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означает доступное автоисправление.</a:t>
            </a:r>
            <a:br/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Без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--fix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Ruff только сообщает ошибки.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3A3A46A-D2C3-43A3-A937-AFEE9C11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190500"/>
            <a:ext cx="10820400" cy="619125"/>
          </a:xfrm>
        </p:spPr>
        <p:txBody>
          <a:bodyPr>
            <a:normAutofit fontScale="90000"/>
          </a:bodyPr>
          <a:lstStyle/>
          <a:p>
            <a:r>
              <a:t>Ruff: как найти правила</a:t>
            </a:r>
          </a:p>
        </p:txBody>
      </p:sp>
      <p:sp>
        <p:nvSpPr>
          <p:cNvPr id="2" name="label pyproject.toml: вариант политики команды">
            <a:extLst>
              <a:ext uri="{FF2B5EF4-FFF2-40B4-BE49-F238E27FC236}">
                <a16:creationId xmlns:a16="http://schemas.microsoft.com/office/drawing/2014/main" id="{A9D17AA8-0F22-4601-8A6A-AC6DB682648D}"/>
              </a:ext>
            </a:extLst>
          </p:cNvPr>
          <p:cNvSpPr>
            <a:spLocks noGrp="1"/>
          </p:cNvSpPr>
          <p:nvPr/>
        </p:nvSpPr>
        <p:spPr>
          <a:xfrm>
            <a:off x="576197" y="1009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53E53"/>
                </a:solidFill>
                <a:latin typeface="Calibri"/>
                <a:ea typeface="Calibri"/>
                <a:cs typeface="Calibri"/>
              </a:rPr>
              <a:t>Терминал: команды и фрагменты вывода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nippet terminal rule discovery">
            <a:extLst>
              <a:ext uri="{FF2B5EF4-FFF2-40B4-BE49-F238E27FC236}">
                <a16:creationId xmlns:a16="http://schemas.microsoft.com/office/drawing/2014/main" id="{B8BDD156-803A-4BBD-89B2-AA72AB37BC7E}"/>
              </a:ext>
            </a:extLst>
          </p:cNvPr>
          <p:cNvSpPr>
            <a:spLocks noGrp="1"/>
          </p:cNvSpPr>
          <p:nvPr/>
        </p:nvSpPr>
        <p:spPr>
          <a:xfrm>
            <a:off x="576197" y="1295400"/>
            <a:ext cx="6814159" cy="5080348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txBody>
          <a:bodyPr wrap="square" lIns="171450" tIns="76200" rIns="171450" bIns="762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main.py --show-settings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linter.rules.enabled = [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    unused-import (F401),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    ...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--isolated --show-settings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linter.rules.enabled = [ ... 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linter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  F Pyflakes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  E, W pycodestyle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rule --all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rule F401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# unused-import (F401)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explanation0">
            <a:extLst>
              <a:ext uri="{FF2B5EF4-FFF2-40B4-BE49-F238E27FC236}">
                <a16:creationId xmlns:a16="http://schemas.microsoft.com/office/drawing/2014/main" id="{6100BA35-EB99-401A-8876-AB773BC99B65}"/>
              </a:ext>
            </a:extLst>
          </p:cNvPr>
          <p:cNvSpPr>
            <a:spLocks noGrp="1"/>
          </p:cNvSpPr>
          <p:nvPr/>
        </p:nvSpPr>
        <p:spPr>
          <a:xfrm>
            <a:off x="7741085" y="1238250"/>
            <a:ext cx="4191000" cy="49871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--show-settings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действующие правила для файла с учётом настроек проекта.</a:t>
            </a:r>
            <a:endParaRPr sz="1750"/>
          </a:p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--isolated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встроенные настройки Ruff без проектного конфига.</a:t>
            </a:r>
            <a:endParaRPr sz="1750"/>
          </a:p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ruff linter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группы правил и их префиксы.</a:t>
            </a:r>
            <a:endParaRPr sz="1750"/>
          </a:p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ruff rule --all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каталог всех правил. </a:t>
            </a:r>
          </a:p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ruff rule F401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: подробности одного правила.</a:t>
            </a:r>
            <a:endParaRPr sz="1750"/>
          </a:p>
          <a:p>
            <a:pPr marL="228600" indent="-19050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На сайте Ruff фильтр </a:t>
            </a:r>
            <a:r>
              <a:rPr sz="175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Default</a:t>
            </a:r>
            <a:r>
              <a:rPr sz="175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показывает правила, включённые по умолчанию.</a:t>
            </a:r>
            <a:br/>
            <a:r>
              <a:rPr sz="1750">
                <a:solidFill>
                  <a:srgbClr val="243342"/>
                </a:solidFill>
                <a:hlinkClick r:id="rId3"/>
              </a:rPr>
              <a:t>https://docs.astral.sh/ruff/default-rules/</a:t>
            </a:r>
            <a:endParaRPr sz="1750">
              <a:solidFill>
                <a:srgbClr val="2433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pet terminal">
            <a:extLst>
              <a:ext uri="{FF2B5EF4-FFF2-40B4-BE49-F238E27FC236}">
                <a16:creationId xmlns:a16="http://schemas.microsoft.com/office/drawing/2014/main" id="{F963E599-9EE9-4C72-9832-95EE36B35744}"/>
              </a:ext>
            </a:extLst>
          </p:cNvPr>
          <p:cNvSpPr>
            <a:spLocks noGrp="1"/>
          </p:cNvSpPr>
          <p:nvPr/>
        </p:nvSpPr>
        <p:spPr>
          <a:xfrm>
            <a:off x="4783016" y="151666"/>
            <a:ext cx="7239000" cy="6618411"/>
          </a:xfrm>
          <a:prstGeom prst="rect">
            <a:avLst/>
          </a:prstGeom>
          <a:solidFill>
            <a:schemeClr val="tx1"/>
          </a:solidFill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$ ruff check pricing.py --show-setting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Resolved settings for: "hw-09-agents/checks.py"</a:t>
            </a:r>
          </a:p>
          <a:p>
            <a:pPr lvl="0">
              <a:lnSpc>
                <a:spcPct val="90000"/>
              </a:lnSpc>
              <a:buNone/>
            </a:pPr>
            <a:endParaRPr sz="1600">
              <a:solidFill>
                <a:srgbClr val="00EF00"/>
              </a:solidFill>
              <a:latin typeface="Courier New"/>
              <a:ea typeface="Courier New"/>
              <a:cs typeface="Courier New"/>
            </a:endParaRP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# General Settings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cache_dir = "hw-09-agents/.ruff_cache"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fix = false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fix_only = false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output_format = full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output_prefer_rule_codes = false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show_fixes = false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unsafe_fixes = hint</a:t>
            </a:r>
          </a:p>
          <a:p>
            <a:pPr lvl="0">
              <a:lnSpc>
                <a:spcPct val="90000"/>
              </a:lnSpc>
              <a:buNone/>
            </a:pPr>
            <a:endParaRPr sz="1600">
              <a:solidFill>
                <a:srgbClr val="00EF00"/>
              </a:solidFill>
              <a:latin typeface="Courier New"/>
              <a:ea typeface="Courier New"/>
              <a:cs typeface="Courier New"/>
            </a:endParaRP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# File Resolver Settings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file_resolver.exclude = [ ... "venv", 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file_resolver.extend_exclude = []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file_resolver.force_exclude = false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file_resolver.include = [ "*.py", ... 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file_resolver.extend_include = []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file_resolver.respect_gitignore = true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file_resolver.project_root = "deepmine/hw-09-agents"</a:t>
            </a:r>
          </a:p>
          <a:p>
            <a:pPr lvl="0">
              <a:lnSpc>
                <a:spcPct val="90000"/>
              </a:lnSpc>
              <a:buNone/>
            </a:pPr>
            <a:endParaRPr sz="1600">
              <a:solidFill>
                <a:srgbClr val="00EF00"/>
              </a:solidFill>
              <a:latin typeface="Courier New"/>
              <a:ea typeface="Courier New"/>
              <a:cs typeface="Courier New"/>
            </a:endParaRP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# Linter Settings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linter.exclude = []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linter.project_root = "hw-09-agents"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linter.rules.enabled = [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        sys-version-slice3 (YTT101),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        ...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lvl="0">
              <a:lnSpc>
                <a:spcPct val="90000"/>
              </a:lnSpc>
              <a:buNone/>
            </a:pPr>
            <a:r>
              <a:rPr sz="1600">
                <a:solidFill>
                  <a:srgbClr val="00EF00"/>
                </a:solidFill>
                <a:latin typeface="Courier New"/>
                <a:ea typeface="Courier New"/>
                <a:cs typeface="Courier New"/>
              </a:rPr>
              <a:t>...</a:t>
            </a:r>
          </a:p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725" b="0" i="0" u="none" kern="1200" cap="none" spc="0" baseline="0">
              <a:ln>
                <a:noFill/>
              </a:ln>
              <a:solidFill>
                <a:srgbClr val="00EF0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2C4E4AF-D684-4216-957C-DD5B41325F03}"/>
              </a:ext>
            </a:extLst>
          </p:cNvPr>
          <p:cNvSpPr>
            <a:spLocks noGrp="1"/>
          </p:cNvSpPr>
          <p:nvPr/>
        </p:nvSpPr>
        <p:spPr>
          <a:xfrm>
            <a:off x="348762" y="1513742"/>
            <a:ext cx="3792416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Показывает </a:t>
            </a:r>
            <a:r>
              <a:rPr sz="2000" b="1"/>
              <a:t>итоговые настройки Ruff для файла </a:t>
            </a:r>
            <a:r>
              <a:rPr sz="2000" i="0" u="none" cap="none" spc="0">
                <a:ln>
                  <a:noFill/>
                </a:ln>
                <a:solidFill>
                  <a:prstClr val="black"/>
                </a:solidFill>
                <a:latin typeface="Courier New"/>
                <a:ea typeface="Courier New"/>
                <a:cs typeface="Courier New"/>
              </a:rPr>
              <a:t>checks.py</a:t>
            </a:r>
            <a:r>
              <a:rPr sz="2000"/>
              <a:t>: какие правила включены, какие исключения и другие параметры применяются.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Полезно для вопроса: «Я изменил конфиг — Ruff действительно его использует?»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Это просмотр конфигурации, а не обычный отчёт об ошибках.</a:t>
            </a:r>
            <a:endParaRPr sz="2000" b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38F9D7-26C9-413C-8FA0-A11B04EF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68" y="137746"/>
            <a:ext cx="3792416" cy="1200150"/>
          </a:xfrm>
        </p:spPr>
        <p:txBody>
          <a:bodyPr>
            <a:normAutofit fontScale="90000"/>
          </a:bodyPr>
          <a:lstStyle/>
          <a:p>
            <a:r>
              <a:t>Пример--show-setting 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7DC5D-8766-49F8-89DB-BB227126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Автоисправление: результат виден в diff</a:t>
            </a:r>
          </a:p>
        </p:txBody>
      </p:sp>
      <p:sp>
        <p:nvSpPr>
          <p:cNvPr id="100" name="label Терминал">
            <a:extLst>
              <a:ext uri="{FF2B5EF4-FFF2-40B4-BE49-F238E27FC236}">
                <a16:creationId xmlns:a16="http://schemas.microsoft.com/office/drawing/2014/main" id="{9B509910-43AA-4FEF-8B8C-EAD71FAE9F1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5257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sz="1600"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Терминал: фрагмент вывода и diff</a:t>
            </a:r>
            <a:endParaRPr sz="1600"/>
          </a:p>
        </p:txBody>
      </p:sp>
      <p:sp>
        <p:nvSpPr>
          <p:cNvPr id="101" name="snippet terminal">
            <a:extLst>
              <a:ext uri="{FF2B5EF4-FFF2-40B4-BE49-F238E27FC236}">
                <a16:creationId xmlns:a16="http://schemas.microsoft.com/office/drawing/2014/main" id="{19A1F92F-927B-4322-A611-1446B8015B1F}"/>
              </a:ext>
            </a:extLst>
          </p:cNvPr>
          <p:cNvSpPr>
            <a:spLocks noGrp="1"/>
          </p:cNvSpPr>
          <p:nvPr/>
        </p:nvSpPr>
        <p:spPr>
          <a:xfrm>
            <a:off x="360218" y="1695450"/>
            <a:ext cx="5583382" cy="32575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main.py  --fix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Found 4 errors (3 fixed, 1 remaining).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br/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$ git diff -- main.py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-import os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-from pathlib import Path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 ...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-    print(f"Calculating total")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+    print("Calculating total")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92D050"/>
                </a:solidFill>
                <a:latin typeface="Lucida Console"/>
                <a:ea typeface="Lucida Console"/>
                <a:cs typeface="Lucida Console"/>
              </a:rPr>
              <a:t>     return sum(prices) + delivery</a:t>
            </a:r>
          </a:p>
        </p:txBody>
      </p:sp>
      <p:sp>
        <p:nvSpPr>
          <p:cNvPr id="102" name="label main.py после исправления">
            <a:extLst>
              <a:ext uri="{FF2B5EF4-FFF2-40B4-BE49-F238E27FC236}">
                <a16:creationId xmlns:a16="http://schemas.microsoft.com/office/drawing/2014/main" id="{24DBB1B2-89D7-42F2-B91F-4AF005295ABB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257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main.py</a:t>
            </a:r>
            <a:r>
              <a:rPr sz="1600"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после </a:t>
            </a:r>
            <a:r>
              <a:rPr sz="1600" b="0" i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ruff check --fix</a:t>
            </a:r>
            <a:endParaRPr sz="1600"/>
          </a:p>
        </p:txBody>
      </p:sp>
      <p:sp>
        <p:nvSpPr>
          <p:cNvPr id="103" name="snippet python">
            <a:extLst>
              <a:ext uri="{FF2B5EF4-FFF2-40B4-BE49-F238E27FC236}">
                <a16:creationId xmlns:a16="http://schemas.microsoft.com/office/drawing/2014/main" id="{1B9FB6B4-DCDA-4B65-B19E-89EFDDCC1FBB}"/>
              </a:ext>
            </a:extLst>
          </p:cNvPr>
          <p:cNvSpPr>
            <a:spLocks noGrp="1"/>
          </p:cNvSpPr>
          <p:nvPr/>
        </p:nvSpPr>
        <p:spPr>
          <a:xfrm>
            <a:off x="6248400" y="1695450"/>
            <a:ext cx="5257800" cy="325755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1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i="0"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(prices):</a:t>
            </a:r>
            <a:endParaRPr/>
          </a:p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b="0" i="0"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"Calculating total"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  <a:endParaRPr/>
          </a:p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1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(prices) </a:t>
            </a:r>
            <a:r>
              <a:rPr b="0" i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+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delivery</a:t>
            </a:r>
            <a:endParaRPr/>
          </a:p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endParaRPr b="0" i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1" i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b="1" i="0"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([</a:t>
            </a:r>
            <a:r>
              <a:rPr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120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80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b="0" i="0"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50</a:t>
            </a:r>
            <a:r>
              <a:rPr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]))</a:t>
            </a:r>
            <a:endParaRPr/>
          </a:p>
        </p:txBody>
      </p:sp>
      <p:sp>
        <p:nvSpPr>
          <p:cNvPr id="104" name="explanation">
            <a:extLst>
              <a:ext uri="{FF2B5EF4-FFF2-40B4-BE49-F238E27FC236}">
                <a16:creationId xmlns:a16="http://schemas.microsoft.com/office/drawing/2014/main" id="{5D439193-BB4A-4BB0-A2C9-6DBBD290ADB8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F401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удалены два импорта.</a:t>
            </a:r>
            <a:br/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F541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убран лишний префикс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перед строкой.</a:t>
            </a:r>
            <a:endParaRPr/>
          </a:p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F821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остаётся: значение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delivery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должен определить разработчик.</a:t>
            </a:r>
            <a:endParaRPr/>
          </a:p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endParaRPr b="0" i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После просмотра </a:t>
            </a:r>
            <a:r>
              <a:rPr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git diff</a:t>
            </a:r>
            <a:r>
              <a:rPr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исправляем оставшуюся ошибку, повторяем проверку и запускаем тесты.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5C4C3-DAC8-417D-84A6-FAE2F9D8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Форматтер: единое оформление</a:t>
            </a:r>
          </a:p>
        </p:txBody>
      </p:sp>
      <p:sp>
        <p:nvSpPr>
          <p:cNvPr id="100" name="label До">
            <a:extLst>
              <a:ext uri="{FF2B5EF4-FFF2-40B4-BE49-F238E27FC236}">
                <a16:creationId xmlns:a16="http://schemas.microsoft.com/office/drawing/2014/main" id="{9AE79624-0008-40CD-860A-89724E8054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5257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report.py</a:t>
            </a:r>
            <a:r>
              <a:rPr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до форматирования</a:t>
            </a:r>
            <a:endParaRPr/>
          </a:p>
        </p:txBody>
      </p:sp>
      <p:sp>
        <p:nvSpPr>
          <p:cNvPr id="101" name="snippet python before">
            <a:extLst>
              <a:ext uri="{FF2B5EF4-FFF2-40B4-BE49-F238E27FC236}">
                <a16:creationId xmlns:a16="http://schemas.microsoft.com/office/drawing/2014/main" id="{4C343879-2FBA-4635-A506-AEF19E0DCFE5}"/>
              </a:ext>
            </a:extLst>
          </p:cNvPr>
          <p:cNvSpPr>
            <a:spLocks noGrp="1"/>
          </p:cNvSpPr>
          <p:nvPr/>
        </p:nvSpPr>
        <p:spPr>
          <a:xfrm>
            <a:off x="159706" y="1664724"/>
            <a:ext cx="5783893" cy="2198124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report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 name,scores ):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clean</a:t>
            </a:r>
            <a:r>
              <a:rPr b="0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round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(x,</a:t>
            </a:r>
            <a:r>
              <a:rPr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x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scores]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result</a:t>
            </a:r>
            <a:r>
              <a:rPr b="0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{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'name'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:name.strip(),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'scores'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:clean,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'active'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}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result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2" name="label После ruff format">
            <a:extLst>
              <a:ext uri="{FF2B5EF4-FFF2-40B4-BE49-F238E27FC236}">
                <a16:creationId xmlns:a16="http://schemas.microsoft.com/office/drawing/2014/main" id="{95621BBE-4F0C-4E90-928D-3891C98220C2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257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После </a:t>
            </a:r>
            <a:r>
              <a:rPr b="0" i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ruff format</a:t>
            </a:r>
            <a:endParaRPr/>
          </a:p>
        </p:txBody>
      </p:sp>
      <p:sp>
        <p:nvSpPr>
          <p:cNvPr id="103" name="snippet python after">
            <a:extLst>
              <a:ext uri="{FF2B5EF4-FFF2-40B4-BE49-F238E27FC236}">
                <a16:creationId xmlns:a16="http://schemas.microsoft.com/office/drawing/2014/main" id="{3AB9B379-F046-478F-BF2F-1B6657548819}"/>
              </a:ext>
            </a:extLst>
          </p:cNvPr>
          <p:cNvSpPr>
            <a:spLocks noGrp="1"/>
          </p:cNvSpPr>
          <p:nvPr/>
        </p:nvSpPr>
        <p:spPr>
          <a:xfrm>
            <a:off x="6096000" y="1695449"/>
            <a:ext cx="5783892" cy="2400561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report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(name, scores):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clean </a:t>
            </a:r>
            <a:r>
              <a:rPr b="0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[</a:t>
            </a:r>
            <a:r>
              <a:rPr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round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(x, </a:t>
            </a:r>
            <a:r>
              <a:rPr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x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scores]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result </a:t>
            </a:r>
            <a:r>
              <a:rPr b="0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{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"name"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 name.strip(),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"scores"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 clean,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"active"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}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142735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1" i="0" u="none" cap="none" spc="0">
                <a:ln>
                  <a:noFill/>
                </a:ln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result</a:t>
            </a:r>
            <a:endParaRPr b="0" i="0" u="none" kern="1200" cap="none" spc="0" baseline="0">
              <a:ln>
                <a:noFill/>
              </a:ln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4" name="label Терминал">
            <a:extLst>
              <a:ext uri="{FF2B5EF4-FFF2-40B4-BE49-F238E27FC236}">
                <a16:creationId xmlns:a16="http://schemas.microsoft.com/office/drawing/2014/main" id="{96A581ED-74DA-4B59-80CB-0035DD874127}"/>
              </a:ext>
            </a:extLst>
          </p:cNvPr>
          <p:cNvSpPr>
            <a:spLocks noGrp="1"/>
          </p:cNvSpPr>
          <p:nvPr/>
        </p:nvSpPr>
        <p:spPr>
          <a:xfrm>
            <a:off x="685800" y="3988824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66270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  <a:endParaRPr sz="1425"/>
          </a:p>
        </p:txBody>
      </p:sp>
      <p:sp>
        <p:nvSpPr>
          <p:cNvPr id="105" name="snippet terminal">
            <a:extLst>
              <a:ext uri="{FF2B5EF4-FFF2-40B4-BE49-F238E27FC236}">
                <a16:creationId xmlns:a16="http://schemas.microsoft.com/office/drawing/2014/main" id="{8A0310AB-B3B0-4AAB-BB62-8707494743D3}"/>
              </a:ext>
            </a:extLst>
          </p:cNvPr>
          <p:cNvSpPr>
            <a:spLocks noGrp="1"/>
          </p:cNvSpPr>
          <p:nvPr/>
        </p:nvSpPr>
        <p:spPr>
          <a:xfrm>
            <a:off x="685800" y="4268571"/>
            <a:ext cx="10820400" cy="8939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format report.py</a:t>
            </a:r>
          </a:p>
          <a:p>
            <a:pPr marL="0" marR="0" lvl="0" indent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72F77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1 file reformatted</a:t>
            </a:r>
          </a:p>
        </p:txBody>
      </p:sp>
      <p:sp>
        <p:nvSpPr>
          <p:cNvPr id="106" name="explanation">
            <a:extLst>
              <a:ext uri="{FF2B5EF4-FFF2-40B4-BE49-F238E27FC236}">
                <a16:creationId xmlns:a16="http://schemas.microsoft.com/office/drawing/2014/main" id="{BB8A815A-6EC8-4EB2-8169-295B6347B27D}"/>
              </a:ext>
            </a:extLst>
          </p:cNvPr>
          <p:cNvSpPr>
            <a:spLocks noGrp="1"/>
          </p:cNvSpPr>
          <p:nvPr/>
        </p:nvSpPr>
        <p:spPr>
          <a:xfrm>
            <a:off x="685800" y="5311036"/>
            <a:ext cx="10820400" cy="1314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0"/>
              </a:spcBef>
              <a:spcAft>
                <a:spcPts val="0"/>
              </a:spcAft>
              <a:buFont typeface="Calibri"/>
              <a:buChar char="•"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Единые пробелы, кавычки и отступы.</a:t>
            </a:r>
          </a:p>
          <a:p>
            <a:pPr marL="180000" indent="-180000">
              <a:spcBef>
                <a:spcPts val="0"/>
              </a:spcBef>
              <a:spcAft>
                <a:spcPts val="0"/>
              </a:spcAft>
              <a:buFont typeface="Calibri"/>
              <a:buChar char="•"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Элементы словаря размещены на отдельных строках.</a:t>
            </a:r>
            <a:endParaRPr sz="200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 marL="180000" indent="-180000">
              <a:spcBef>
                <a:spcPts val="0"/>
              </a:spcBef>
              <a:spcAft>
                <a:spcPts val="0"/>
              </a:spcAft>
              <a:buFont typeface="Calibri"/>
              <a:buChar char="•"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Логика функции сохраняется.</a:t>
            </a:r>
          </a:p>
          <a:p>
            <a:pPr marL="180000" indent="-180000">
              <a:spcBef>
                <a:spcPts val="0"/>
              </a:spcBef>
              <a:spcAft>
                <a:spcPts val="0"/>
              </a:spcAft>
              <a:buFont typeface="Calibri"/>
              <a:buChar char="•"/>
              <a:defRPr>
                <a:solidFill>
                  <a:srgbClr val="142735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Сортировку импортов включает правило </a:t>
            </a:r>
            <a:r>
              <a:rPr sz="2000" b="0" i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2000" b="0" i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в линтере.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FC74999-D1EB-4373-8C13-F594120D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638175"/>
          </a:xfrm>
        </p:spPr>
        <p:txBody>
          <a:bodyPr>
            <a:normAutofit fontScale="90000"/>
          </a:bodyPr>
          <a:lstStyle/>
          <a:p>
            <a:r>
              <a:t>Настройки Ruff в pyproject.toml</a:t>
            </a:r>
          </a:p>
        </p:txBody>
      </p:sp>
      <p:sp>
        <p:nvSpPr>
          <p:cNvPr id="2" name="label pyproject.toml: общие параметры">
            <a:extLst>
              <a:ext uri="{FF2B5EF4-FFF2-40B4-BE49-F238E27FC236}">
                <a16:creationId xmlns:a16="http://schemas.microsoft.com/office/drawing/2014/main" id="{5C02FE77-3431-4C12-A614-2D66799B2C20}"/>
              </a:ext>
            </a:extLst>
          </p:cNvPr>
          <p:cNvSpPr>
            <a:spLocks noGrp="1"/>
          </p:cNvSpPr>
          <p:nvPr/>
        </p:nvSpPr>
        <p:spPr>
          <a:xfrm>
            <a:off x="685800" y="1188537"/>
            <a:ext cx="5239011" cy="2222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общие параметры и форматтер</a:t>
            </a:r>
            <a:endParaRPr/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D41D2390-57B9-4EEF-BBA1-5639A57D0C2C}"/>
              </a:ext>
            </a:extLst>
          </p:cNvPr>
          <p:cNvSpPr>
            <a:spLocks noGrp="1"/>
          </p:cNvSpPr>
          <p:nvPr/>
        </p:nvSpPr>
        <p:spPr>
          <a:xfrm>
            <a:off x="685800" y="1579062"/>
            <a:ext cx="5410200" cy="403860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[tool.ruff]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target-version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"py312"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line-length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87443"/>
                </a:solidFill>
                <a:latin typeface="Courier New"/>
                <a:ea typeface="Courier New"/>
                <a:cs typeface="Courier New"/>
              </a:rPr>
              <a:t>100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indent-width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87443"/>
                </a:solidFill>
                <a:latin typeface="Courier New"/>
                <a:ea typeface="Courier New"/>
                <a:cs typeface="Courier New"/>
              </a:rPr>
              <a:t>4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preview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false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[tool.ruff.format]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quote-style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"double"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indent-style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"space"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skip-magic-trailing-comma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false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line-ending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"auto"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explanation0">
            <a:extLst>
              <a:ext uri="{FF2B5EF4-FFF2-40B4-BE49-F238E27FC236}">
                <a16:creationId xmlns:a16="http://schemas.microsoft.com/office/drawing/2014/main" id="{6E367930-1219-40BD-A942-478541AE7895}"/>
              </a:ext>
            </a:extLst>
          </p:cNvPr>
          <p:cNvSpPr>
            <a:spLocks noGrp="1"/>
          </p:cNvSpPr>
          <p:nvPr/>
        </p:nvSpPr>
        <p:spPr>
          <a:xfrm>
            <a:off x="6325645" y="1428749"/>
            <a:ext cx="5506138" cy="439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target-version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минимальная версия Python для анализа и автоисправлений.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line-length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целевая длина строки для линтера и форматтера.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indent-width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ширина отступа в пробелах.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preview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включает нестабильные правила, исправления и форматирование.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quote-style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двойные, одинарные кавычки или сохранение исходных.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indent-style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пробелы или табуляция в формате кода.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skip-magic-trailing-comma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при </a:t>
            </a:r>
            <a:r>
              <a:rPr b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игнорирует магическую завершающую запятую.</a:t>
            </a:r>
            <a:endParaRPr/>
          </a:p>
          <a:p>
            <a: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line-ending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auto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lf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cr-lf 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или 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native</a:t>
            </a:r>
            <a:r>
              <a:rPr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9D73283-F2EA-4F1A-8C5F-B62715DA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Ruff: выбор и расширение правил</a:t>
            </a:r>
          </a:p>
        </p:txBody>
      </p:sp>
      <p:sp>
        <p:nvSpPr>
          <p:cNvPr id="100" name="label pyproject.toml">
            <a:extLst>
              <a:ext uri="{FF2B5EF4-FFF2-40B4-BE49-F238E27FC236}">
                <a16:creationId xmlns:a16="http://schemas.microsoft.com/office/drawing/2014/main" id="{D06CCAA7-BA4A-4AD4-85F5-F699C0015BEB}"/>
              </a:ext>
            </a:extLst>
          </p:cNvPr>
          <p:cNvSpPr>
            <a:spLocks noGrp="1"/>
          </p:cNvSpPr>
          <p:nvPr/>
        </p:nvSpPr>
        <p:spPr>
          <a:xfrm>
            <a:off x="685800" y="1130013"/>
            <a:ext cx="5734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набор правил и исключения</a:t>
            </a:r>
            <a:endParaRPr sz="1600"/>
          </a:p>
        </p:txBody>
      </p:sp>
      <p:sp>
        <p:nvSpPr>
          <p:cNvPr id="101" name="snippet toml">
            <a:extLst>
              <a:ext uri="{FF2B5EF4-FFF2-40B4-BE49-F238E27FC236}">
                <a16:creationId xmlns:a16="http://schemas.microsoft.com/office/drawing/2014/main" id="{067AC30F-C16B-4AB8-87A3-80E5D503197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5734050" cy="176212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none" lIns="171450" tIns="114300" rIns="171450" bIns="11430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[tool.ruff.lint]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"E"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"F"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"I"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"B"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        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"UP"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"SIM"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"S"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extend-select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["RUF100"]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ignore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["E501"]</a:t>
            </a:r>
            <a:endParaRPr sz="2000"/>
          </a:p>
        </p:txBody>
      </p:sp>
      <p:sp>
        <p:nvSpPr>
          <p:cNvPr id="91" name="explanation0">
            <a:extLst>
              <a:ext uri="{FF2B5EF4-FFF2-40B4-BE49-F238E27FC236}">
                <a16:creationId xmlns:a16="http://schemas.microsoft.com/office/drawing/2014/main" id="{26C214C5-6C65-4ED7-82D0-F6F901518CD0}"/>
              </a:ext>
            </a:extLst>
          </p:cNvPr>
          <p:cNvSpPr>
            <a:spLocks noGrp="1"/>
          </p:cNvSpPr>
          <p:nvPr/>
        </p:nvSpPr>
        <p:spPr>
          <a:xfrm>
            <a:off x="6543675" y="1285875"/>
            <a:ext cx="5553075" cy="2838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задаёт базовый набор правил проекта.</a:t>
            </a:r>
            <a:endParaRPr/>
          </a:p>
          <a:p>
            <a:pPr marL="228600" indent="-1905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extend-select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добавляет правила к базовому набору.</a:t>
            </a:r>
            <a:endParaRPr/>
          </a:p>
          <a:p>
            <a:pPr marL="228600" indent="-1905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RUF100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находит лишние подавления noqa.</a:t>
            </a:r>
            <a:endParaRPr/>
          </a:p>
          <a:p>
            <a:pPr marL="228600" indent="-1905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ignore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выключает выбранные правила во всём проекте.</a:t>
            </a:r>
            <a:endParaRPr/>
          </a:p>
          <a:p>
            <a:pPr marL="228600" indent="-1905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ALL</a:t>
            </a:r>
            <a:r>
              <a:rPr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включает все доступные правила. После обновления Ruff набор может расшириться.</a:t>
            </a:r>
            <a:endParaRPr/>
          </a:p>
        </p:txBody>
      </p:sp>
      <p:sp>
        <p:nvSpPr>
          <p:cNvPr id="103" name="label ALL">
            <a:extLst>
              <a:ext uri="{FF2B5EF4-FFF2-40B4-BE49-F238E27FC236}">
                <a16:creationId xmlns:a16="http://schemas.microsoft.com/office/drawing/2014/main" id="{35B50EE5-6157-466A-AA92-45FDB584D280}"/>
              </a:ext>
            </a:extLst>
          </p:cNvPr>
          <p:cNvSpPr>
            <a:spLocks noGrp="1"/>
          </p:cNvSpPr>
          <p:nvPr/>
        </p:nvSpPr>
        <p:spPr>
          <a:xfrm>
            <a:off x="685800" y="3381662"/>
            <a:ext cx="5734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ALL</a:t>
            </a:r>
            <a:r>
              <a:rPr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отдельный вариант конфигурации</a:t>
            </a:r>
            <a:endParaRPr sz="1600"/>
          </a:p>
        </p:txBody>
      </p:sp>
      <p:sp>
        <p:nvSpPr>
          <p:cNvPr id="104" name="snippet toml ALL">
            <a:extLst>
              <a:ext uri="{FF2B5EF4-FFF2-40B4-BE49-F238E27FC236}">
                <a16:creationId xmlns:a16="http://schemas.microsoft.com/office/drawing/2014/main" id="{4B79EB4E-2B8C-41FB-AD19-476BA3EBFBA0}"/>
              </a:ext>
            </a:extLst>
          </p:cNvPr>
          <p:cNvSpPr>
            <a:spLocks noGrp="1"/>
          </p:cNvSpPr>
          <p:nvPr/>
        </p:nvSpPr>
        <p:spPr>
          <a:xfrm>
            <a:off x="685800" y="3734087"/>
            <a:ext cx="5734050" cy="12382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tool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ruff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lint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"ALL"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ignore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"D"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"ANN"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"E501"</a:t>
            </a:r>
            <a:r>
              <a:rPr sz="2000" b="0"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/>
          </a:p>
        </p:txBody>
      </p:sp>
      <p:sp>
        <p:nvSpPr>
          <p:cNvPr id="106" name="label CLI">
            <a:extLst>
              <a:ext uri="{FF2B5EF4-FFF2-40B4-BE49-F238E27FC236}">
                <a16:creationId xmlns:a16="http://schemas.microsoft.com/office/drawing/2014/main" id="{B857C770-8809-445A-A1B5-74BD44982A44}"/>
              </a:ext>
            </a:extLst>
          </p:cNvPr>
          <p:cNvSpPr>
            <a:spLocks noGrp="1"/>
          </p:cNvSpPr>
          <p:nvPr/>
        </p:nvSpPr>
        <p:spPr>
          <a:xfrm>
            <a:off x="6800850" y="451485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пример проекта без нарушений</a:t>
            </a:r>
            <a:endParaRPr sz="1600"/>
          </a:p>
        </p:txBody>
      </p:sp>
      <p:sp>
        <p:nvSpPr>
          <p:cNvPr id="107" name="snippet terminal">
            <a:extLst>
              <a:ext uri="{FF2B5EF4-FFF2-40B4-BE49-F238E27FC236}">
                <a16:creationId xmlns:a16="http://schemas.microsoft.com/office/drawing/2014/main" id="{0A9C5B77-2EB1-4D97-9513-8AA3FD24EDFF}"/>
              </a:ext>
            </a:extLst>
          </p:cNvPr>
          <p:cNvSpPr>
            <a:spLocks noGrp="1"/>
          </p:cNvSpPr>
          <p:nvPr/>
        </p:nvSpPr>
        <p:spPr>
          <a:xfrm>
            <a:off x="6800850" y="4867275"/>
            <a:ext cx="5148980" cy="12382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. --select E,F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All checks passed!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. --extend-select B,UP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All checks passed!</a:t>
            </a:r>
            <a:endParaRPr/>
          </a:p>
        </p:txBody>
      </p:sp>
      <p:sp>
        <p:nvSpPr>
          <p:cNvPr id="108" name="takeaway">
            <a:extLst>
              <a:ext uri="{FF2B5EF4-FFF2-40B4-BE49-F238E27FC236}">
                <a16:creationId xmlns:a16="http://schemas.microsoft.com/office/drawing/2014/main" id="{3949B1B8-0A7B-4D21-91DF-90D01CCF542A}"/>
              </a:ext>
            </a:extLst>
          </p:cNvPr>
          <p:cNvSpPr>
            <a:spLocks noGrp="1"/>
          </p:cNvSpPr>
          <p:nvPr/>
        </p:nvSpPr>
        <p:spPr>
          <a:xfrm>
            <a:off x="6800850" y="6200775"/>
            <a:ext cx="5281436" cy="513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--select</a:t>
            </a:r>
            <a:r>
              <a:rPr sz="16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заменяет базовый набор,</a:t>
            </a:r>
            <a:endParaRPr sz="16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--extend-select</a:t>
            </a:r>
            <a:r>
              <a:rPr sz="16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добавляет правила.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47B3121-A92C-4A65-93AC-F049A228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2368"/>
            <a:ext cx="10820400" cy="546102"/>
          </a:xfrm>
        </p:spPr>
        <p:txBody>
          <a:bodyPr>
            <a:normAutofit fontScale="90000"/>
          </a:bodyPr>
          <a:lstStyle/>
          <a:p>
            <a:r>
              <a:t>Ruff: какие файлы попадут в проверку</a:t>
            </a:r>
          </a:p>
        </p:txBody>
      </p:sp>
      <p:sp>
        <p:nvSpPr>
          <p:cNvPr id="2" name="label `pyproject.toml`: дополнение `[tool.ruff]`">
            <a:extLst>
              <a:ext uri="{FF2B5EF4-FFF2-40B4-BE49-F238E27FC236}">
                <a16:creationId xmlns:a16="http://schemas.microsoft.com/office/drawing/2014/main" id="{DFAB38E7-7F92-4E91-91DD-FCE8A90967C5}"/>
              </a:ext>
            </a:extLst>
          </p:cNvPr>
          <p:cNvSpPr>
            <a:spLocks noGrp="1"/>
          </p:cNvSpPr>
          <p:nvPr/>
        </p:nvSpPr>
        <p:spPr>
          <a:xfrm>
            <a:off x="685800" y="984253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pyproject.toml</a:t>
            </a:r>
            <a:r>
              <a:rPr sz="16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файлы и локальные исключения</a:t>
            </a:r>
            <a:endParaRPr sz="1600"/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5F242946-F782-4F59-A916-C9EBB417D46C}"/>
              </a:ext>
            </a:extLst>
          </p:cNvPr>
          <p:cNvSpPr>
            <a:spLocks noGrp="1"/>
          </p:cNvSpPr>
          <p:nvPr/>
        </p:nvSpPr>
        <p:spPr>
          <a:xfrm>
            <a:off x="685800" y="1289052"/>
            <a:ext cx="5410200" cy="197666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[tool.ruff]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extend-exclude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["generated"]</a:t>
            </a:r>
            <a:br/>
            <a:r>
              <a:rPr sz="2000" b="0" i="0" u="none" cap="none" spc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exclude = [".venv", "venv"]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force-exclude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respect-gitignore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nippet terminal">
            <a:extLst>
              <a:ext uri="{FF2B5EF4-FFF2-40B4-BE49-F238E27FC236}">
                <a16:creationId xmlns:a16="http://schemas.microsoft.com/office/drawing/2014/main" id="{78DE8473-FBC0-4801-A370-1204FABC5CAF}"/>
              </a:ext>
            </a:extLst>
          </p:cNvPr>
          <p:cNvSpPr>
            <a:spLocks noGrp="1"/>
          </p:cNvSpPr>
          <p:nvPr/>
        </p:nvSpPr>
        <p:spPr>
          <a:xfrm>
            <a:off x="591127" y="4483096"/>
            <a:ext cx="5410200" cy="1498603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. --show-files</a:t>
            </a:r>
            <a:br/>
            <a:r>
              <a:rPr sz="2000" b="0" i="0" u="none" cap="none" spc="0">
                <a:ln>
                  <a:noFill/>
                </a:ln>
                <a:solidFill>
                  <a:srgbClr val="00EF00"/>
                </a:solidFill>
                <a:latin typeface="Lucida Console"/>
                <a:ea typeface="Lucida Console"/>
                <a:cs typeface="Lucida Console"/>
              </a:rPr>
              <a:t>demo/main.py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EF00"/>
                </a:solidFill>
                <a:latin typeface="Lucida Console"/>
                <a:ea typeface="Lucida Console"/>
                <a:cs typeface="Lucida Console"/>
              </a:rPr>
              <a:t>demo/pricing.py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EF00"/>
                </a:solidFill>
                <a:latin typeface="Lucida Console"/>
                <a:ea typeface="Lucida Console"/>
                <a:cs typeface="Lucida Console"/>
              </a:rPr>
              <a:t>demo/tests/test_pricing.py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72F777"/>
              </a:solidFill>
              <a:latin typeface="Lucida Console"/>
              <a:ea typeface="Lucida Console"/>
              <a:cs typeface="Lucida Console"/>
            </a:endParaRPr>
          </a:p>
        </p:txBody>
      </p:sp>
      <p:sp>
        <p:nvSpPr>
          <p:cNvPr id="91" name="explanation0">
            <a:extLst>
              <a:ext uri="{FF2B5EF4-FFF2-40B4-BE49-F238E27FC236}">
                <a16:creationId xmlns:a16="http://schemas.microsoft.com/office/drawing/2014/main" id="{123D4510-77F0-46EC-8FFD-0ED27C6FF9F2}"/>
              </a:ext>
            </a:extLst>
          </p:cNvPr>
          <p:cNvSpPr>
            <a:spLocks noGrp="1"/>
          </p:cNvSpPr>
          <p:nvPr/>
        </p:nvSpPr>
        <p:spPr>
          <a:xfrm>
            <a:off x="6310745" y="984255"/>
            <a:ext cx="5410200" cy="22814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marR="0" lvl="0" indent="-19050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Char char="•"/>
            </a:pPr>
            <a:r>
              <a:rPr sz="1800"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extend-exclude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дополняет стандартные исключения.</a:t>
            </a:r>
          </a:p>
          <a:p>
            <a:pPr marL="228600" marR="0" lvl="0" indent="-19050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Char char="•"/>
            </a:pPr>
            <a:r>
              <a:rPr sz="1800"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exclude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заменяет их список.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228600" marR="0" lvl="0" indent="-19050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Char char="•"/>
            </a:pPr>
            <a:r>
              <a:rPr sz="1800"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force-exclude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соблюдает исключения даже при явной передаче файла в CLI.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228600" marR="0" lvl="0" indent="-19050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Char char="•"/>
            </a:pPr>
            <a:r>
              <a:rPr sz="1800"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respect-gitignore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учитывает правила 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.gitignore</a:t>
            </a:r>
            <a:r>
              <a:rPr sz="18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при поиске файлов.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05C72E6E-25CE-4565-BDBF-0C81AE3A8877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650">
              <a:solidFill>
                <a:srgbClr val="3E56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A5FED-6FCC-2685-89C4-38D502A631AC}"/>
              </a:ext>
            </a:extLst>
          </p:cNvPr>
          <p:cNvSpPr>
            <a:spLocks noGrp="1"/>
          </p:cNvSpPr>
          <p:nvPr/>
        </p:nvSpPr>
        <p:spPr>
          <a:xfrm>
            <a:off x="591127" y="3916319"/>
            <a:ext cx="9066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--show-files</a:t>
            </a:r>
            <a:r>
              <a:rPr sz="2000" b="0" i="0" u="none" cap="none" spc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показывает, какие файлы Ruff выбрал для анализа.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explanation0">
            <a:extLst>
              <a:ext uri="{FF2B5EF4-FFF2-40B4-BE49-F238E27FC236}">
                <a16:creationId xmlns:a16="http://schemas.microsoft.com/office/drawing/2014/main" id="{DD94B475-7E4D-4458-6B1B-7D4184ED4078}"/>
              </a:ext>
            </a:extLst>
          </p:cNvPr>
          <p:cNvSpPr>
            <a:spLocks noGrp="1"/>
          </p:cNvSpPr>
          <p:nvPr/>
        </p:nvSpPr>
        <p:spPr>
          <a:xfrm>
            <a:off x="6190675" y="4598398"/>
            <a:ext cx="5574082" cy="13833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500"/>
              </a:spcBef>
              <a:buNone/>
            </a:pPr>
            <a:r>
              <a:rPr sz="20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Выводит список файлов, выбранных с учётом конфигурации.</a:t>
            </a:r>
            <a:br/>
            <a:r>
              <a:rPr sz="20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Полезно, когда нужный файл не проверяется или в анализ попал лишний каталог.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EAFCF-7EE6-4D67-854F-7D5A5FE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4585"/>
            <a:ext cx="10820400" cy="704850"/>
          </a:xfrm>
        </p:spPr>
        <p:txBody>
          <a:bodyPr/>
          <a:lstStyle/>
          <a:p>
            <a:r>
              <a:t>Ruff: группы и коды правил</a:t>
            </a:r>
          </a:p>
        </p:txBody>
      </p:sp>
      <p:sp>
        <p:nvSpPr>
          <p:cNvPr id="30" name="Группа F">
            <a:extLst>
              <a:ext uri="{FF2B5EF4-FFF2-40B4-BE49-F238E27FC236}">
                <a16:creationId xmlns:a16="http://schemas.microsoft.com/office/drawing/2014/main" id="{EB05C5A3-2AEC-43DC-8EC4-B411FA4C3840}"/>
              </a:ext>
            </a:extLst>
          </p:cNvPr>
          <p:cNvSpPr>
            <a:spLocks noGrp="1"/>
          </p:cNvSpPr>
          <p:nvPr/>
        </p:nvSpPr>
        <p:spPr>
          <a:xfrm>
            <a:off x="685800" y="1133201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F</a:t>
            </a:r>
            <a:endParaRPr sz="2000"/>
          </a:p>
        </p:txBody>
      </p:sp>
      <p:sp>
        <p:nvSpPr>
          <p:cNvPr id="31" name="Описание F">
            <a:extLst>
              <a:ext uri="{FF2B5EF4-FFF2-40B4-BE49-F238E27FC236}">
                <a16:creationId xmlns:a16="http://schemas.microsoft.com/office/drawing/2014/main" id="{31A067D1-B52C-431A-962E-68D4C045D4E3}"/>
              </a:ext>
            </a:extLst>
          </p:cNvPr>
          <p:cNvSpPr>
            <a:spLocks noGrp="1"/>
          </p:cNvSpPr>
          <p:nvPr/>
        </p:nvSpPr>
        <p:spPr>
          <a:xfrm>
            <a:off x="2857500" y="1133201"/>
            <a:ext cx="8648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Ошибки кода (Pyflakes):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F401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неиспользуемый импорт,</a:t>
            </a:r>
            <a:endParaRPr sz="20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F821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неопределённое имя.</a:t>
            </a:r>
            <a:endParaRPr sz="2000"/>
          </a:p>
        </p:txBody>
      </p:sp>
      <p:sp>
        <p:nvSpPr>
          <p:cNvPr id="32" name="Группа E / W">
            <a:extLst>
              <a:ext uri="{FF2B5EF4-FFF2-40B4-BE49-F238E27FC236}">
                <a16:creationId xmlns:a16="http://schemas.microsoft.com/office/drawing/2014/main" id="{BB8A2145-9446-4509-B33E-E087DA4A394C}"/>
              </a:ext>
            </a:extLst>
          </p:cNvPr>
          <p:cNvSpPr>
            <a:spLocks noGrp="1"/>
          </p:cNvSpPr>
          <p:nvPr/>
        </p:nvSpPr>
        <p:spPr>
          <a:xfrm>
            <a:off x="685800" y="1853835"/>
            <a:ext cx="2000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E / W</a:t>
            </a:r>
            <a:endParaRPr sz="2000"/>
          </a:p>
        </p:txBody>
      </p:sp>
      <p:sp>
        <p:nvSpPr>
          <p:cNvPr id="33" name="Описание E / W">
            <a:extLst>
              <a:ext uri="{FF2B5EF4-FFF2-40B4-BE49-F238E27FC236}">
                <a16:creationId xmlns:a16="http://schemas.microsoft.com/office/drawing/2014/main" id="{3ED777EC-08A0-4C46-86EC-CAF0756F3687}"/>
              </a:ext>
            </a:extLst>
          </p:cNvPr>
          <p:cNvSpPr>
            <a:spLocks noGrp="1"/>
          </p:cNvSpPr>
          <p:nvPr/>
        </p:nvSpPr>
        <p:spPr>
          <a:xfrm>
            <a:off x="2857500" y="1853835"/>
            <a:ext cx="86487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Правила pycodestyle: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E4 / E7 / E9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импорты и базовые ошибки.</a:t>
            </a:r>
            <a:endParaRPr sz="20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E501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длинная строка,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W291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пробел в конце строки.</a:t>
            </a:r>
            <a:endParaRPr sz="2000"/>
          </a:p>
        </p:txBody>
      </p:sp>
      <p:sp>
        <p:nvSpPr>
          <p:cNvPr id="34" name="Группа I / UP">
            <a:extLst>
              <a:ext uri="{FF2B5EF4-FFF2-40B4-BE49-F238E27FC236}">
                <a16:creationId xmlns:a16="http://schemas.microsoft.com/office/drawing/2014/main" id="{201D165F-2891-4E7C-82B0-B78F47929A08}"/>
              </a:ext>
            </a:extLst>
          </p:cNvPr>
          <p:cNvSpPr>
            <a:spLocks noGrp="1"/>
          </p:cNvSpPr>
          <p:nvPr/>
        </p:nvSpPr>
        <p:spPr>
          <a:xfrm>
            <a:off x="685800" y="2603861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I / UP</a:t>
            </a:r>
            <a:endParaRPr sz="2000"/>
          </a:p>
        </p:txBody>
      </p:sp>
      <p:sp>
        <p:nvSpPr>
          <p:cNvPr id="35" name="Описание I / UP">
            <a:extLst>
              <a:ext uri="{FF2B5EF4-FFF2-40B4-BE49-F238E27FC236}">
                <a16:creationId xmlns:a16="http://schemas.microsoft.com/office/drawing/2014/main" id="{14D679C3-ACBE-4761-9958-7A55163A34DC}"/>
              </a:ext>
            </a:extLst>
          </p:cNvPr>
          <p:cNvSpPr>
            <a:spLocks noGrp="1"/>
          </p:cNvSpPr>
          <p:nvPr/>
        </p:nvSpPr>
        <p:spPr>
          <a:xfrm>
            <a:off x="2857500" y="2603861"/>
            <a:ext cx="8648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порядок импортов.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UP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современный синтаксис Python.</a:t>
            </a:r>
            <a:endParaRPr sz="2000"/>
          </a:p>
        </p:txBody>
      </p:sp>
      <p:sp>
        <p:nvSpPr>
          <p:cNvPr id="36" name="Группа B / SIM">
            <a:extLst>
              <a:ext uri="{FF2B5EF4-FFF2-40B4-BE49-F238E27FC236}">
                <a16:creationId xmlns:a16="http://schemas.microsoft.com/office/drawing/2014/main" id="{2F78F5BF-D633-4E1F-AB59-355ABB416828}"/>
              </a:ext>
            </a:extLst>
          </p:cNvPr>
          <p:cNvSpPr>
            <a:spLocks noGrp="1"/>
          </p:cNvSpPr>
          <p:nvPr/>
        </p:nvSpPr>
        <p:spPr>
          <a:xfrm>
            <a:off x="685800" y="3152230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B / SIM</a:t>
            </a:r>
            <a:endParaRPr sz="2000"/>
          </a:p>
        </p:txBody>
      </p:sp>
      <p:sp>
        <p:nvSpPr>
          <p:cNvPr id="37" name="Описание B / SIM">
            <a:extLst>
              <a:ext uri="{FF2B5EF4-FFF2-40B4-BE49-F238E27FC236}">
                <a16:creationId xmlns:a16="http://schemas.microsoft.com/office/drawing/2014/main" id="{5917CC6F-7783-4674-8B48-726B6E7D55C8}"/>
              </a:ext>
            </a:extLst>
          </p:cNvPr>
          <p:cNvSpPr>
            <a:spLocks noGrp="1"/>
          </p:cNvSpPr>
          <p:nvPr/>
        </p:nvSpPr>
        <p:spPr>
          <a:xfrm>
            <a:off x="2857500" y="3152230"/>
            <a:ext cx="8648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B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типичные ошибки.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SIM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упрощение конструкций.</a:t>
            </a:r>
            <a:endParaRPr sz="2000"/>
          </a:p>
        </p:txBody>
      </p:sp>
      <p:sp>
        <p:nvSpPr>
          <p:cNvPr id="38" name="Группа S / D / ANN">
            <a:extLst>
              <a:ext uri="{FF2B5EF4-FFF2-40B4-BE49-F238E27FC236}">
                <a16:creationId xmlns:a16="http://schemas.microsoft.com/office/drawing/2014/main" id="{41D75F21-868B-409A-9F0A-8525445F1BF7}"/>
              </a:ext>
            </a:extLst>
          </p:cNvPr>
          <p:cNvSpPr>
            <a:spLocks noGrp="1"/>
          </p:cNvSpPr>
          <p:nvPr/>
        </p:nvSpPr>
        <p:spPr>
          <a:xfrm>
            <a:off x="685800" y="3718014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S / D / ANN</a:t>
            </a:r>
            <a:endParaRPr sz="2000"/>
          </a:p>
        </p:txBody>
      </p:sp>
      <p:sp>
        <p:nvSpPr>
          <p:cNvPr id="39" name="Описание S / D / ANN">
            <a:extLst>
              <a:ext uri="{FF2B5EF4-FFF2-40B4-BE49-F238E27FC236}">
                <a16:creationId xmlns:a16="http://schemas.microsoft.com/office/drawing/2014/main" id="{E6EDEFE2-5B85-404B-8619-4ECAB97DE15A}"/>
              </a:ext>
            </a:extLst>
          </p:cNvPr>
          <p:cNvSpPr>
            <a:spLocks noGrp="1"/>
          </p:cNvSpPr>
          <p:nvPr/>
        </p:nvSpPr>
        <p:spPr>
          <a:xfrm>
            <a:off x="2857500" y="3718014"/>
            <a:ext cx="8648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S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безопасность.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D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документация (docstrings).</a:t>
            </a:r>
            <a:endParaRPr sz="20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ANN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наличие аннотаций типов.</a:t>
            </a:r>
            <a:endParaRPr sz="2000"/>
          </a:p>
        </p:txBody>
      </p:sp>
      <p:sp>
        <p:nvSpPr>
          <p:cNvPr id="40" name="Группа RUF">
            <a:extLst>
              <a:ext uri="{FF2B5EF4-FFF2-40B4-BE49-F238E27FC236}">
                <a16:creationId xmlns:a16="http://schemas.microsoft.com/office/drawing/2014/main" id="{4FD0621E-59E3-45B6-B65C-41E821E0948B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253E53"/>
                </a:solidFill>
                <a:latin typeface="Courier New"/>
                <a:ea typeface="Courier New"/>
                <a:cs typeface="Courier New"/>
              </a:rPr>
              <a:t>RUF</a:t>
            </a:r>
            <a:endParaRPr sz="2000"/>
          </a:p>
        </p:txBody>
      </p:sp>
      <p:sp>
        <p:nvSpPr>
          <p:cNvPr id="41" name="Описание RUF">
            <a:extLst>
              <a:ext uri="{FF2B5EF4-FFF2-40B4-BE49-F238E27FC236}">
                <a16:creationId xmlns:a16="http://schemas.microsoft.com/office/drawing/2014/main" id="{820D6D84-E581-499F-BA08-6C050D2833F2}"/>
              </a:ext>
            </a:extLst>
          </p:cNvPr>
          <p:cNvSpPr>
            <a:spLocks noGrp="1"/>
          </p:cNvSpPr>
          <p:nvPr/>
        </p:nvSpPr>
        <p:spPr>
          <a:xfrm>
            <a:off x="2857500" y="4438650"/>
            <a:ext cx="8648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Собственные правила Ruff.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RUF100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 — лишние комментарии</a:t>
            </a:r>
            <a:endParaRPr sz="20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подавления </a:t>
            </a:r>
            <a:r>
              <a:rPr sz="2000" b="1">
                <a:solidFill>
                  <a:srgbClr val="243342"/>
                </a:solidFill>
                <a:latin typeface="Courier New"/>
                <a:ea typeface="Courier New"/>
                <a:cs typeface="Courier New"/>
              </a:rPr>
              <a:t>noqa</a:t>
            </a:r>
            <a:r>
              <a:rPr sz="2000" b="0">
                <a:solidFill>
                  <a:srgbClr val="243342"/>
                </a:solidFill>
                <a:latin typeface="Calibri"/>
                <a:ea typeface="Calibri"/>
                <a:cs typeface="Calibri"/>
              </a:rPr>
              <a:t>.</a:t>
            </a:r>
            <a:endParaRPr sz="2000"/>
          </a:p>
        </p:txBody>
      </p:sp>
      <p:sp>
        <p:nvSpPr>
          <p:cNvPr id="42" name="Терминал: группа и отдельное правило">
            <a:extLst>
              <a:ext uri="{FF2B5EF4-FFF2-40B4-BE49-F238E27FC236}">
                <a16:creationId xmlns:a16="http://schemas.microsoft.com/office/drawing/2014/main" id="{84C5CFF8-F908-4C3D-883D-5B22D8437CC7}"/>
              </a:ext>
            </a:extLst>
          </p:cNvPr>
          <p:cNvSpPr>
            <a:spLocks noGrp="1"/>
          </p:cNvSpPr>
          <p:nvPr/>
        </p:nvSpPr>
        <p:spPr>
          <a:xfrm>
            <a:off x="685800" y="5855429"/>
            <a:ext cx="10820400" cy="7429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76200" rIns="171450" bIns="762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5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main.py --select F      # вся группа</a:t>
            </a:r>
            <a:endParaRPr sz="1850" b="0" i="0" u="none" kern="1200" cap="none" spc="0" baseline="0">
              <a:ln>
                <a:noFill/>
              </a:ln>
              <a:solidFill>
                <a:prstClr val="black"/>
              </a:solidFill>
              <a:latin typeface="Lucida Console"/>
              <a:ea typeface="Lucida Console"/>
              <a:cs typeface="Lucida Console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5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main.py --select F401   # одно правило</a:t>
            </a:r>
            <a:endParaRPr sz="1850" b="0" i="0" u="none" kern="1200" cap="none" spc="0" baseline="0">
              <a:ln>
                <a:noFill/>
              </a:ln>
              <a:solidFill>
                <a:prstClr val="black"/>
              </a:solidFill>
              <a:latin typeface="Lucida Console"/>
              <a:ea typeface="Lucida Console"/>
              <a:cs typeface="Lucida Console"/>
            </a:endParaRPr>
          </a:p>
        </p:txBody>
      </p:sp>
      <p:sp>
        <p:nvSpPr>
          <p:cNvPr id="43" name="Выбор правил">
            <a:extLst>
              <a:ext uri="{FF2B5EF4-FFF2-40B4-BE49-F238E27FC236}">
                <a16:creationId xmlns:a16="http://schemas.microsoft.com/office/drawing/2014/main" id="{01C362EE-2B30-4304-BB3A-E624660A7DB5}"/>
              </a:ext>
            </a:extLst>
          </p:cNvPr>
          <p:cNvSpPr>
            <a:spLocks noGrp="1"/>
          </p:cNvSpPr>
          <p:nvPr/>
        </p:nvSpPr>
        <p:spPr>
          <a:xfrm>
            <a:off x="685800" y="5159286"/>
            <a:ext cx="10820400" cy="4604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650" b="1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ALL</a:t>
            </a:r>
            <a:r>
              <a:rPr sz="165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включает и новые правила при обновлении Ruff. Набор лучше расширять поэтапно.</a:t>
            </a:r>
            <a:endParaRPr sz="1650"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F286F-CDF4-48FE-A3B3-584B0FB8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Исключения: точное правило и место</a:t>
            </a:r>
          </a:p>
        </p:txBody>
      </p:sp>
      <p:sp>
        <p:nvSpPr>
          <p:cNvPr id="3" name="label pyproject.toml">
            <a:extLst>
              <a:ext uri="{FF2B5EF4-FFF2-40B4-BE49-F238E27FC236}">
                <a16:creationId xmlns:a16="http://schemas.microsoft.com/office/drawing/2014/main" id="{61278E1C-5606-4EF0-A407-9391A1EBE40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5410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pyproject.toml</a:t>
            </a:r>
            <a:endParaRPr sz="1800" b="0" i="0" u="none" kern="1200" cap="none" spc="0" baseline="0">
              <a:ln>
                <a:noFill/>
              </a:ln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toml">
            <a:extLst>
              <a:ext uri="{FF2B5EF4-FFF2-40B4-BE49-F238E27FC236}">
                <a16:creationId xmlns:a16="http://schemas.microsoft.com/office/drawing/2014/main" id="{459B4636-7906-4332-ADD1-F2436EDF2D04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5410200" cy="1943101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lvl="0">
              <a:buNone/>
            </a:pPr>
            <a:r>
              <a:rPr sz="2000" b="1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[tool.ruff.lint.per-file-ignores]</a:t>
            </a:r>
            <a:endParaRPr sz="2000" b="1">
              <a:solidFill>
                <a:prstClr val="black"/>
              </a:solidFill>
              <a:latin typeface="Courier New"/>
              <a:ea typeface="Courier New"/>
              <a:cs typeface="Courier New"/>
            </a:endParaRPr>
          </a:p>
          <a:p>
            <a:pPr lvl="0">
              <a:buNone/>
            </a:pPr>
            <a:r>
              <a:rPr sz="200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ea typeface="Courier New"/>
                <a:cs typeface="Courier New"/>
              </a:rPr>
              <a:t>"tests/**" = ["S101"]</a:t>
            </a:r>
          </a:p>
          <a:p>
            <a:pPr lvl="0">
              <a:buNone/>
            </a:pPr>
            <a:r>
              <a:rPr sz="200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ea typeface="Courier New"/>
                <a:cs typeface="Courier New"/>
              </a:rPr>
              <a:t>"**/__init__.py" = ["F401"]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label Python: единичное исключение">
            <a:extLst>
              <a:ext uri="{FF2B5EF4-FFF2-40B4-BE49-F238E27FC236}">
                <a16:creationId xmlns:a16="http://schemas.microsoft.com/office/drawing/2014/main" id="{002585C2-42B9-4264-B87D-A472F6314485}"/>
              </a:ext>
            </a:extLst>
          </p:cNvPr>
          <p:cNvSpPr>
            <a:spLocks noGrp="1"/>
          </p:cNvSpPr>
          <p:nvPr/>
        </p:nvSpPr>
        <p:spPr>
          <a:xfrm>
            <a:off x="685800" y="4191001"/>
            <a:ext cx="534053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Python: единичное исключение через </a:t>
            </a:r>
            <a:r>
              <a:rPr b="0">
                <a:solidFill>
                  <a:srgbClr val="566270"/>
                </a:solidFill>
                <a:latin typeface="Lucida Console"/>
                <a:ea typeface="Lucida Console"/>
                <a:cs typeface="Lucida Console"/>
              </a:rPr>
              <a:t>noqa</a:t>
            </a:r>
          </a:p>
        </p:txBody>
      </p:sp>
      <p:sp>
        <p:nvSpPr>
          <p:cNvPr id="6" name="snippet python">
            <a:extLst>
              <a:ext uri="{FF2B5EF4-FFF2-40B4-BE49-F238E27FC236}">
                <a16:creationId xmlns:a16="http://schemas.microsoft.com/office/drawing/2014/main" id="{E5C986F8-EA74-4DBE-9CE6-01930CE9D13A}"/>
              </a:ext>
            </a:extLst>
          </p:cNvPr>
          <p:cNvSpPr>
            <a:spLocks noGrp="1"/>
          </p:cNvSpPr>
          <p:nvPr/>
        </p:nvSpPr>
        <p:spPr>
          <a:xfrm>
            <a:off x="685800" y="4495801"/>
            <a:ext cx="5410200" cy="561975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sz="20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plugin  </a:t>
            </a:r>
            <a:r>
              <a:rPr sz="2000" b="0" i="1">
                <a:solidFill>
                  <a:srgbClr val="006400"/>
                </a:solidFill>
                <a:latin typeface="Courier New"/>
                <a:ea typeface="Courier New"/>
                <a:cs typeface="Courier New"/>
              </a:rPr>
              <a:t># noqa: F401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6012F782-0E80-4D9B-A0E9-F9C00610EBDC}"/>
              </a:ext>
            </a:extLst>
          </p:cNvPr>
          <p:cNvSpPr>
            <a:spLocks noGrp="1"/>
          </p:cNvSpPr>
          <p:nvPr/>
        </p:nvSpPr>
        <p:spPr>
          <a:xfrm>
            <a:off x="6651172" y="1524000"/>
            <a:ext cx="5061856" cy="42563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8100">
              <a:spcAft>
                <a:spcPts val="500"/>
              </a:spcAft>
              <a:buNone/>
            </a:pPr>
            <a:r>
              <a:rPr sz="20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per-file-ignores</a:t>
            </a:r>
            <a:r>
              <a:rPr sz="2000">
                <a:solidFill>
                  <a:srgbClr val="142735"/>
                </a:solidFill>
              </a:rPr>
              <a:t>: отключает выбранные правила для пути.</a:t>
            </a:r>
            <a:endParaRPr sz="2000">
              <a:solidFill>
                <a:prstClr val="black"/>
              </a:solidFill>
            </a:endParaRPr>
          </a:p>
          <a:p>
            <a:pPr marL="38100" lvl="0">
              <a:spcBef>
                <a:spcPts val="1000"/>
              </a:spcBef>
              <a:spcAft>
                <a:spcPts val="500"/>
              </a:spcAft>
              <a:buNone/>
            </a:pPr>
            <a:r>
              <a:rPr sz="200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Глобальное исключение пути отличается от </a:t>
            </a:r>
            <a:r>
              <a:rPr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ea typeface="Courier New"/>
                <a:cs typeface="Courier New"/>
              </a:rPr>
              <a:t>per-file-ignores</a:t>
            </a:r>
            <a:r>
              <a:rPr sz="200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: второе подавляет только выбранные правила.</a:t>
            </a:r>
            <a:endParaRPr sz="2000" b="1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Сначала разбираемся в причине срабатывания.</a:t>
            </a:r>
          </a:p>
          <a:p>
            <a:pPr>
              <a:spcBef>
                <a:spcPts val="100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Для особого файла задаём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per-file-ignores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Для одной строки указываем код после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noqa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2608961-2409-4DC9-BBB3-06B2AA5E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Ruff: настройки форматтера</a:t>
            </a:r>
          </a:p>
        </p:txBody>
      </p:sp>
      <p:sp>
        <p:nvSpPr>
          <p:cNvPr id="2" name="label pyproject.toml">
            <a:extLst>
              <a:ext uri="{FF2B5EF4-FFF2-40B4-BE49-F238E27FC236}">
                <a16:creationId xmlns:a16="http://schemas.microsoft.com/office/drawing/2014/main" id="{88D8160D-E0D5-4C3A-B280-3BB83018B86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pyproject.toml</a:t>
            </a:r>
            <a:endParaRPr sz="1600" b="0" i="0" u="none" kern="1200" cap="none" spc="0" baseline="0">
              <a:ln>
                <a:noFill/>
              </a:ln>
              <a:solidFill>
                <a:srgbClr val="52617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2299DA0F-52C0-4321-B234-78B5D61313A5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286500" cy="279817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08000" tIns="108000" rIns="108000" bIns="10800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[tool.ruff.format]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quote-style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"double"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indent-style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"space"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line-ending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"lf"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A52E0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docstring-code-format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docstring-code-line-length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"dynamic"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skip-magic-trailing-comma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false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explanation0">
            <a:extLst>
              <a:ext uri="{FF2B5EF4-FFF2-40B4-BE49-F238E27FC236}">
                <a16:creationId xmlns:a16="http://schemas.microsoft.com/office/drawing/2014/main" id="{1D0EE3FD-6A2F-4EE0-B244-9292E018535E}"/>
              </a:ext>
            </a:extLst>
          </p:cNvPr>
          <p:cNvSpPr>
            <a:spLocks noGrp="1"/>
          </p:cNvSpPr>
          <p:nvPr/>
        </p:nvSpPr>
        <p:spPr>
          <a:xfrm>
            <a:off x="7175863" y="1390650"/>
            <a:ext cx="4191000" cy="33367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buFont typeface="Calibri"/>
              <a:buChar char="•"/>
            </a:pPr>
            <a:r>
              <a:rPr>
                <a:latin typeface="Lucida Console"/>
                <a:ea typeface="Lucida Console"/>
                <a:cs typeface="Lucida Console"/>
              </a:rPr>
              <a:t>quote-style</a:t>
            </a:r>
            <a:r>
              <a:rPr>
                <a:latin typeface="Calibri"/>
                <a:ea typeface="Calibri"/>
                <a:cs typeface="Calibri"/>
              </a:rPr>
              <a:t>, </a:t>
            </a:r>
            <a:r>
              <a:rPr>
                <a:latin typeface="Lucida Console"/>
                <a:ea typeface="Lucida Console"/>
                <a:cs typeface="Lucida Console"/>
              </a:rPr>
              <a:t>indent-style</a:t>
            </a:r>
            <a:r>
              <a:rPr>
                <a:latin typeface="Calibri"/>
                <a:ea typeface="Calibri"/>
                <a:cs typeface="Calibri"/>
              </a:rPr>
              <a:t> — кавычки и вид отступов.</a:t>
            </a:r>
          </a:p>
          <a:p>
            <a:pPr marL="180000" indent="-180000">
              <a:buFont typeface="Calibri"/>
              <a:buChar char="•"/>
            </a:pPr>
            <a:r>
              <a:rPr>
                <a:latin typeface="Lucida Console"/>
                <a:ea typeface="Lucida Console"/>
                <a:cs typeface="Lucida Console"/>
              </a:rPr>
              <a:t>line-ending</a:t>
            </a:r>
            <a:r>
              <a:rPr>
                <a:latin typeface="Calibri"/>
                <a:ea typeface="Calibri"/>
                <a:cs typeface="Calibri"/>
              </a:rPr>
              <a:t> — унифицирует окончания строк.</a:t>
            </a:r>
          </a:p>
          <a:p>
            <a:pPr marL="180000" indent="-180000">
              <a:buFont typeface="Calibri"/>
              <a:buChar char="•"/>
            </a:pPr>
            <a:r>
              <a:rPr>
                <a:latin typeface="Lucida Console"/>
                <a:ea typeface="Lucida Console"/>
                <a:cs typeface="Lucida Console"/>
              </a:rPr>
              <a:t>docstring-code-format</a:t>
            </a:r>
            <a:r>
              <a:rPr>
                <a:latin typeface="Calibri"/>
                <a:ea typeface="Calibri"/>
                <a:cs typeface="Calibri"/>
              </a:rPr>
              <a:t> — форматирует примеры Python внутри docstring.</a:t>
            </a:r>
          </a:p>
          <a:p>
            <a:pPr marL="180000" indent="-180000">
              <a:buFont typeface="Calibri"/>
              <a:buChar char="•"/>
            </a:pPr>
            <a:r>
              <a:rPr>
                <a:latin typeface="Lucida Console"/>
                <a:ea typeface="Lucida Console"/>
                <a:cs typeface="Lucida Console"/>
              </a:rPr>
              <a:t>dynamic</a:t>
            </a:r>
            <a:r>
              <a:rPr>
                <a:latin typeface="Calibri"/>
                <a:ea typeface="Calibri"/>
                <a:cs typeface="Calibri"/>
              </a:rPr>
              <a:t> учитывает общую длину строки и отступ внутри docstring.</a:t>
            </a:r>
          </a:p>
          <a:p>
            <a:pPr marL="180000" indent="-180000">
              <a:buFont typeface="Calibri"/>
              <a:buChar char="•"/>
            </a:pPr>
            <a:r>
              <a:rPr>
                <a:latin typeface="Calibri"/>
                <a:ea typeface="Calibri"/>
                <a:cs typeface="Calibri"/>
              </a:rPr>
              <a:t>Завершающая запятая помогает сохранять многострочную запись.</a:t>
            </a:r>
          </a:p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" name="explanation2">
            <a:extLst>
              <a:ext uri="{FF2B5EF4-FFF2-40B4-BE49-F238E27FC236}">
                <a16:creationId xmlns:a16="http://schemas.microsoft.com/office/drawing/2014/main" id="{A31E2E48-A69E-44E7-82B3-4266CE58DBCF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xplanation3">
            <a:extLst>
              <a:ext uri="{FF2B5EF4-FFF2-40B4-BE49-F238E27FC236}">
                <a16:creationId xmlns:a16="http://schemas.microsoft.com/office/drawing/2014/main" id="{DFF91C7F-25E3-48D3-9241-1A0CF482A39C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akeaway">
            <a:extLst>
              <a:ext uri="{FF2B5EF4-FFF2-40B4-BE49-F238E27FC236}">
                <a16:creationId xmlns:a16="http://schemas.microsoft.com/office/drawing/2014/main" id="{8F0F6009-F04D-4ABC-AF97-064DEE8CDBEE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90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line-length</a:t>
            </a:r>
            <a:r>
              <a:rPr sz="190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не включает </a:t>
            </a:r>
            <a:r>
              <a:rPr sz="190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E501</a:t>
            </a:r>
            <a:r>
              <a:rPr sz="190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. Форматтер не гарантирует перенос каждой длинной строки.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0C85EC3-7B7C-41C6-A19A-D9C5F994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3337"/>
            <a:ext cx="10820400" cy="563880"/>
          </a:xfrm>
        </p:spPr>
        <p:txBody>
          <a:bodyPr>
            <a:normAutofit fontScale="90000"/>
          </a:bodyPr>
          <a:lstStyle/>
          <a:p>
            <a:r>
              <a:t>Ruff: политика автоисправлений</a:t>
            </a:r>
          </a:p>
        </p:txBody>
      </p:sp>
      <p:sp>
        <p:nvSpPr>
          <p:cNvPr id="2" name="label pyproject.toml: вариант политики команды">
            <a:extLst>
              <a:ext uri="{FF2B5EF4-FFF2-40B4-BE49-F238E27FC236}">
                <a16:creationId xmlns:a16="http://schemas.microsoft.com/office/drawing/2014/main" id="{A9D17AA8-0F22-4601-8A6A-AC6DB682648D}"/>
              </a:ext>
            </a:extLst>
          </p:cNvPr>
          <p:cNvSpPr>
            <a:spLocks noGrp="1"/>
          </p:cNvSpPr>
          <p:nvPr/>
        </p:nvSpPr>
        <p:spPr>
          <a:xfrm>
            <a:off x="685800" y="1153699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0" i="0" u="none" cap="none" spc="0">
                <a:ln>
                  <a:noFill/>
                </a:ln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b="0" i="0" u="none" cap="none" spc="0">
                <a:ln>
                  <a:noFill/>
                </a:ln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: вариант политики команды</a:t>
            </a:r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6DFC5DA7-1E24-4EC7-8334-F427681A8E10}"/>
              </a:ext>
            </a:extLst>
          </p:cNvPr>
          <p:cNvSpPr>
            <a:spLocks noGrp="1"/>
          </p:cNvSpPr>
          <p:nvPr/>
        </p:nvSpPr>
        <p:spPr>
          <a:xfrm>
            <a:off x="685800" y="1478280"/>
            <a:ext cx="6286500" cy="2399128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08000" tIns="108000" rIns="108000" bIns="10800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[tool.ruff]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fix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1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false</a:t>
            </a:r>
            <a:endParaRPr sz="2000" b="1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unsafe-fixes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false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164E8F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[tool.ruff.lint]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fixable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"ALL"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unfixable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"B"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4" name="label Терминал: просмотр и применение">
            <a:extLst>
              <a:ext uri="{FF2B5EF4-FFF2-40B4-BE49-F238E27FC236}">
                <a16:creationId xmlns:a16="http://schemas.microsoft.com/office/drawing/2014/main" id="{D7127EA8-B38E-45F6-8F1F-0FD74E418B6D}"/>
              </a:ext>
            </a:extLst>
          </p:cNvPr>
          <p:cNvSpPr>
            <a:spLocks noGrp="1"/>
          </p:cNvSpPr>
          <p:nvPr/>
        </p:nvSpPr>
        <p:spPr>
          <a:xfrm>
            <a:off x="685800" y="411099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425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просмотр и применение</a:t>
            </a:r>
          </a:p>
        </p:txBody>
      </p:sp>
      <p:sp>
        <p:nvSpPr>
          <p:cNvPr id="5" name="snippet terminal">
            <a:extLst>
              <a:ext uri="{FF2B5EF4-FFF2-40B4-BE49-F238E27FC236}">
                <a16:creationId xmlns:a16="http://schemas.microsoft.com/office/drawing/2014/main" id="{B8BDD156-803A-4BBD-89B2-AA72AB37BC7E}"/>
              </a:ext>
            </a:extLst>
          </p:cNvPr>
          <p:cNvSpPr>
            <a:spLocks noGrp="1"/>
          </p:cNvSpPr>
          <p:nvPr/>
        </p:nvSpPr>
        <p:spPr>
          <a:xfrm>
            <a:off x="685800" y="4415790"/>
            <a:ext cx="6286500" cy="83439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. --diff</a:t>
            </a:r>
          </a:p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ruff check . --fix</a:t>
            </a:r>
          </a:p>
        </p:txBody>
      </p:sp>
      <p:sp>
        <p:nvSpPr>
          <p:cNvPr id="6" name="explanation0">
            <a:extLst>
              <a:ext uri="{FF2B5EF4-FFF2-40B4-BE49-F238E27FC236}">
                <a16:creationId xmlns:a16="http://schemas.microsoft.com/office/drawing/2014/main" id="{6100BA35-EB99-401A-8876-AB773BC99B65}"/>
              </a:ext>
            </a:extLst>
          </p:cNvPr>
          <p:cNvSpPr>
            <a:spLocks noGrp="1"/>
          </p:cNvSpPr>
          <p:nvPr/>
        </p:nvSpPr>
        <p:spPr>
          <a:xfrm>
            <a:off x="7218483" y="1488978"/>
            <a:ext cx="4536831" cy="40302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500"/>
              </a:spcBef>
              <a:buFont typeface="Calibri"/>
              <a:buChar char="•"/>
            </a:pP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fix = false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обычный запуск только проверяет.</a:t>
            </a:r>
          </a:p>
          <a:p>
            <a:pPr marL="180000" indent="-180000">
              <a:spcBef>
                <a:spcPts val="500"/>
              </a:spcBef>
              <a:buFont typeface="Calibri"/>
              <a:buChar char="•"/>
            </a:pP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--fix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включает исправления явно.</a:t>
            </a:r>
          </a:p>
          <a:p>
            <a:pPr marL="180000" indent="-180000">
              <a:spcBef>
                <a:spcPts val="500"/>
              </a:spcBef>
              <a:buFont typeface="Calibri"/>
              <a:buChar char="•"/>
            </a:pP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fixable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разрешает фиксы выбранных правил. Новые проверки он не включает.</a:t>
            </a:r>
          </a:p>
          <a:p>
            <a:pPr marL="180000" indent="-180000">
              <a:spcBef>
                <a:spcPts val="500"/>
              </a:spcBef>
              <a:buFont typeface="Calibri"/>
              <a:buChar char="•"/>
            </a:pP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unfixable = ["B"]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оставляет диагностику, но запрещает автофиксы группы </a:t>
            </a: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B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indent="-180000">
              <a:spcBef>
                <a:spcPts val="500"/>
              </a:spcBef>
              <a:buFont typeface="Calibri"/>
              <a:buChar char="•"/>
            </a:pP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Включение </a:t>
            </a:r>
            <a:r>
              <a:rPr sz="1875">
                <a:solidFill>
                  <a:srgbClr val="142735"/>
                </a:solidFill>
                <a:latin typeface="Lucida Console"/>
                <a:ea typeface="Lucida Console"/>
                <a:cs typeface="Lucida Console"/>
              </a:rPr>
              <a:t>unsafe-fixes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допускает изменения поведения. Такой режим требует отдельной проверки.</a:t>
            </a:r>
          </a:p>
          <a:p>
            <a:pPr>
              <a:spcBef>
                <a:spcPts val="500"/>
              </a:spcBef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500"/>
              </a:spcBef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500"/>
              </a:spcBef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xplanation1">
            <a:extLst>
              <a:ext uri="{FF2B5EF4-FFF2-40B4-BE49-F238E27FC236}">
                <a16:creationId xmlns:a16="http://schemas.microsoft.com/office/drawing/2014/main" id="{3711FF2E-DFE0-4EBD-9C16-572DE8AF8EB3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explanation2">
            <a:extLst>
              <a:ext uri="{FF2B5EF4-FFF2-40B4-BE49-F238E27FC236}">
                <a16:creationId xmlns:a16="http://schemas.microsoft.com/office/drawing/2014/main" id="{96954876-2969-4F24-83DD-A06EEADEDA90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explanation3">
            <a:extLst>
              <a:ext uri="{FF2B5EF4-FFF2-40B4-BE49-F238E27FC236}">
                <a16:creationId xmlns:a16="http://schemas.microsoft.com/office/drawing/2014/main" id="{89343C88-B300-4439-AC3E-83106F1822E4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13733B78-1785-40BD-A8C1-D807FC1F4304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В хуках и CI оставляем режимы проверки: </a:t>
            </a:r>
            <a:r>
              <a:rPr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ruff check</a:t>
            </a:r>
            <a:r>
              <a:rPr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и </a:t>
            </a:r>
            <a:r>
              <a:rPr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ruff format --check</a:t>
            </a:r>
            <a:r>
              <a:rPr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6E54DEB8-904D-4034-916D-316C3D7D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08" y="3015762"/>
            <a:ext cx="8124092" cy="1365738"/>
          </a:xfrm>
        </p:spPr>
        <p:txBody>
          <a:bodyPr anchor="b">
            <a:normAutofit fontScale="90000"/>
          </a:bodyPr>
          <a:lstStyle/>
          <a:p>
            <a:r>
              <a:t>Pyright — проверка типов</a:t>
            </a:r>
          </a:p>
        </p:txBody>
      </p:sp>
      <p:pic>
        <p:nvPicPr>
          <p:cNvPr id="5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65" y="2554166"/>
            <a:ext cx="1982665" cy="198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17965-D4A1-45B8-9901-BD20FC06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071"/>
            <a:ext cx="10820400" cy="704850"/>
          </a:xfrm>
        </p:spPr>
        <p:txBody>
          <a:bodyPr/>
          <a:lstStyle/>
          <a:p>
            <a:r>
              <a:t>Тайпчекеры: короткий обзор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9861BE4E-B0CB-43F4-9000-167462D6B2F8}"/>
              </a:ext>
            </a:extLst>
          </p:cNvPr>
          <p:cNvSpPr>
            <a:spLocks noGrp="1"/>
          </p:cNvSpPr>
          <p:nvPr/>
        </p:nvSpPr>
        <p:spPr>
          <a:xfrm>
            <a:off x="685800" y="241754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mypy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A63389B7-859E-496E-910A-002786C6C8D0}"/>
              </a:ext>
            </a:extLst>
          </p:cNvPr>
          <p:cNvSpPr>
            <a:spLocks noGrp="1"/>
          </p:cNvSpPr>
          <p:nvPr/>
        </p:nvSpPr>
        <p:spPr>
          <a:xfrm>
            <a:off x="4705350" y="2417540"/>
            <a:ext cx="6800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Тайпчекер с постепенным внедрением аннотаций.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3B9C4788-AD69-4A22-9A04-52012223A26B}"/>
              </a:ext>
            </a:extLst>
          </p:cNvPr>
          <p:cNvSpPr>
            <a:spLocks noGrp="1"/>
          </p:cNvSpPr>
          <p:nvPr/>
        </p:nvSpPr>
        <p:spPr>
          <a:xfrm>
            <a:off x="685800" y="3286865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Pyright / basedpyright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F8EEE1D6-7D39-4B70-9BE1-85D1C3B716A4}"/>
              </a:ext>
            </a:extLst>
          </p:cNvPr>
          <p:cNvSpPr>
            <a:spLocks noGrp="1"/>
          </p:cNvSpPr>
          <p:nvPr/>
        </p:nvSpPr>
        <p:spPr>
          <a:xfrm>
            <a:off x="4705350" y="3286865"/>
            <a:ext cx="6800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Microsoft Pyright и его форк с дополнительными проверками.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0F826547-5384-4D98-9C9E-E6CC175FC069}"/>
              </a:ext>
            </a:extLst>
          </p:cNvPr>
          <p:cNvSpPr>
            <a:spLocks noGrp="1"/>
          </p:cNvSpPr>
          <p:nvPr/>
        </p:nvSpPr>
        <p:spPr>
          <a:xfrm>
            <a:off x="685800" y="4215915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Pyre / pytype</a:t>
            </a: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8D9172CE-4FE7-4117-B486-37C5DA75F7E2}"/>
              </a:ext>
            </a:extLst>
          </p:cNvPr>
          <p:cNvSpPr>
            <a:spLocks noGrp="1"/>
          </p:cNvSpPr>
          <p:nvPr/>
        </p:nvSpPr>
        <p:spPr>
          <a:xfrm>
            <a:off x="4705350" y="4215915"/>
            <a:ext cx="6800850" cy="7920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Другие инструменты статического анализа типов.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1634F12F-6E31-43BF-89EB-69C898AA992A}"/>
              </a:ext>
            </a:extLst>
          </p:cNvPr>
          <p:cNvSpPr>
            <a:spLocks noGrp="1"/>
          </p:cNvSpPr>
          <p:nvPr/>
        </p:nvSpPr>
        <p:spPr>
          <a:xfrm>
            <a:off x="685800" y="5083415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ty / Pyrefly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398B7878-B6A8-4347-A501-712E984DE93F}"/>
              </a:ext>
            </a:extLst>
          </p:cNvPr>
          <p:cNvSpPr>
            <a:spLocks noGrp="1"/>
          </p:cNvSpPr>
          <p:nvPr/>
        </p:nvSpPr>
        <p:spPr>
          <a:xfrm>
            <a:off x="4705350" y="5083415"/>
            <a:ext cx="6800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Альтернативные тайпчекеры с поддержкой редакторов.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A2B1B7E9-0085-4A97-A2BA-61D4B23A7FF2}"/>
              </a:ext>
            </a:extLst>
          </p:cNvPr>
          <p:cNvSpPr>
            <a:spLocks noGrp="1"/>
          </p:cNvSpPr>
          <p:nvPr/>
        </p:nvSpPr>
        <p:spPr>
          <a:xfrm>
            <a:off x="685800" y="6145823"/>
            <a:ext cx="10820400" cy="4550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Далее используем Pyright. Ruff не заменяет проверку типов.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04DFF5-7FCD-9E7C-3380-95E4AAEF4A39}"/>
              </a:ext>
            </a:extLst>
          </p:cNvPr>
          <p:cNvSpPr>
            <a:spLocks noGrp="1"/>
          </p:cNvSpPr>
          <p:nvPr/>
        </p:nvSpPr>
        <p:spPr>
          <a:xfrm>
            <a:off x="685800" y="1021223"/>
            <a:ext cx="11157438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90000">
            <a:spAutoFit/>
          </a:bodyPr>
          <a:lstStyle/>
          <a:p>
            <a:r>
              <a:rPr sz="2000" b="1"/>
              <a:t>Тайпчекер</a:t>
            </a:r>
          </a:p>
          <a:p>
            <a:r>
              <a:rPr sz="2000"/>
              <a:t>Сопоставляет аннотации и выводимые типы: аргументы, результат функции, допустимость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2269B-7125-4AC3-B0EB-B1239E81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Pyright: ошибка на границе функции</a:t>
            </a:r>
          </a:p>
        </p:txBody>
      </p:sp>
      <p:sp>
        <p:nvSpPr>
          <p:cNvPr id="30" name="label pricing.py">
            <a:extLst>
              <a:ext uri="{FF2B5EF4-FFF2-40B4-BE49-F238E27FC236}">
                <a16:creationId xmlns:a16="http://schemas.microsoft.com/office/drawing/2014/main" id="{F4DAEF53-D85E-4550-9FD1-34BB1C128A7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pricing.py</a:t>
            </a:r>
            <a:endParaRPr sz="1600" b="0" i="0" u="none" kern="1200" cap="none" spc="0" baseline="0">
              <a:ln>
                <a:noFill/>
              </a:ln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nippet python function">
            <a:extLst>
              <a:ext uri="{FF2B5EF4-FFF2-40B4-BE49-F238E27FC236}">
                <a16:creationId xmlns:a16="http://schemas.microsoft.com/office/drawing/2014/main" id="{DBFE6775-0FBE-4C37-BD23-40C4130D65C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914400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900" b="1">
                <a:solidFill>
                  <a:srgbClr val="004D00"/>
                </a:solidFill>
                <a:latin typeface="Courier New"/>
                <a:ea typeface="Courier New"/>
                <a:cs typeface="Courier New"/>
              </a:rPr>
              <a:t>def </a:t>
            </a:r>
            <a:r>
              <a:rPr sz="1900" b="1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19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(price: </a:t>
            </a:r>
            <a:r>
              <a:rPr sz="1900" b="0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9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quantity: </a:t>
            </a:r>
            <a:r>
              <a:rPr sz="1900" b="0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9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-&gt; </a:t>
            </a:r>
            <a:r>
              <a:rPr sz="1900" b="0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9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1900"/>
          </a:p>
          <a:p>
            <a:pPr>
              <a:lnSpc>
                <a:spcPct val="100000"/>
              </a:lnSpc>
              <a:buNone/>
            </a:pPr>
            <a:r>
              <a:rPr sz="1900" b="1">
                <a:solidFill>
                  <a:srgbClr val="004D00"/>
                </a:solidFill>
                <a:latin typeface="Courier New"/>
                <a:ea typeface="Courier New"/>
                <a:cs typeface="Courier New"/>
              </a:rPr>
              <a:t>    return </a:t>
            </a:r>
            <a:r>
              <a:rPr sz="19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price * quantity</a:t>
            </a:r>
            <a:endParaRPr sz="1900"/>
          </a:p>
        </p:txBody>
      </p:sp>
      <p:sp>
        <p:nvSpPr>
          <p:cNvPr id="3" name="label main.py">
            <a:extLst>
              <a:ext uri="{FF2B5EF4-FFF2-40B4-BE49-F238E27FC236}">
                <a16:creationId xmlns:a16="http://schemas.microsoft.com/office/drawing/2014/main" id="{08C52E7A-FCBB-441A-9BDE-7156880B4193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main.py</a:t>
            </a:r>
            <a:endParaRPr sz="1600" b="0" i="0" u="none" kern="1200" cap="none" spc="0" baseline="0">
              <a:ln>
                <a:noFill/>
              </a:ln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python">
            <a:extLst>
              <a:ext uri="{FF2B5EF4-FFF2-40B4-BE49-F238E27FC236}">
                <a16:creationId xmlns:a16="http://schemas.microsoft.com/office/drawing/2014/main" id="{99CB8252-CCE6-4DCB-AC96-AEFBC90EF09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7239000" cy="1114425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0C450D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pricing</a:t>
            </a:r>
            <a:endParaRPr sz="2000" b="0" i="0" u="none" kern="1200" cap="none" spc="0" baseline="0">
              <a:ln>
                <a:noFill/>
              </a:ln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(pricing.</a:t>
            </a:r>
            <a:r>
              <a:rPr sz="2000"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total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0" i="0" u="none" cap="none" spc="0">
                <a:ln>
                  <a:noFill/>
                </a:ln>
                <a:solidFill>
                  <a:srgbClr val="0000CD"/>
                </a:solidFill>
                <a:latin typeface="Courier New"/>
                <a:ea typeface="Courier New"/>
                <a:cs typeface="Courier New"/>
              </a:rPr>
              <a:t>100.0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cap="none" spc="0">
                <a:ln>
                  <a:noFill/>
                </a:ln>
                <a:solidFill>
                  <a:srgbClr val="036A07"/>
                </a:solidFill>
                <a:latin typeface="Courier New"/>
                <a:ea typeface="Courier New"/>
                <a:cs typeface="Courier New"/>
              </a:rPr>
              <a:t>"3"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))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label Терминал">
            <a:extLst>
              <a:ext uri="{FF2B5EF4-FFF2-40B4-BE49-F238E27FC236}">
                <a16:creationId xmlns:a16="http://schemas.microsoft.com/office/drawing/2014/main" id="{13B645C6-267B-438D-A5C7-2C15D8BFE81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6" name="snippet terminal">
            <a:extLst>
              <a:ext uri="{FF2B5EF4-FFF2-40B4-BE49-F238E27FC236}">
                <a16:creationId xmlns:a16="http://schemas.microsoft.com/office/drawing/2014/main" id="{929BAA29-30C1-44ED-BDD5-2CA994F82691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9956074" cy="160972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pyright</a:t>
            </a:r>
            <a:br/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Argument of type "Literal['3']" cannot be assigned to parameter</a:t>
            </a:r>
            <a:br/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"quantity" of type "int" (reportArgumentType)</a:t>
            </a:r>
            <a:endParaRPr sz="20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C9272B15-1EB5-48F4-8C1E-EA59123CFFD6}"/>
              </a:ext>
            </a:extLst>
          </p:cNvPr>
          <p:cNvSpPr>
            <a:spLocks noGrp="1"/>
          </p:cNvSpPr>
          <p:nvPr/>
        </p:nvSpPr>
        <p:spPr>
          <a:xfrm>
            <a:off x="8305800" y="1390650"/>
            <a:ext cx="3200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Аннотация:</a:t>
            </a:r>
            <a:br/>
            <a:r>
              <a:rPr sz="2000" b="0" i="0" u="none" cap="none" spc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quantity: int</a:t>
            </a:r>
            <a:br/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задаёт ожидаемый тип.</a:t>
            </a:r>
          </a:p>
          <a:p>
            <a:pPr>
              <a:spcBef>
                <a:spcPts val="100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Ruff может пропустить такую ошибку.</a:t>
            </a:r>
          </a:p>
          <a:p>
            <a:pPr>
              <a:spcBef>
                <a:spcPts val="100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Pyright проверяет вызов без выполнения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335CE83C-0C11-4604-9411-239E5FC8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7169"/>
            <a:ext cx="10820400" cy="742950"/>
          </a:xfrm>
        </p:spPr>
        <p:txBody>
          <a:bodyPr/>
          <a:lstStyle/>
          <a:p>
            <a:r>
              <a:t>Pyright: зачем нужна проверка None</a:t>
            </a:r>
          </a:p>
        </p:txBody>
      </p:sp>
      <p:sp>
        <p:nvSpPr>
          <p:cNvPr id="21" name="Тип на входе">
            <a:extLst>
              <a:ext uri="{FF2B5EF4-FFF2-40B4-BE49-F238E27FC236}">
                <a16:creationId xmlns:a16="http://schemas.microsoft.com/office/drawing/2014/main" id="{5E6A384A-BFF3-425A-ADA0-6BCBD3F32D3B}"/>
              </a:ext>
            </a:extLst>
          </p:cNvPr>
          <p:cNvSpPr>
            <a:spLocks noGrp="1"/>
          </p:cNvSpPr>
          <p:nvPr/>
        </p:nvSpPr>
        <p:spPr>
          <a:xfrm>
            <a:off x="685800" y="1136193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1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str | None</a:t>
            </a:r>
            <a:r>
              <a:rPr sz="21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: параметр может быть строкой или </a:t>
            </a:r>
            <a:r>
              <a:rPr sz="21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21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endParaRPr sz="2100"/>
          </a:p>
        </p:txBody>
      </p:sp>
      <p:sp>
        <p:nvSpPr>
          <p:cNvPr id="22" name="Без проверки">
            <a:extLst>
              <a:ext uri="{FF2B5EF4-FFF2-40B4-BE49-F238E27FC236}">
                <a16:creationId xmlns:a16="http://schemas.microsoft.com/office/drawing/2014/main" id="{8A189925-6E61-4BD2-ACA3-11A8CD63E744}"/>
              </a:ext>
            </a:extLst>
          </p:cNvPr>
          <p:cNvSpPr>
            <a:spLocks noGrp="1"/>
          </p:cNvSpPr>
          <p:nvPr/>
        </p:nvSpPr>
        <p:spPr>
          <a:xfrm>
            <a:off x="685800" y="168864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9C2525"/>
                </a:solidFill>
                <a:latin typeface="Calibri"/>
                <a:ea typeface="Calibri"/>
                <a:cs typeface="Calibri"/>
              </a:rPr>
              <a:t>Без проверки: Pyright находит ошибку</a:t>
            </a:r>
            <a:endParaRPr sz="2000"/>
          </a:p>
        </p:txBody>
      </p:sp>
      <p:sp>
        <p:nvSpPr>
          <p:cNvPr id="23" name="После проверки">
            <a:extLst>
              <a:ext uri="{FF2B5EF4-FFF2-40B4-BE49-F238E27FC236}">
                <a16:creationId xmlns:a16="http://schemas.microsoft.com/office/drawing/2014/main" id="{4297BD2C-7AEF-4D60-A5B0-C4754538777F}"/>
              </a:ext>
            </a:extLst>
          </p:cNvPr>
          <p:cNvSpPr>
            <a:spLocks noGrp="1"/>
          </p:cNvSpPr>
          <p:nvPr/>
        </p:nvSpPr>
        <p:spPr>
          <a:xfrm>
            <a:off x="6362700" y="168864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236F2C"/>
                </a:solidFill>
                <a:latin typeface="Calibri"/>
                <a:ea typeface="Calibri"/>
                <a:cs typeface="Calibri"/>
              </a:rPr>
              <a:t>После проверки: ошибок типов нет</a:t>
            </a:r>
            <a:endParaRPr sz="2000"/>
          </a:p>
        </p:txBody>
      </p:sp>
      <p:sp>
        <p:nvSpPr>
          <p:cNvPr id="24" name="Python без проверки">
            <a:extLst>
              <a:ext uri="{FF2B5EF4-FFF2-40B4-BE49-F238E27FC236}">
                <a16:creationId xmlns:a16="http://schemas.microsoft.com/office/drawing/2014/main" id="{DB800316-959A-4CC6-8EB7-C207D5733BB4}"/>
              </a:ext>
            </a:extLst>
          </p:cNvPr>
          <p:cNvSpPr>
            <a:spLocks noGrp="1"/>
          </p:cNvSpPr>
          <p:nvPr/>
        </p:nvSpPr>
        <p:spPr>
          <a:xfrm>
            <a:off x="685800" y="2117270"/>
            <a:ext cx="5143500" cy="2438400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length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endParaRPr sz="20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value: </a:t>
            </a:r>
            <a:r>
              <a:rPr sz="2000" b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str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| </a:t>
            </a:r>
            <a:r>
              <a:rPr sz="2000" b="1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endParaRPr sz="20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-&gt; </a:t>
            </a:r>
            <a:r>
              <a:rPr sz="2000" b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>
                <a:solidFill>
                  <a:srgbClr val="236F2C"/>
                </a:solidFill>
                <a:latin typeface="Courier New"/>
                <a:ea typeface="Courier New"/>
                <a:cs typeface="Courier New"/>
              </a:rPr>
              <a:t># value может быть None</a:t>
            </a:r>
            <a:endParaRPr sz="20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1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len</a:t>
            </a:r>
            <a:r>
              <a:rPr sz="200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(value)</a:t>
            </a:r>
            <a:endParaRPr sz="2000"/>
          </a:p>
        </p:txBody>
      </p:sp>
      <p:sp>
        <p:nvSpPr>
          <p:cNvPr id="25" name="Python с проверкой">
            <a:extLst>
              <a:ext uri="{FF2B5EF4-FFF2-40B4-BE49-F238E27FC236}">
                <a16:creationId xmlns:a16="http://schemas.microsoft.com/office/drawing/2014/main" id="{9EF561D4-4315-4A25-A903-319A3736CFA6}"/>
              </a:ext>
            </a:extLst>
          </p:cNvPr>
          <p:cNvSpPr>
            <a:spLocks noGrp="1"/>
          </p:cNvSpPr>
          <p:nvPr/>
        </p:nvSpPr>
        <p:spPr>
          <a:xfrm>
            <a:off x="6362700" y="2117269"/>
            <a:ext cx="5143500" cy="2648777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3335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0000A2"/>
                </a:solidFill>
                <a:latin typeface="Courier New"/>
                <a:ea typeface="Courier New"/>
                <a:cs typeface="Courier New"/>
              </a:rPr>
              <a:t>length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value: </a:t>
            </a:r>
            <a:r>
              <a:rPr sz="2000" b="0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str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|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 -&gt; </a:t>
            </a:r>
            <a:r>
              <a:rPr sz="2000" b="0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value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0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 i="0" u="none" cap="none" spc="0">
                <a:ln>
                  <a:noFill/>
                </a:ln>
                <a:solidFill>
                  <a:srgbClr val="236F2C"/>
                </a:solidFill>
                <a:latin typeface="Courier New"/>
                <a:ea typeface="Courier New"/>
                <a:cs typeface="Courier New"/>
              </a:rPr>
              <a:t># Здесь value — только str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1" i="0" u="none" cap="none" spc="0">
                <a:ln>
                  <a:noFill/>
                </a:ln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rgbClr val="3C4C72"/>
                </a:solidFill>
                <a:latin typeface="Courier New"/>
                <a:ea typeface="Courier New"/>
                <a:cs typeface="Courier New"/>
              </a:rPr>
              <a:t>len</a:t>
            </a:r>
            <a:r>
              <a:rPr sz="2000" b="0" i="0" u="none" cap="none" spc="0">
                <a:ln>
                  <a:noFill/>
                </a:ln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(value)</a:t>
            </a:r>
            <a:endParaRPr sz="2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Причина ошибки">
            <a:extLst>
              <a:ext uri="{FF2B5EF4-FFF2-40B4-BE49-F238E27FC236}">
                <a16:creationId xmlns:a16="http://schemas.microsoft.com/office/drawing/2014/main" id="{88CD8091-73F7-4AC4-ACE8-9A2E772907C5}"/>
              </a:ext>
            </a:extLst>
          </p:cNvPr>
          <p:cNvSpPr>
            <a:spLocks noGrp="1"/>
          </p:cNvSpPr>
          <p:nvPr/>
        </p:nvSpPr>
        <p:spPr>
          <a:xfrm>
            <a:off x="685800" y="4823734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length(None)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приведёт к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TypeError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endParaRPr sz="18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Pyright замечает риск до запуска.</a:t>
            </a:r>
            <a:endParaRPr sz="1800"/>
          </a:p>
        </p:txBody>
      </p:sp>
      <p:sp>
        <p:nvSpPr>
          <p:cNvPr id="27" name="Почему корректно">
            <a:extLst>
              <a:ext uri="{FF2B5EF4-FFF2-40B4-BE49-F238E27FC236}">
                <a16:creationId xmlns:a16="http://schemas.microsoft.com/office/drawing/2014/main" id="{8B567BEB-A9FD-4D20-9EEC-C0D82DACE806}"/>
              </a:ext>
            </a:extLst>
          </p:cNvPr>
          <p:cNvSpPr>
            <a:spLocks noGrp="1"/>
          </p:cNvSpPr>
          <p:nvPr/>
        </p:nvSpPr>
        <p:spPr>
          <a:xfrm>
            <a:off x="6362700" y="4841152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return 0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завершает ветку с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  <a:endParaRPr sz="18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До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len(value)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доходит только строка.</a:t>
            </a:r>
            <a:endParaRPr sz="1800"/>
          </a:p>
        </p:txBody>
      </p:sp>
      <p:sp>
        <p:nvSpPr>
          <p:cNvPr id="28" name="Смысл сужения">
            <a:extLst>
              <a:ext uri="{FF2B5EF4-FFF2-40B4-BE49-F238E27FC236}">
                <a16:creationId xmlns:a16="http://schemas.microsoft.com/office/drawing/2014/main" id="{1E98DAA9-F881-4C5D-BAA9-C44996A9CA00}"/>
              </a:ext>
            </a:extLst>
          </p:cNvPr>
          <p:cNvSpPr>
            <a:spLocks noGrp="1"/>
          </p:cNvSpPr>
          <p:nvPr/>
        </p:nvSpPr>
        <p:spPr>
          <a:xfrm>
            <a:off x="685800" y="59912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Сужение типа: Pyright уточняет возможный тип с </a:t>
            </a:r>
            <a:r>
              <a:rPr sz="1800" b="1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str | None</a:t>
            </a:r>
            <a:r>
              <a:rPr sz="18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до </a:t>
            </a:r>
            <a:r>
              <a:rPr sz="1800" b="1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str</a:t>
            </a:r>
            <a:r>
              <a:rPr sz="18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.</a:t>
            </a:r>
            <a:endParaRPr sz="180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Значение не преобразуется. Анализатор учитывает проверку и ранний выход.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39DE7FF-8509-4379-A6A2-7B476EDD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Конфигурация Pyright</a:t>
            </a:r>
          </a:p>
        </p:txBody>
      </p:sp>
      <p:sp>
        <p:nvSpPr>
          <p:cNvPr id="2" name="label pyproject.toml">
            <a:extLst>
              <a:ext uri="{FF2B5EF4-FFF2-40B4-BE49-F238E27FC236}">
                <a16:creationId xmlns:a16="http://schemas.microsoft.com/office/drawing/2014/main" id="{B015E5FA-3F52-468A-B615-660521A0CC7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pyproject.toml</a:t>
            </a:r>
            <a:endParaRPr sz="1600" b="0" i="0" u="none" kern="1200" cap="none" spc="0" baseline="0">
              <a:ln>
                <a:noFill/>
              </a:ln>
              <a:solidFill>
                <a:srgbClr val="52617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0B25C49D-DF12-4BC7-B146-3D204CC2E8FF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286500" cy="2733675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[tool.pyright]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"main.py"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"pricing.py"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"tests"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pythonVersion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"3.12"</a:t>
            </a:r>
            <a:endParaRPr sz="2000" b="0" i="0" u="none" strike="noStrik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typeCheckingMode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"strict"</a:t>
            </a:r>
            <a:endParaRPr sz="2000" b="0" i="0" u="none" strike="noStrik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venvPath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"."</a:t>
            </a:r>
            <a:endParaRPr sz="2000" b="0" i="0" u="none" strike="noStrik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venv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".venv"</a:t>
            </a:r>
            <a:endParaRPr sz="2000" b="0" i="0" u="none" strike="noStrik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explanation0">
            <a:extLst>
              <a:ext uri="{FF2B5EF4-FFF2-40B4-BE49-F238E27FC236}">
                <a16:creationId xmlns:a16="http://schemas.microsoft.com/office/drawing/2014/main" id="{9BBF19D9-62EE-4C5B-92D7-65FDB227A99A}"/>
              </a:ext>
            </a:extLst>
          </p:cNvPr>
          <p:cNvSpPr>
            <a:spLocks noGrp="1"/>
          </p:cNvSpPr>
          <p:nvPr/>
        </p:nvSpPr>
        <p:spPr>
          <a:xfrm>
            <a:off x="7315200" y="1014684"/>
            <a:ext cx="4191000" cy="54432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marR="0" lvl="0" indent="-1800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Char char="•"/>
            </a:pPr>
            <a:r>
              <a:rPr sz="1875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задаёт стартовую область анализа. Импорты могут расширить её.</a:t>
            </a:r>
          </a:p>
          <a:p>
            <a:pPr marL="180000" marR="0" lvl="0" indent="-1800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Char char="•"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pythonVersion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задаёт целевую версию языка</a:t>
            </a:r>
          </a:p>
          <a:p>
            <a:pPr marL="180000" lvl="0" indent="-180000">
              <a:spcBef>
                <a:spcPts val="500"/>
              </a:spcBef>
              <a:buFont typeface="Calibri"/>
              <a:buChar char="•"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typeCheckingMode — </a:t>
            </a:r>
            <a:r>
              <a:rPr sz="2000">
                <a:solidFill>
                  <a:srgbClr val="142735"/>
                </a:solidFill>
              </a:rPr>
              <a:t>набор диагностик:</a:t>
            </a:r>
          </a:p>
          <a:p>
            <a:pPr marL="637200" lvl="1" indent="-180000">
              <a:spcBef>
                <a:spcPts val="500"/>
              </a:spcBef>
              <a:buFont typeface="Calibri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2000">
                <a:solidFill>
                  <a:srgbClr val="142735"/>
                </a:solidFill>
              </a:rPr>
              <a:t> — не проверяем типы (только синтаксические ошибки)</a:t>
            </a:r>
            <a:endParaRPr sz="200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637200" lvl="1" indent="-180000">
              <a:spcBef>
                <a:spcPts val="500"/>
              </a:spcBef>
              <a:buFont typeface="Calibri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basic</a:t>
            </a:r>
            <a:r>
              <a:rPr sz="2000">
                <a:solidFill>
                  <a:srgbClr val="142735"/>
                </a:solidFill>
              </a:rPr>
              <a:t> — базовые проверки</a:t>
            </a:r>
            <a:endParaRPr sz="200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637200" lvl="1" indent="-180000">
              <a:spcBef>
                <a:spcPts val="500"/>
              </a:spcBef>
              <a:buFont typeface="Calibri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standard</a:t>
            </a:r>
            <a:r>
              <a:rPr sz="2000">
                <a:solidFill>
                  <a:srgbClr val="142735"/>
                </a:solidFill>
              </a:rPr>
              <a:t> — дефолт</a:t>
            </a:r>
            <a:endParaRPr sz="200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 marL="637200" lvl="1" indent="-180000">
              <a:spcBef>
                <a:spcPts val="500"/>
              </a:spcBef>
              <a:buFont typeface="Calibri"/>
              <a:buChar char="•"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strict —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строгий</a:t>
            </a:r>
          </a:p>
          <a:p>
            <a:pPr marL="180000" marR="0" lvl="0" indent="-1800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alibri"/>
              <a:buChar char="•"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venvPath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venv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— помогают CLI находить библиотеки окружения.</a:t>
            </a:r>
          </a:p>
        </p:txBody>
      </p:sp>
      <p:sp>
        <p:nvSpPr>
          <p:cNvPr id="5" name="explanation1">
            <a:extLst>
              <a:ext uri="{FF2B5EF4-FFF2-40B4-BE49-F238E27FC236}">
                <a16:creationId xmlns:a16="http://schemas.microsoft.com/office/drawing/2014/main" id="{FBF08592-340A-4372-ACA3-CE259CDCD816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explanation2">
            <a:extLst>
              <a:ext uri="{FF2B5EF4-FFF2-40B4-BE49-F238E27FC236}">
                <a16:creationId xmlns:a16="http://schemas.microsoft.com/office/drawing/2014/main" id="{8072709C-DC96-4F53-8EB8-E3492932EC44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xplanation3">
            <a:extLst>
              <a:ext uri="{FF2B5EF4-FFF2-40B4-BE49-F238E27FC236}">
                <a16:creationId xmlns:a16="http://schemas.microsoft.com/office/drawing/2014/main" id="{AAF63356-3DFD-4DBE-BFB4-687CA47E0F83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79C06D2-7596-400B-AA91-E6DF0BBA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Pyright: постепенное усиление проверок</a:t>
            </a:r>
          </a:p>
        </p:txBody>
      </p:sp>
      <p:sp>
        <p:nvSpPr>
          <p:cNvPr id="2" name="label pyproject.toml: альтернативная настройка">
            <a:extLst>
              <a:ext uri="{FF2B5EF4-FFF2-40B4-BE49-F238E27FC236}">
                <a16:creationId xmlns:a16="http://schemas.microsoft.com/office/drawing/2014/main" id="{2B132057-9B68-4999-8EA7-832787E39E7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1600" b="0" i="0" u="none" cap="none" spc="0">
                <a:ln>
                  <a:noFill/>
                </a:ln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: альтернативная настройка</a:t>
            </a:r>
          </a:p>
        </p:txBody>
      </p:sp>
      <p:sp>
        <p:nvSpPr>
          <p:cNvPr id="3" name="snippet toml">
            <a:extLst>
              <a:ext uri="{FF2B5EF4-FFF2-40B4-BE49-F238E27FC236}">
                <a16:creationId xmlns:a16="http://schemas.microsoft.com/office/drawing/2014/main" id="{25C58664-A12F-439E-AF02-753072F7F33C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286500" cy="2833007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[tool.pyright]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"main.py"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"pricing.py"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"tests"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exclude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"build"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"generated"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typeCheckingMode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"standard"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strict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[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"pricing.py"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64E8F"/>
                </a:solidFill>
                <a:latin typeface="Courier New"/>
                <a:ea typeface="Courier New"/>
                <a:cs typeface="Courier New"/>
              </a:rPr>
              <a:t>reportMissingTypeStubs</a:t>
            </a:r>
            <a:r>
              <a:rPr sz="2000" b="0" i="0" u="none" cap="none" spc="0">
                <a:ln>
                  <a:noFill/>
                </a:ln>
                <a:solidFill>
                  <a:srgbClr val="172B3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 i="0" u="none" cap="none" spc="0">
                <a:ln>
                  <a:noFill/>
                </a:ln>
                <a:solidFill>
                  <a:srgbClr val="A52E0A"/>
                </a:solidFill>
                <a:latin typeface="Courier New"/>
                <a:ea typeface="Courier New"/>
                <a:cs typeface="Courier New"/>
              </a:rPr>
              <a:t>"error"</a:t>
            </a:r>
            <a:endParaRPr sz="2000" b="0" i="0" u="none" kern="1200" cap="none" spc="0" baseline="0">
              <a:ln>
                <a:noFill/>
              </a:ln>
              <a:solidFill>
                <a:srgbClr val="172B3A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explanation0">
            <a:extLst>
              <a:ext uri="{FF2B5EF4-FFF2-40B4-BE49-F238E27FC236}">
                <a16:creationId xmlns:a16="http://schemas.microsoft.com/office/drawing/2014/main" id="{53CF9628-5F81-4967-B99D-0E8A4C298DC1}"/>
              </a:ext>
            </a:extLst>
          </p:cNvPr>
          <p:cNvSpPr>
            <a:spLocks noGrp="1"/>
          </p:cNvSpPr>
          <p:nvPr/>
        </p:nvSpPr>
        <p:spPr>
          <a:xfrm>
            <a:off x="7315200" y="1695450"/>
            <a:ext cx="4191000" cy="39215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500"/>
              </a:spcBef>
              <a:buFont typeface="Arial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standard</a:t>
            </a:r>
            <a:r>
              <a:rPr sz="20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задаёт общий режим.</a:t>
            </a:r>
          </a:p>
          <a:p>
            <a:pPr marL="180000" indent="-180000">
              <a:spcBef>
                <a:spcPts val="500"/>
              </a:spcBef>
              <a:buFont typeface="Arial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strict</a:t>
            </a:r>
            <a:r>
              <a:rPr sz="200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усиливает проверки выбранных файлов.</a:t>
            </a:r>
          </a:p>
          <a:p>
            <a:pPr marL="180000" indent="-180000">
              <a:spcBef>
                <a:spcPts val="500"/>
              </a:spcBef>
              <a:buFont typeface="Arial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exclude</a:t>
            </a:r>
            <a:r>
              <a:rPr sz="2000">
                <a:solidFill>
                  <a:srgbClr val="142735"/>
                </a:solidFill>
              </a:rPr>
              <a:t> исключает пути из поиска, но импортируемый файл всё равно может анализироваться.</a:t>
            </a:r>
          </a:p>
          <a:p>
            <a:pPr marL="180000" indent="-180000">
              <a:spcBef>
                <a:spcPts val="500"/>
              </a:spcBef>
              <a:buFont typeface="Arial"/>
              <a:buChar char="•"/>
            </a:pPr>
            <a:r>
              <a:rPr sz="200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reportMissingTypeStubs</a:t>
            </a:r>
            <a:r>
              <a:rPr sz="2000">
                <a:solidFill>
                  <a:srgbClr val="142735"/>
                </a:solidFill>
              </a:rPr>
              <a:t> сообщает об отсутствующих описаниях типов библиотек.</a:t>
            </a:r>
            <a:br/>
            <a:r>
              <a:rPr sz="2000">
                <a:solidFill>
                  <a:srgbClr val="142735"/>
                </a:solidFill>
              </a:rPr>
              <a:t>Ошибка поиска типов и отсутствие самой библиотеки требуют разных решений.</a:t>
            </a:r>
          </a:p>
        </p:txBody>
      </p:sp>
      <p:sp>
        <p:nvSpPr>
          <p:cNvPr id="5" name="explanation1">
            <a:extLst>
              <a:ext uri="{FF2B5EF4-FFF2-40B4-BE49-F238E27FC236}">
                <a16:creationId xmlns:a16="http://schemas.microsoft.com/office/drawing/2014/main" id="{8491F15A-9101-4681-9F89-19D779AC8352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explanation2">
            <a:extLst>
              <a:ext uri="{FF2B5EF4-FFF2-40B4-BE49-F238E27FC236}">
                <a16:creationId xmlns:a16="http://schemas.microsoft.com/office/drawing/2014/main" id="{D74F0D90-F93B-4463-8505-CA07AD65FDEB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xplanation3">
            <a:extLst>
              <a:ext uri="{FF2B5EF4-FFF2-40B4-BE49-F238E27FC236}">
                <a16:creationId xmlns:a16="http://schemas.microsoft.com/office/drawing/2014/main" id="{FACBCCDD-894F-48B3-95DE-A8B3CB513FD3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akeaway">
            <a:extLst>
              <a:ext uri="{FF2B5EF4-FFF2-40B4-BE49-F238E27FC236}">
                <a16:creationId xmlns:a16="http://schemas.microsoft.com/office/drawing/2014/main" id="{5D1C4560-12F8-4593-BA88-1F46D563042E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При проблемах с импортами: </a:t>
            </a:r>
            <a:r>
              <a:rPr sz="165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pyright --verbose</a:t>
            </a: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77014-D3C4-480B-99E9-38069CA9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Внедрение типизации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9B5279D8-6162-4EB3-BBFD-1FAF1B68C0D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Новый код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357720B3-165D-4FDC-9912-94AF816C353B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Аннотации аргументов и результата. Строгие проверки.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B6C060F2-D2CA-47AF-A808-C7FFA23E943A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Существующий проект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7C749994-4846-4BB0-ACD5-6E859FB4B0E6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Начинаем с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standard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ограниченной области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3C0482D0-5EA1-4DB7-8893-E88CD84CD7A4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Критичные модули</a:t>
            </a: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6EF22AD8-6945-4658-B6BA-8B5EE07DECBC}"/>
              </a:ext>
            </a:extLst>
          </p:cNvPr>
          <p:cNvSpPr>
            <a:spLocks noGrp="1"/>
          </p:cNvSpPr>
          <p:nvPr/>
        </p:nvSpPr>
        <p:spPr>
          <a:xfrm>
            <a:off x="4705350" y="36385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Расширяем область и повышаем строгость постепенно.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7C4720A9-7ED2-4591-8B4C-FA1829A0D5D3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Исключения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F8AF74BA-7DB8-4AEC-8713-64A788ABE45F}"/>
              </a:ext>
            </a:extLst>
          </p:cNvPr>
          <p:cNvSpPr>
            <a:spLocks noGrp="1"/>
          </p:cNvSpPr>
          <p:nvPr/>
        </p:nvSpPr>
        <p:spPr>
          <a:xfrm>
            <a:off x="4705350" y="47053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Конкретная диагностика с объяснением причины.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26DA2-6213-4037-A810-4654A529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8" y="206089"/>
            <a:ext cx="10820400" cy="704850"/>
          </a:xfrm>
        </p:spPr>
        <p:txBody>
          <a:bodyPr/>
          <a:lstStyle/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400" b="0" i="0" u="non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Calibri Light"/>
                <a:cs typeface="Calibri Light"/>
              </a:rPr>
              <a:t>basedpyright: отличия от Pyright</a:t>
            </a:r>
          </a:p>
        </p:txBody>
      </p:sp>
      <p:sp>
        <p:nvSpPr>
          <p:cNvPr id="3" name="based-heading-diff">
            <a:extLst>
              <a:ext uri="{FF2B5EF4-FFF2-40B4-BE49-F238E27FC236}">
                <a16:creationId xmlns:a16="http://schemas.microsoft.com/office/drawing/2014/main" id="{BDC2F1C8-1465-48D3-A3D6-9AF9A97FC0D1}"/>
              </a:ext>
            </a:extLst>
          </p:cNvPr>
          <p:cNvSpPr>
            <a:spLocks noGrp="1"/>
          </p:cNvSpPr>
          <p:nvPr/>
        </p:nvSpPr>
        <p:spPr>
          <a:xfrm>
            <a:off x="685800" y="987138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 i="0" u="none" cap="none" spc="0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Что меняется по сравнению с </a:t>
            </a:r>
            <a:r>
              <a:rPr sz="2000" b="1" i="0" u="none" cap="none" spc="0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Pyright</a:t>
            </a:r>
            <a:endParaRPr b="1" i="0" u="none" kern="1200" cap="none" spc="0" baseline="0">
              <a:ln>
                <a:noFill/>
              </a:ln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ased-differences">
            <a:extLst>
              <a:ext uri="{FF2B5EF4-FFF2-40B4-BE49-F238E27FC236}">
                <a16:creationId xmlns:a16="http://schemas.microsoft.com/office/drawing/2014/main" id="{A795C38B-A3C1-4413-8654-BAF6F54289E9}"/>
              </a:ext>
            </a:extLst>
          </p:cNvPr>
          <p:cNvSpPr>
            <a:spLocks noGrp="1"/>
          </p:cNvSpPr>
          <p:nvPr/>
        </p:nvSpPr>
        <p:spPr>
          <a:xfrm>
            <a:off x="685800" y="1387188"/>
            <a:ext cx="5810794" cy="14400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80000" marR="0" lvl="0" indent="-180000" algn="l" defTabSz="914400">
              <a:lnSpc>
                <a:spcPct val="100000"/>
              </a:lnSpc>
              <a:spcAft>
                <a:spcPts val="60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Режимы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recommended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и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all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включают больше проверок.</a:t>
            </a:r>
          </a:p>
          <a:p>
            <a:pPr marL="180000" marR="0" lvl="0" indent="-180000" algn="l" defTabSz="914400">
              <a:lnSpc>
                <a:spcPct val="100000"/>
              </a:lnSpc>
              <a:spcAft>
                <a:spcPts val="60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Новые правила: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reportAny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,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reportInvalidCast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и другие.</a:t>
            </a:r>
          </a:p>
          <a:p>
            <a:pPr marL="180000" marR="0" lvl="0" indent="-180000" algn="l" defTabSz="914400">
              <a:lnSpc>
                <a:spcPct val="100000"/>
              </a:lnSpc>
              <a:spcAft>
                <a:spcPts val="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failOnWarnings = true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предупреждение ломает CI.</a:t>
            </a:r>
          </a:p>
        </p:txBody>
      </p:sp>
      <p:sp>
        <p:nvSpPr>
          <p:cNvPr id="5" name="based-heading-modes">
            <a:extLst>
              <a:ext uri="{FF2B5EF4-FFF2-40B4-BE49-F238E27FC236}">
                <a16:creationId xmlns:a16="http://schemas.microsoft.com/office/drawing/2014/main" id="{EF067C49-D301-4204-A1E0-0BBE8A413A9C}"/>
              </a:ext>
            </a:extLst>
          </p:cNvPr>
          <p:cNvSpPr>
            <a:spLocks noGrp="1"/>
          </p:cNvSpPr>
          <p:nvPr/>
        </p:nvSpPr>
        <p:spPr>
          <a:xfrm>
            <a:off x="6572250" y="987138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Режимы проверки</a:t>
            </a:r>
          </a:p>
        </p:txBody>
      </p:sp>
      <p:sp>
        <p:nvSpPr>
          <p:cNvPr id="6" name="based-modes">
            <a:extLst>
              <a:ext uri="{FF2B5EF4-FFF2-40B4-BE49-F238E27FC236}">
                <a16:creationId xmlns:a16="http://schemas.microsoft.com/office/drawing/2014/main" id="{3DB16ECD-5E63-43C1-ACD9-3A9C13C150A6}"/>
              </a:ext>
            </a:extLst>
          </p:cNvPr>
          <p:cNvSpPr>
            <a:spLocks noGrp="1"/>
          </p:cNvSpPr>
          <p:nvPr/>
        </p:nvSpPr>
        <p:spPr>
          <a:xfrm>
            <a:off x="6572250" y="1405962"/>
            <a:ext cx="4933950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Pyright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по умолчанию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standard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basedpyright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по умолчанию </a:t>
            </a:r>
            <a:r>
              <a:rPr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recommended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recommended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ошибки и предупреждения; оба уровня останавливают CLI.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all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почти все правила имеют уровень </a:t>
            </a:r>
            <a:r>
              <a:rPr b="0" i="0" u="none" cap="none" spc="0">
                <a:ln>
                  <a:noFill/>
                </a:ln>
                <a:solidFill>
                  <a:srgbClr val="A13B24"/>
                </a:solidFill>
                <a:latin typeface="Courier New"/>
                <a:ea typeface="Courier New"/>
                <a:cs typeface="Courier New"/>
              </a:rPr>
              <a:t>error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based-heading-config">
            <a:extLst>
              <a:ext uri="{FF2B5EF4-FFF2-40B4-BE49-F238E27FC236}">
                <a16:creationId xmlns:a16="http://schemas.microsoft.com/office/drawing/2014/main" id="{475310FB-B085-4F3D-84B2-97C16C64A700}"/>
              </a:ext>
            </a:extLst>
          </p:cNvPr>
          <p:cNvSpPr>
            <a:spLocks noGrp="1"/>
          </p:cNvSpPr>
          <p:nvPr/>
        </p:nvSpPr>
        <p:spPr>
          <a:xfrm>
            <a:off x="685800" y="3520002"/>
            <a:ext cx="600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5B6878"/>
                </a:solidFill>
                <a:latin typeface="Calibri"/>
                <a:ea typeface="Calibri"/>
                <a:cs typeface="Calibri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5B6878"/>
                </a:solidFill>
                <a:latin typeface="Calibri"/>
                <a:ea typeface="Calibri"/>
                <a:cs typeface="Calibri"/>
              </a:rPr>
              <a:t>Пример конфигурации</a:t>
            </a:r>
          </a:p>
        </p:txBody>
      </p:sp>
      <p:sp>
        <p:nvSpPr>
          <p:cNvPr id="8" name="based-config">
            <a:extLst>
              <a:ext uri="{FF2B5EF4-FFF2-40B4-BE49-F238E27FC236}">
                <a16:creationId xmlns:a16="http://schemas.microsoft.com/office/drawing/2014/main" id="{87725CE1-D53C-40EF-B0D7-047F13E30CB9}"/>
              </a:ext>
            </a:extLst>
          </p:cNvPr>
          <p:cNvSpPr>
            <a:spLocks noGrp="1"/>
          </p:cNvSpPr>
          <p:nvPr/>
        </p:nvSpPr>
        <p:spPr>
          <a:xfrm>
            <a:off x="685800" y="3870889"/>
            <a:ext cx="6446520" cy="2245699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 lIns="108000" tIns="108000" rIns="108000" bIns="720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[tool.basedpyright]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typeCheckingMode = "recommended"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pythonPlatform = "All"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failOnWarnings = true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baselineFile = ".basedpyright/baseline.json"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reportAny = "warning"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ourier New"/>
                <a:ea typeface="Courier New"/>
                <a:cs typeface="Courier New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ourier New"/>
                <a:ea typeface="Courier New"/>
                <a:cs typeface="Courier New"/>
              </a:rPr>
              <a:t>reportInvalidCast = "error"</a:t>
            </a:r>
          </a:p>
        </p:txBody>
      </p:sp>
      <p:sp>
        <p:nvSpPr>
          <p:cNvPr id="10" name="based-baseline">
            <a:extLst>
              <a:ext uri="{FF2B5EF4-FFF2-40B4-BE49-F238E27FC236}">
                <a16:creationId xmlns:a16="http://schemas.microsoft.com/office/drawing/2014/main" id="{3805FC57-AED6-413F-844A-1E3E86BBE4B3}"/>
              </a:ext>
            </a:extLst>
          </p:cNvPr>
          <p:cNvSpPr>
            <a:spLocks noGrp="1"/>
          </p:cNvSpPr>
          <p:nvPr/>
        </p:nvSpPr>
        <p:spPr>
          <a:xfrm>
            <a:off x="7238999" y="3714750"/>
            <a:ext cx="4630783" cy="2095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14300">
              <a:spcAft>
                <a:spcPts val="800"/>
              </a:spcAft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5B6878"/>
                </a:solidFill>
                <a:latin typeface="Calibri"/>
                <a:ea typeface="Calibri"/>
                <a:cs typeface="Calibri"/>
              </a:rPr>
              <a:t>Baseline для старого проекта</a:t>
            </a:r>
          </a:p>
          <a:p>
            <a:pPr marL="177750" marR="0" lvl="0" indent="-177750" algn="l" defTabSz="914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basedpyright --writebaseline</a:t>
            </a:r>
            <a:r>
              <a:rPr sz="1600"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фиксирует уже существующие диагностики.</a:t>
            </a:r>
          </a:p>
          <a:p>
            <a:pPr marL="177750" marR="0" lvl="0" indent="-177750" algn="l" defTabSz="914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Новые проблемы продолжают останавливать CI.</a:t>
            </a:r>
          </a:p>
          <a:p>
            <a:pPr marL="177750" marR="0" lvl="0" indent="-177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.basedpyright/baseline.json</a:t>
            </a:r>
            <a:r>
              <a:rPr sz="1600"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храним в Git; файл уменьшается по мере исправлений.</a:t>
            </a:r>
          </a:p>
        </p:txBody>
      </p:sp>
      <p:sp>
        <p:nvSpPr>
          <p:cNvPr id="11" name="based-takeaway">
            <a:extLst>
              <a:ext uri="{FF2B5EF4-FFF2-40B4-BE49-F238E27FC236}">
                <a16:creationId xmlns:a16="http://schemas.microsoft.com/office/drawing/2014/main" id="{128F6EF6-371C-4672-B47C-E73B9E0F0EAC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457200"/>
          </a:xfrm>
          <a:prstGeom prst="rect">
            <a:avLst/>
          </a:prstGeom>
          <a:solidFill>
            <a:srgbClr val="EAF1F8"/>
          </a:solidFill>
          <a:ln w="0">
            <a:noFill/>
          </a:ln>
        </p:spPr>
        <p:txBody>
          <a:bodyPr lIns="152400" tIns="38100" rIns="152400" bIns="38100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93746"/>
                </a:solidFill>
                <a:latin typeface="Calibri"/>
                <a:ea typeface="Calibri"/>
                <a:cs typeface="Calibri"/>
              </a:defRPr>
            </a:pP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В сквозном проекте оставляем </a:t>
            </a: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Pyright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: </a:t>
            </a:r>
            <a:r>
              <a:rPr b="1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basedpyright</a:t>
            </a:r>
            <a:r>
              <a:rPr b="0" i="0" u="none" cap="none" spc="0">
                <a:ln>
                  <a:noFill/>
                </a:ln>
                <a:solidFill>
                  <a:srgbClr val="293746"/>
                </a:solidFill>
                <a:latin typeface="Calibri"/>
                <a:ea typeface="Calibri"/>
                <a:cs typeface="Calibri"/>
              </a:rPr>
              <a:t> показываем как совместимую строгую альтернативу.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EA4C48F0-BAFB-4C7D-88BE-5EB00421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4359184" cy="1619250"/>
          </a:xfrm>
        </p:spPr>
        <p:txBody>
          <a:bodyPr anchor="b"/>
          <a:lstStyle/>
          <a:p>
            <a:r>
              <a:t>uv</a:t>
            </a:r>
          </a:p>
        </p:txBody>
      </p:sp>
      <p:pic>
        <p:nvPicPr>
          <p:cNvPr id="5" name="Рисунок 2"/>
          <p:cNvPicPr>
            <a:picLocks noChangeAspect="1"/>
          </p:cNvPicPr>
          <p:nvPr/>
        </p:nvPicPr>
        <p:blipFill>
          <a:blip r:embed="rId3"/>
          <a:srcRect l="2971" t="21764" r="9328" b="12956"/>
          <a:stretch>
            <a:fillRect/>
          </a:stretch>
        </p:blipFill>
        <p:spPr>
          <a:xfrm>
            <a:off x="3389745" y="2216728"/>
            <a:ext cx="6816436" cy="285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>
            <a:stCxn id="9" idx="0"/>
            <a:endCxn id="7" idx="2"/>
          </p:cNvCxnSpPr>
          <p:nvPr/>
        </p:nvCxnSpPr>
        <p:spPr>
          <a:xfrm flipV="1">
            <a:off x="6834188" y="5848350"/>
            <a:ext cx="0" cy="104775"/>
          </a:xfrm>
          <a:prstGeom prst="straightConnector1">
            <a:avLst/>
          </a:prstGeom>
          <a:ln w="15240">
            <a:solidFill>
              <a:srgbClr val="5B6878"/>
            </a:solidFill>
            <a:prstDash val="solid"/>
            <a:tailEnd type="triangle" w="sm" len="sm"/>
          </a:ln>
        </p:spPr>
      </p:cxnSp>
      <p:cxnSp>
        <p:nvCxnSpPr>
          <p:cNvPr id="18" name="Прямая со стрелкой 17"/>
          <p:cNvCxnSpPr>
            <a:stCxn id="7" idx="3"/>
            <a:endCxn id="8" idx="1"/>
          </p:cNvCxnSpPr>
          <p:nvPr/>
        </p:nvCxnSpPr>
        <p:spPr>
          <a:xfrm>
            <a:off x="7715250" y="5495925"/>
            <a:ext cx="61912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19" name="Прямая со стрелкой 18"/>
          <p:cNvCxnSpPr>
            <a:stCxn id="6" idx="3"/>
            <a:endCxn id="7" idx="1"/>
          </p:cNvCxnSpPr>
          <p:nvPr/>
        </p:nvCxnSpPr>
        <p:spPr>
          <a:xfrm>
            <a:off x="5429250" y="5495925"/>
            <a:ext cx="52387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20" name="Прямая со стрелкой 19"/>
          <p:cNvCxnSpPr>
            <a:stCxn id="5" idx="3"/>
            <a:endCxn id="6" idx="1"/>
          </p:cNvCxnSpPr>
          <p:nvPr/>
        </p:nvCxnSpPr>
        <p:spPr>
          <a:xfrm>
            <a:off x="3019425" y="5495925"/>
            <a:ext cx="4572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B7B2A-962F-4787-A571-659D46FB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uv: что это и для чего нужен</a:t>
            </a:r>
          </a:p>
        </p:txBody>
      </p:sp>
      <p:sp>
        <p:nvSpPr>
          <p:cNvPr id="3" name="uv-overview">
            <a:extLst>
              <a:ext uri="{FF2B5EF4-FFF2-40B4-BE49-F238E27FC236}">
                <a16:creationId xmlns:a16="http://schemas.microsoft.com/office/drawing/2014/main" id="{4B3B0EC8-2D86-464C-9B7C-F613C8F2A1D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>
              <a:lnSpc>
                <a:spcPct val="106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2000" b="1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— быстрый менеджер пакетов и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Python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-проектов, написанный на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Rust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marR="0" lvl="0" indent="-180000" algn="l" defTabSz="914400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Устанавливает нужную версию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Python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создаёт .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venv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marR="0" lvl="0" indent="-180000" algn="l" defTabSz="914400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Добавляет, удаляет и синхронизирует зависимости по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marR="0" lvl="0" indent="-180000" algn="l" defTabSz="914400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Фиксирует точные версии в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поэтому окружение воспроизводится локально и в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CI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marR="0" lvl="0" indent="-180000" algn="l" defTabSz="914400">
              <a:lnSpc>
                <a:spcPct val="106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Запускает команды проекта через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run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а отдельные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CLI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-инструменты через </a:t>
            </a:r>
            <a:r>
              <a:rPr lang="en-US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uvx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0" marR="0" lvl="0" indent="0" algn="l" defTabSz="9144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1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Зачем нужен: </a:t>
            </a:r>
            <a:r>
              <a:rPr lang="ru-RU" sz="2000" b="0" i="0" u="none" strike="noStrike" cap="none" spc="0" baseline="0">
                <a:ln>
                  <a:noFill/>
                </a:ln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заменяет несколько утилит одним быстрым интерфейсом и сокращает число ручных шагов.</a:t>
            </a:r>
          </a:p>
        </p:txBody>
      </p:sp>
      <p:sp>
        <p:nvSpPr>
          <p:cNvPr id="5" name="flow-pyproject">
            <a:extLst>
              <a:ext uri="{FF2B5EF4-FFF2-40B4-BE49-F238E27FC236}">
                <a16:creationId xmlns:a16="http://schemas.microsoft.com/office/drawing/2014/main" id="{380B68AB-F042-4921-8F45-429FCABB8C71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2333625" cy="704850"/>
          </a:xfrm>
          <a:prstGeom prst="roundRect">
            <a:avLst>
              <a:gd name="adj" fmla="val 10811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ограничения и группы зависимостей</a:t>
            </a:r>
          </a:p>
        </p:txBody>
      </p:sp>
      <p:sp>
        <p:nvSpPr>
          <p:cNvPr id="6" name="flow-lock">
            <a:extLst>
              <a:ext uri="{FF2B5EF4-FFF2-40B4-BE49-F238E27FC236}">
                <a16:creationId xmlns:a16="http://schemas.microsoft.com/office/drawing/2014/main" id="{AD509958-5787-47C7-A322-95410B06E99A}"/>
              </a:ext>
            </a:extLst>
          </p:cNvPr>
          <p:cNvSpPr>
            <a:spLocks noGrp="1"/>
          </p:cNvSpPr>
          <p:nvPr/>
        </p:nvSpPr>
        <p:spPr>
          <a:xfrm>
            <a:off x="3476625" y="5143500"/>
            <a:ext cx="1952625" cy="704850"/>
          </a:xfrm>
          <a:prstGeom prst="roundRect">
            <a:avLst>
              <a:gd name="adj" fmla="val 10811"/>
            </a:avLst>
          </a:prstGeom>
          <a:solidFill>
            <a:srgbClr val="EAF1F8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точные версии и полный граф</a:t>
            </a:r>
          </a:p>
        </p:txBody>
      </p:sp>
      <p:sp>
        <p:nvSpPr>
          <p:cNvPr id="7" name="flow-venv">
            <a:extLst>
              <a:ext uri="{FF2B5EF4-FFF2-40B4-BE49-F238E27FC236}">
                <a16:creationId xmlns:a16="http://schemas.microsoft.com/office/drawing/2014/main" id="{F9F156C6-EBA0-4371-B948-C89D74BF2714}"/>
              </a:ext>
            </a:extLst>
          </p:cNvPr>
          <p:cNvSpPr>
            <a:spLocks noGrp="1"/>
          </p:cNvSpPr>
          <p:nvPr/>
        </p:nvSpPr>
        <p:spPr>
          <a:xfrm>
            <a:off x="5953125" y="51435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EAF4EA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.venv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установленные пакеты</a:t>
            </a:r>
          </a:p>
        </p:txBody>
      </p:sp>
      <p:sp>
        <p:nvSpPr>
          <p:cNvPr id="8" name="flow-command">
            <a:extLst>
              <a:ext uri="{FF2B5EF4-FFF2-40B4-BE49-F238E27FC236}">
                <a16:creationId xmlns:a16="http://schemas.microsoft.com/office/drawing/2014/main" id="{0E094B4F-232E-4787-AC8E-D5BAFC3D11F5}"/>
              </a:ext>
            </a:extLst>
          </p:cNvPr>
          <p:cNvSpPr>
            <a:spLocks noGrp="1"/>
          </p:cNvSpPr>
          <p:nvPr/>
        </p:nvSpPr>
        <p:spPr>
          <a:xfrm>
            <a:off x="8334375" y="5143500"/>
            <a:ext cx="3171825" cy="704850"/>
          </a:xfrm>
          <a:prstGeom prst="roundRect">
            <a:avLst>
              <a:gd name="adj" fmla="val 10811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run &lt;command&gt;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процесс в окружении проекта</a:t>
            </a:r>
          </a:p>
        </p:txBody>
      </p:sp>
      <p:sp>
        <p:nvSpPr>
          <p:cNvPr id="9" name="flow-python-version">
            <a:extLst>
              <a:ext uri="{FF2B5EF4-FFF2-40B4-BE49-F238E27FC236}">
                <a16:creationId xmlns:a16="http://schemas.microsoft.com/office/drawing/2014/main" id="{D058AA39-538B-4350-8670-DC7F54BDDF4A}"/>
              </a:ext>
            </a:extLst>
          </p:cNvPr>
          <p:cNvSpPr>
            <a:spLocks noGrp="1"/>
          </p:cNvSpPr>
          <p:nvPr/>
        </p:nvSpPr>
        <p:spPr>
          <a:xfrm>
            <a:off x="5953125" y="5953125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163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.python-version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163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выбор интерпретатора</a:t>
            </a:r>
          </a:p>
        </p:txBody>
      </p:sp>
      <p:sp>
        <p:nvSpPr>
          <p:cNvPr id="14" name="flow-label-lock">
            <a:extLst>
              <a:ext uri="{FF2B5EF4-FFF2-40B4-BE49-F238E27FC236}">
                <a16:creationId xmlns:a16="http://schemas.microsoft.com/office/drawing/2014/main" id="{B9B90429-255A-4836-9343-562BBA706A5B}"/>
              </a:ext>
            </a:extLst>
          </p:cNvPr>
          <p:cNvSpPr>
            <a:spLocks noGrp="1"/>
          </p:cNvSpPr>
          <p:nvPr/>
        </p:nvSpPr>
        <p:spPr>
          <a:xfrm>
            <a:off x="2914650" y="4962525"/>
            <a:ext cx="6858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lock</a:t>
            </a:r>
          </a:p>
        </p:txBody>
      </p:sp>
      <p:sp>
        <p:nvSpPr>
          <p:cNvPr id="15" name="flow-label-sync">
            <a:extLst>
              <a:ext uri="{FF2B5EF4-FFF2-40B4-BE49-F238E27FC236}">
                <a16:creationId xmlns:a16="http://schemas.microsoft.com/office/drawing/2014/main" id="{33BC1888-7F1C-4097-B345-462401C6DA88}"/>
              </a:ext>
            </a:extLst>
          </p:cNvPr>
          <p:cNvSpPr>
            <a:spLocks noGrp="1"/>
          </p:cNvSpPr>
          <p:nvPr/>
        </p:nvSpPr>
        <p:spPr>
          <a:xfrm>
            <a:off x="5410200" y="4962525"/>
            <a:ext cx="5810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sync</a:t>
            </a:r>
          </a:p>
        </p:txBody>
      </p:sp>
      <p:sp>
        <p:nvSpPr>
          <p:cNvPr id="16" name="flow-label-run">
            <a:extLst>
              <a:ext uri="{FF2B5EF4-FFF2-40B4-BE49-F238E27FC236}">
                <a16:creationId xmlns:a16="http://schemas.microsoft.com/office/drawing/2014/main" id="{C8662CEF-CDFE-484A-8C8A-53776EC418E9}"/>
              </a:ext>
            </a:extLst>
          </p:cNvPr>
          <p:cNvSpPr>
            <a:spLocks noGrp="1"/>
          </p:cNvSpPr>
          <p:nvPr/>
        </p:nvSpPr>
        <p:spPr>
          <a:xfrm>
            <a:off x="7724775" y="4962525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run</a:t>
            </a:r>
          </a:p>
        </p:txBody>
      </p:sp>
    </p:spTree>
    <p:extLst>
      <p:ext uri="{BB962C8B-B14F-4D97-AF65-F5344CB8AC3E}">
        <p14:creationId xmlns:p14="http://schemas.microsoft.com/office/powerpoint/2010/main" val="1368364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84FE6-AFB5-441D-8F2F-6E05D6305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1391"/>
            <a:ext cx="10820400" cy="704850"/>
          </a:xfrm>
        </p:spPr>
        <p:txBody>
          <a:bodyPr/>
          <a:lstStyle/>
          <a:p>
            <a:r>
              <a:rPr lang="ru-RU"/>
              <a:t>uv: окружение и зависимости</a:t>
            </a:r>
            <a:endParaRPr lang="ru-RU" dirty="0"/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FA45B76B-83B6-4023-B2ED-17051D16F860}"/>
              </a:ext>
            </a:extLst>
          </p:cNvPr>
          <p:cNvSpPr>
            <a:spLocks noGrp="1"/>
          </p:cNvSpPr>
          <p:nvPr/>
        </p:nvSpPr>
        <p:spPr>
          <a:xfrm>
            <a:off x="685800" y="1102417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25" b="0" dirty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A96C3E2B-1CE5-4470-B5A2-393B831B45DF}"/>
              </a:ext>
            </a:extLst>
          </p:cNvPr>
          <p:cNvSpPr>
            <a:spLocks noGrp="1"/>
          </p:cNvSpPr>
          <p:nvPr/>
        </p:nvSpPr>
        <p:spPr>
          <a:xfrm>
            <a:off x="685800" y="1407217"/>
            <a:ext cx="6191250" cy="220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33350" bIns="114300" anchor="t">
            <a:noAutofit/>
          </a:bodyPr>
          <a:lstStyle/>
          <a:p>
            <a:pPr>
              <a:lnSpc>
                <a:spcPct val="100000"/>
              </a:lnSpc>
              <a:buNone/>
              <a:defRPr>
                <a:solidFill>
                  <a:srgbClr val="53FF68"/>
                </a:solidFill>
                <a:latin typeface="Courier New"/>
                <a:ea typeface="Courier New"/>
                <a:cs typeface="Courier New"/>
              </a:defRPr>
            </a:pPr>
            <a:r>
              <a:rPr sz="2000">
                <a:solidFill>
                  <a:srgbClr val="53FF68"/>
                </a:solidFill>
                <a:latin typeface="Lucida Console"/>
                <a:ea typeface="Lucida Console"/>
                <a:cs typeface="Lucida Console"/>
              </a:rPr>
              <a:t>$ uv add --dev pre-commit</a:t>
            </a:r>
          </a:p>
          <a:p>
            <a:pPr>
              <a:lnSpc>
                <a:spcPct val="100000"/>
              </a:lnSpc>
              <a:buNone/>
              <a:defRPr>
                <a:solidFill>
                  <a:srgbClr val="53FF68"/>
                </a:solidFill>
                <a:latin typeface="Courier New"/>
                <a:ea typeface="Courier New"/>
                <a:cs typeface="Courier New"/>
              </a:defRPr>
            </a:pPr>
            <a:r>
              <a:rPr sz="2000">
                <a:solidFill>
                  <a:srgbClr val="53FF68"/>
                </a:solidFill>
                <a:latin typeface="Lucida Console"/>
                <a:ea typeface="Lucida Console"/>
                <a:cs typeface="Lucida Console"/>
              </a:rPr>
              <a:t>$ uv add --group lint ruff pyright</a:t>
            </a:r>
          </a:p>
          <a:p>
            <a:pPr>
              <a:lnSpc>
                <a:spcPct val="100000"/>
              </a:lnSpc>
              <a:buNone/>
              <a:defRPr>
                <a:solidFill>
                  <a:srgbClr val="53FF68"/>
                </a:solidFill>
                <a:latin typeface="Courier New"/>
                <a:ea typeface="Courier New"/>
                <a:cs typeface="Courier New"/>
              </a:defRPr>
            </a:pPr>
            <a:r>
              <a:rPr sz="2000">
                <a:solidFill>
                  <a:srgbClr val="53FF68"/>
                </a:solidFill>
                <a:latin typeface="Lucida Console"/>
                <a:ea typeface="Lucida Console"/>
                <a:cs typeface="Lucida Console"/>
              </a:rPr>
              <a:t>$ uv add --group test pytest</a:t>
            </a:r>
          </a:p>
          <a:p>
            <a:pPr>
              <a:lnSpc>
                <a:spcPct val="100000"/>
              </a:lnSpc>
              <a:buNone/>
              <a:defRPr>
                <a:solidFill>
                  <a:srgbClr val="53FF68"/>
                </a:solidFill>
                <a:latin typeface="Courier New"/>
                <a:ea typeface="Courier New"/>
                <a:cs typeface="Courier New"/>
              </a:defRPr>
            </a:pPr>
            <a:r>
              <a:rPr sz="2000">
                <a:solidFill>
                  <a:srgbClr val="53FF68"/>
                </a:solidFill>
                <a:latin typeface="Lucida Console"/>
                <a:ea typeface="Lucida Console"/>
                <a:cs typeface="Lucida Console"/>
              </a:rPr>
              <a:t>$ uv sync --group lint --group test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3AA38C0-28C5-4699-A6D4-CC9460E2E09D}"/>
              </a:ext>
            </a:extLst>
          </p:cNvPr>
          <p:cNvSpPr>
            <a:spLocks noGrp="1"/>
          </p:cNvSpPr>
          <p:nvPr/>
        </p:nvSpPr>
        <p:spPr>
          <a:xfrm>
            <a:off x="7089913" y="1407217"/>
            <a:ext cx="4267200" cy="5269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3000"/>
              </a:lnSpc>
              <a:spcAft>
                <a:spcPts val="11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Группа зависимостей — именованный набор пакетов для отдельной задачи разработки.</a:t>
            </a:r>
          </a:p>
          <a:p>
            <a:pPr marL="180000" indent="-180000">
              <a:spcAft>
                <a:spcPts val="650"/>
              </a:spcAft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b="1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dev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— общие инструменты.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включает эту группу по умолчанию.</a:t>
            </a:r>
          </a:p>
          <a:p>
            <a:pPr marL="180000" indent="-180000">
              <a:spcAft>
                <a:spcPts val="650"/>
              </a:spcAft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lint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test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docs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— произвольные группы для разных проверок.</a:t>
            </a:r>
          </a:p>
          <a:p>
            <a:pPr marL="180000" indent="-180000">
              <a:spcAft>
                <a:spcPts val="650"/>
              </a:spcAft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--group lint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подключает группу;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--only-group test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оставляет только выбранную.</a:t>
            </a:r>
          </a:p>
          <a:p>
            <a:pPr marL="180000" indent="-180000"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Группы хранятся в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[dependency-groups]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попадают в </a:t>
            </a:r>
            <a:r>
              <a:rPr lang="ru-RU" sz="200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но не в зависимости публикуемого пакета.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20A9E-D0A8-46D5-8CD3-3036F644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Файлы проекта uv</a:t>
            </a:r>
          </a:p>
        </p:txBody>
      </p:sp>
      <p:sp>
        <p:nvSpPr>
          <p:cNvPr id="3" name="label pyproject.toml">
            <a:extLst>
              <a:ext uri="{FF2B5EF4-FFF2-40B4-BE49-F238E27FC236}">
                <a16:creationId xmlns:a16="http://schemas.microsoft.com/office/drawing/2014/main" id="{DCD63128-E61D-404B-BB49-0A96B654474D}"/>
              </a:ext>
            </a:extLst>
          </p:cNvPr>
          <p:cNvSpPr>
            <a:spLocks noGrp="1"/>
          </p:cNvSpPr>
          <p:nvPr/>
        </p:nvSpPr>
        <p:spPr>
          <a:xfrm>
            <a:off x="674904" y="1077687"/>
            <a:ext cx="5290127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pyproject.toml</a:t>
            </a:r>
            <a:endParaRPr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toml">
            <a:extLst>
              <a:ext uri="{FF2B5EF4-FFF2-40B4-BE49-F238E27FC236}">
                <a16:creationId xmlns:a16="http://schemas.microsoft.com/office/drawing/2014/main" id="{25490B36-EE48-4D6F-9BBB-7375EDAC054D}"/>
              </a:ext>
            </a:extLst>
          </p:cNvPr>
          <p:cNvSpPr>
            <a:spLocks noGrp="1"/>
          </p:cNvSpPr>
          <p:nvPr/>
        </p:nvSpPr>
        <p:spPr>
          <a:xfrm>
            <a:off x="674904" y="1382487"/>
            <a:ext cx="5290127" cy="3532142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08000" tIns="108000" rIns="108000" bIns="720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[project]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"python-ci-demo"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version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"0.1.0"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requires-python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"&gt;=3.12"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dependencies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[]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[dependency-groups]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dev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[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"ruff"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"pyright"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,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"pre-commit"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"pytest"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,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19BC219-95E3-475C-983E-B2FE84424778}"/>
              </a:ext>
            </a:extLst>
          </p:cNvPr>
          <p:cNvSpPr>
            <a:spLocks noGrp="1"/>
          </p:cNvSpPr>
          <p:nvPr/>
        </p:nvSpPr>
        <p:spPr>
          <a:xfrm>
            <a:off x="6154161" y="1258662"/>
            <a:ext cx="5290127" cy="36192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pyproject.toml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описывает проект и зависимости.</a:t>
            </a: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uv.lock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фиксирует разрешённые версии. Его коммитим.</a:t>
            </a: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python-version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выбирает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для локальной работы.</a:t>
            </a: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venv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создаётся локально и не попадает в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Git.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480E612C-045B-5DE5-71C5-6B51696993A9}"/>
              </a:ext>
            </a:extLst>
          </p:cNvPr>
          <p:cNvCxnSpPr>
            <a:stCxn id="14" idx="0"/>
            <a:endCxn id="12" idx="2"/>
          </p:cNvCxnSpPr>
          <p:nvPr/>
        </p:nvCxnSpPr>
        <p:spPr>
          <a:xfrm flipV="1">
            <a:off x="6834188" y="6039941"/>
            <a:ext cx="0" cy="104775"/>
          </a:xfrm>
          <a:prstGeom prst="straightConnector1">
            <a:avLst/>
          </a:prstGeom>
          <a:ln w="15240">
            <a:solidFill>
              <a:srgbClr val="5B6878"/>
            </a:solidFill>
            <a:prstDash val="solid"/>
            <a:tailEnd type="triangle" w="sm" len="sm"/>
          </a:ln>
        </p:spPr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41BB9C64-9943-53AE-51B1-D54A0537753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715250" y="5687516"/>
            <a:ext cx="61912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27AA3BC-9009-186F-4ACF-E7C80746CB6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429250" y="5687516"/>
            <a:ext cx="52387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F1F273B-2B99-FCE7-35F5-314EFF5F2B9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19425" y="5687516"/>
            <a:ext cx="4572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10" name="flow-pyproject">
            <a:extLst>
              <a:ext uri="{FF2B5EF4-FFF2-40B4-BE49-F238E27FC236}">
                <a16:creationId xmlns:a16="http://schemas.microsoft.com/office/drawing/2014/main" id="{35F1E2E5-2DDF-5CE4-4A4F-84167F4F31E1}"/>
              </a:ext>
            </a:extLst>
          </p:cNvPr>
          <p:cNvSpPr>
            <a:spLocks noGrp="1"/>
          </p:cNvSpPr>
          <p:nvPr/>
        </p:nvSpPr>
        <p:spPr>
          <a:xfrm>
            <a:off x="685800" y="5335091"/>
            <a:ext cx="2333625" cy="704850"/>
          </a:xfrm>
          <a:prstGeom prst="roundRect">
            <a:avLst>
              <a:gd name="adj" fmla="val 10811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ограничения и группы зависимостей</a:t>
            </a:r>
          </a:p>
        </p:txBody>
      </p:sp>
      <p:sp>
        <p:nvSpPr>
          <p:cNvPr id="11" name="flow-lock">
            <a:extLst>
              <a:ext uri="{FF2B5EF4-FFF2-40B4-BE49-F238E27FC236}">
                <a16:creationId xmlns:a16="http://schemas.microsoft.com/office/drawing/2014/main" id="{1EF36EC0-D8F8-1986-C3CE-7D47DB220BF3}"/>
              </a:ext>
            </a:extLst>
          </p:cNvPr>
          <p:cNvSpPr>
            <a:spLocks noGrp="1"/>
          </p:cNvSpPr>
          <p:nvPr/>
        </p:nvSpPr>
        <p:spPr>
          <a:xfrm>
            <a:off x="3476625" y="5335091"/>
            <a:ext cx="1952625" cy="704850"/>
          </a:xfrm>
          <a:prstGeom prst="roundRect">
            <a:avLst>
              <a:gd name="adj" fmla="val 10811"/>
            </a:avLst>
          </a:prstGeom>
          <a:solidFill>
            <a:srgbClr val="EAF1F8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точные версии и полный граф</a:t>
            </a:r>
          </a:p>
        </p:txBody>
      </p:sp>
      <p:sp>
        <p:nvSpPr>
          <p:cNvPr id="12" name="flow-venv">
            <a:extLst>
              <a:ext uri="{FF2B5EF4-FFF2-40B4-BE49-F238E27FC236}">
                <a16:creationId xmlns:a16="http://schemas.microsoft.com/office/drawing/2014/main" id="{88A81C74-857D-3BF3-22C0-FC4A885B8B27}"/>
              </a:ext>
            </a:extLst>
          </p:cNvPr>
          <p:cNvSpPr>
            <a:spLocks noGrp="1"/>
          </p:cNvSpPr>
          <p:nvPr/>
        </p:nvSpPr>
        <p:spPr>
          <a:xfrm>
            <a:off x="5953125" y="5335091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EAF4EA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.venv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установленные пакеты</a:t>
            </a:r>
          </a:p>
        </p:txBody>
      </p:sp>
      <p:sp>
        <p:nvSpPr>
          <p:cNvPr id="13" name="flow-command">
            <a:extLst>
              <a:ext uri="{FF2B5EF4-FFF2-40B4-BE49-F238E27FC236}">
                <a16:creationId xmlns:a16="http://schemas.microsoft.com/office/drawing/2014/main" id="{89D373A4-3761-FBB3-DB2B-C4ABF516F008}"/>
              </a:ext>
            </a:extLst>
          </p:cNvPr>
          <p:cNvSpPr>
            <a:spLocks noGrp="1"/>
          </p:cNvSpPr>
          <p:nvPr/>
        </p:nvSpPr>
        <p:spPr>
          <a:xfrm>
            <a:off x="8334375" y="5335091"/>
            <a:ext cx="3171825" cy="704850"/>
          </a:xfrm>
          <a:prstGeom prst="roundRect">
            <a:avLst>
              <a:gd name="adj" fmla="val 10811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run &lt;command&gt;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275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процесс в окружении проекта</a:t>
            </a:r>
          </a:p>
        </p:txBody>
      </p:sp>
      <p:sp>
        <p:nvSpPr>
          <p:cNvPr id="14" name="flow-python-version">
            <a:extLst>
              <a:ext uri="{FF2B5EF4-FFF2-40B4-BE49-F238E27FC236}">
                <a16:creationId xmlns:a16="http://schemas.microsoft.com/office/drawing/2014/main" id="{635B0D35-9E67-5837-271B-378673F99CFE}"/>
              </a:ext>
            </a:extLst>
          </p:cNvPr>
          <p:cNvSpPr>
            <a:spLocks noGrp="1"/>
          </p:cNvSpPr>
          <p:nvPr/>
        </p:nvSpPr>
        <p:spPr>
          <a:xfrm>
            <a:off x="5953125" y="6144716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7E7E7"/>
          </a:solidFill>
          <a:ln w="13335">
            <a:solidFill>
              <a:srgbClr val="1F4E79"/>
            </a:solidFill>
            <a:prstDash val="solid"/>
          </a:ln>
        </p:spPr>
        <p:txBody>
          <a:bodyPr lIns="95250" tIns="66675" rIns="95250" bIns="66675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en-US" sz="1163" b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.python-version</a:t>
            </a:r>
          </a:p>
          <a:p>
            <a:pPr algn="ctr">
              <a:lnSpc>
                <a:spcPct val="100000"/>
              </a:lnSpc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sz="1163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выбор интерпретатора</a:t>
            </a:r>
          </a:p>
        </p:txBody>
      </p:sp>
      <p:sp>
        <p:nvSpPr>
          <p:cNvPr id="15" name="flow-label-lock">
            <a:extLst>
              <a:ext uri="{FF2B5EF4-FFF2-40B4-BE49-F238E27FC236}">
                <a16:creationId xmlns:a16="http://schemas.microsoft.com/office/drawing/2014/main" id="{C2C2F68E-DA0E-7FF2-243D-3886149FACAF}"/>
              </a:ext>
            </a:extLst>
          </p:cNvPr>
          <p:cNvSpPr>
            <a:spLocks noGrp="1"/>
          </p:cNvSpPr>
          <p:nvPr/>
        </p:nvSpPr>
        <p:spPr>
          <a:xfrm>
            <a:off x="2914650" y="5154116"/>
            <a:ext cx="6858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lock</a:t>
            </a:r>
          </a:p>
        </p:txBody>
      </p:sp>
      <p:sp>
        <p:nvSpPr>
          <p:cNvPr id="16" name="flow-label-sync">
            <a:extLst>
              <a:ext uri="{FF2B5EF4-FFF2-40B4-BE49-F238E27FC236}">
                <a16:creationId xmlns:a16="http://schemas.microsoft.com/office/drawing/2014/main" id="{DD4F86CE-F265-36C6-36AE-3DAC7616CCB4}"/>
              </a:ext>
            </a:extLst>
          </p:cNvPr>
          <p:cNvSpPr>
            <a:spLocks noGrp="1"/>
          </p:cNvSpPr>
          <p:nvPr/>
        </p:nvSpPr>
        <p:spPr>
          <a:xfrm>
            <a:off x="5410200" y="5154116"/>
            <a:ext cx="5810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sync</a:t>
            </a:r>
          </a:p>
        </p:txBody>
      </p:sp>
      <p:sp>
        <p:nvSpPr>
          <p:cNvPr id="17" name="flow-label-run">
            <a:extLst>
              <a:ext uri="{FF2B5EF4-FFF2-40B4-BE49-F238E27FC236}">
                <a16:creationId xmlns:a16="http://schemas.microsoft.com/office/drawing/2014/main" id="{3F61B9BB-7CCA-C6CE-C7B6-BBEE0AC2DC41}"/>
              </a:ext>
            </a:extLst>
          </p:cNvPr>
          <p:cNvSpPr>
            <a:spLocks noGrp="1"/>
          </p:cNvSpPr>
          <p:nvPr/>
        </p:nvSpPr>
        <p:spPr>
          <a:xfrm>
            <a:off x="7724775" y="5154116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>
                <a:solidFill>
                  <a:srgbClr val="1F4E79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05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uv run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81244-F643-4927-BA41-6DD499C5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uv sync, uv run и uvx</a:t>
            </a:r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517852E6-9037-42D9-85FE-6DF732DB722A}"/>
              </a:ext>
            </a:extLst>
          </p:cNvPr>
          <p:cNvSpPr>
            <a:spLocks noGrp="1"/>
          </p:cNvSpPr>
          <p:nvPr/>
        </p:nvSpPr>
        <p:spPr>
          <a:xfrm>
            <a:off x="408709" y="1409700"/>
            <a:ext cx="5604164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25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4BFDD287-9F41-48FD-8B04-7E682DC488BC}"/>
              </a:ext>
            </a:extLst>
          </p:cNvPr>
          <p:cNvSpPr>
            <a:spLocks noGrp="1"/>
          </p:cNvSpPr>
          <p:nvPr/>
        </p:nvSpPr>
        <p:spPr>
          <a:xfrm>
            <a:off x="408709" y="1676400"/>
            <a:ext cx="5604164" cy="436360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uv sync --locked --dev</a:t>
            </a:r>
            <a:endParaRPr sz="24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br>
              <a:rPr sz="2400"/>
            </a:b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uv run --locked python main.py</a:t>
            </a:r>
          </a:p>
          <a:p>
            <a:pPr lvl="0">
              <a:buNone/>
            </a:pPr>
            <a:r>
              <a:rPr sz="200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300.0</a:t>
            </a:r>
            <a:br>
              <a:rPr sz="2400"/>
            </a:br>
            <a:br>
              <a:rPr sz="2400"/>
            </a:br>
            <a:r>
              <a:rPr sz="200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uv run main.py</a:t>
            </a:r>
          </a:p>
          <a:p>
            <a:pPr lvl="0">
              <a:buNone/>
            </a:pPr>
            <a:r>
              <a:rPr sz="2000"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300.0</a:t>
            </a:r>
            <a:endParaRPr sz="24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br>
              <a:rPr sz="2400"/>
            </a:b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uv run --locked pytest -q</a:t>
            </a:r>
            <a:endParaRPr sz="24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3 passed</a:t>
            </a:r>
            <a:endParaRPr sz="24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br>
              <a:rPr sz="2400"/>
            </a:br>
            <a:r>
              <a:rPr sz="2000" b="0" i="0" u="none" cap="none" spc="0">
                <a:ln>
                  <a:noFill/>
                </a:ln>
                <a:solidFill>
                  <a:srgbClr val="72F777"/>
                </a:solidFill>
                <a:latin typeface="Lucida Console"/>
                <a:ea typeface="Lucida Console"/>
                <a:cs typeface="Lucida Console"/>
              </a:rPr>
              <a:t>$ uvx ruff --version</a:t>
            </a:r>
            <a:endParaRPr sz="2400" b="0" i="0" u="none" kern="1200" cap="none" spc="0" baseline="0">
              <a:ln>
                <a:noFill/>
              </a:ln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8473558B-B704-47D4-B7E8-B6ACB5F09EC6}"/>
              </a:ext>
            </a:extLst>
          </p:cNvPr>
          <p:cNvSpPr>
            <a:spLocks noGrp="1"/>
          </p:cNvSpPr>
          <p:nvPr/>
        </p:nvSpPr>
        <p:spPr>
          <a:xfrm>
            <a:off x="6376555" y="1593850"/>
            <a:ext cx="4686300" cy="44461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Aft>
                <a:spcPts val="700"/>
              </a:spcAft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sync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приводит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.venv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к версиям из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indent="-180000">
              <a:spcAft>
                <a:spcPts val="700"/>
              </a:spcAft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run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синхронизирует окружение и запускает команду;</a:t>
            </a:r>
          </a:p>
          <a:p>
            <a:pPr marL="180000" indent="-180000">
              <a:spcAft>
                <a:spcPts val="700"/>
              </a:spcAft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uvx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запускает отдельный инструмент во временном окружении.</a:t>
            </a:r>
          </a:p>
          <a:p>
            <a:pPr>
              <a:lnSpc>
                <a:spcPct val="103000"/>
              </a:lnSpc>
              <a:spcAft>
                <a:spcPts val="550"/>
              </a:spcAft>
              <a:buNone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Что означает </a:t>
            </a:r>
            <a:r>
              <a:rPr lang="ru-RU" dirty="0">
                <a:solidFill>
                  <a:srgbClr val="26323E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--locked</a:t>
            </a:r>
          </a:p>
          <a:p>
            <a:pPr marL="180000" indent="-180000">
              <a:spcAft>
                <a:spcPts val="500"/>
              </a:spcAft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проверяет, что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существует и соответствует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indent="-180000">
              <a:spcAft>
                <a:spcPts val="500"/>
              </a:spcAft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Если lock-файл устарел, команда завершается ошибкой и не изменяет его.</a:t>
            </a:r>
          </a:p>
          <a:p>
            <a:pPr marL="180000" indent="-180000">
              <a:buFont typeface="Arial" panose="020B0604020202020204" pitchFamily="34" charset="0"/>
              <a:buChar char="•"/>
              <a:defRPr>
                <a:solidFill>
                  <a:srgbClr val="26323E"/>
                </a:solidFill>
                <a:latin typeface="Calibri"/>
                <a:ea typeface="Calibri"/>
                <a:cs typeface="Calibri"/>
              </a:defRPr>
            </a:pP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CI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это обнаруживает забытый </a:t>
            </a:r>
            <a:r>
              <a:rPr lang="ru-RU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lang="ru-RU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гарантирует запуск с зафиксированными версиями.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A1E46-8C51-4DE3-9732-17709681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Воспроизводимый запуск</a:t>
            </a:r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138348AC-A149-4957-B866-01E91EAEC14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1FC9B827-90EC-4D7D-9CFF-50E2F7B5900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22669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sync --locked --dev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ruff check .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All checks passed!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 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lock --upgrade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sync --locked --dev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ACE9FB6-26F0-4D31-A254-B4DB2F595C0C}"/>
              </a:ext>
            </a:extLst>
          </p:cNvPr>
          <p:cNvSpPr>
            <a:spLocks noGrp="1"/>
          </p:cNvSpPr>
          <p:nvPr/>
        </p:nvSpPr>
        <p:spPr>
          <a:xfrm>
            <a:off x="8305800" y="1685925"/>
            <a:ext cx="3200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--locked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требует соответствия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--frozen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использует lockfile без проверки его актуальности.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Обновление зависимостей делаем отдельным изменением.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DA5944D-6F3D-4652-B1DE-7EE600E6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uv: обновление одной зависимости</a:t>
            </a:r>
          </a:p>
        </p:txBody>
      </p:sp>
      <p:sp>
        <p:nvSpPr>
          <p:cNvPr id="2" name="label Терминал">
            <a:extLst>
              <a:ext uri="{FF2B5EF4-FFF2-40B4-BE49-F238E27FC236}">
                <a16:creationId xmlns:a16="http://schemas.microsoft.com/office/drawing/2014/main" id="{577F7906-EF47-4DDA-AD40-FA3EFE7FAC2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425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3" name="snippet terminal">
            <a:extLst>
              <a:ext uri="{FF2B5EF4-FFF2-40B4-BE49-F238E27FC236}">
                <a16:creationId xmlns:a16="http://schemas.microsoft.com/office/drawing/2014/main" id="{3E4C1EDE-A020-4B7F-B42E-3C7BF4978FD4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286500" cy="16573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uv lock --upgrade-package ruff</a:t>
            </a:r>
          </a:p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uv sync --locked --dev</a:t>
            </a:r>
          </a:p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ruff check .</a:t>
            </a:r>
          </a:p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uv run --locked pytest -q</a:t>
            </a:r>
          </a:p>
          <a:p>
            <a:pPr>
              <a:lnSpc>
                <a:spcPct val="100000"/>
              </a:lnSpc>
              <a:buNone/>
            </a:pPr>
            <a:r>
              <a:rPr sz="180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git diff -- uv.lock</a:t>
            </a:r>
          </a:p>
        </p:txBody>
      </p:sp>
      <p:sp>
        <p:nvSpPr>
          <p:cNvPr id="4" name="explanation0">
            <a:extLst>
              <a:ext uri="{FF2B5EF4-FFF2-40B4-BE49-F238E27FC236}">
                <a16:creationId xmlns:a16="http://schemas.microsoft.com/office/drawing/2014/main" id="{9891823B-2825-4D44-8DAB-3798330843C5}"/>
              </a:ext>
            </a:extLst>
          </p:cNvPr>
          <p:cNvSpPr>
            <a:spLocks noGrp="1"/>
          </p:cNvSpPr>
          <p:nvPr/>
        </p:nvSpPr>
        <p:spPr>
          <a:xfrm>
            <a:off x="7315200" y="16954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875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--upgrade-package ruff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обновляет выбранный пакет в рамках ограничений проекта.</a:t>
            </a:r>
          </a:p>
        </p:txBody>
      </p:sp>
      <p:sp>
        <p:nvSpPr>
          <p:cNvPr id="5" name="explanation1">
            <a:extLst>
              <a:ext uri="{FF2B5EF4-FFF2-40B4-BE49-F238E27FC236}">
                <a16:creationId xmlns:a16="http://schemas.microsoft.com/office/drawing/2014/main" id="{62881907-B398-4086-B229-6A0934714F54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875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uv lock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меняет lock-файл. </a:t>
            </a:r>
            <a:r>
              <a:rPr sz="1875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uv sync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приводит окружение в соответствие с ним.</a:t>
            </a:r>
          </a:p>
        </p:txBody>
      </p:sp>
      <p:sp>
        <p:nvSpPr>
          <p:cNvPr id="6" name="explanation2">
            <a:extLst>
              <a:ext uri="{FF2B5EF4-FFF2-40B4-BE49-F238E27FC236}">
                <a16:creationId xmlns:a16="http://schemas.microsoft.com/office/drawing/2014/main" id="{D749A4D2-8D46-47E2-B45F-A8280A271EFF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После обновления запускаем проверки и просматриваем diff.</a:t>
            </a:r>
          </a:p>
        </p:txBody>
      </p:sp>
      <p:sp>
        <p:nvSpPr>
          <p:cNvPr id="7" name="explanation3">
            <a:extLst>
              <a:ext uri="{FF2B5EF4-FFF2-40B4-BE49-F238E27FC236}">
                <a16:creationId xmlns:a16="http://schemas.microsoft.com/office/drawing/2014/main" id="{A2CA24F0-E8C6-45B3-8100-3008902976B5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875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uv lock --check</a:t>
            </a:r>
            <a:r>
              <a:rPr sz="1875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проверяет актуальность lock-файла без обновления.</a:t>
            </a:r>
          </a:p>
        </p:txBody>
      </p:sp>
      <p:sp>
        <p:nvSpPr>
          <p:cNvPr id="8" name="takeaway">
            <a:extLst>
              <a:ext uri="{FF2B5EF4-FFF2-40B4-BE49-F238E27FC236}">
                <a16:creationId xmlns:a16="http://schemas.microsoft.com/office/drawing/2014/main" id="{1C6CFB45-8DB5-4304-ACAB-936359F1B2A1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65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uv lock --upgrade</a:t>
            </a: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обновляет все допустимые зависимости. Такое изменение удобнее проверять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2C93A28-DFEF-461C-BF1E-ACECCD42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Окружение uv: успешные проверки</a:t>
            </a:r>
          </a:p>
        </p:txBody>
      </p:sp>
      <p:sp>
        <p:nvSpPr>
          <p:cNvPr id="2" name="label Терминал: повторный запуск, вывод сокращён">
            <a:extLst>
              <a:ext uri="{FF2B5EF4-FFF2-40B4-BE49-F238E27FC236}">
                <a16:creationId xmlns:a16="http://schemas.microsoft.com/office/drawing/2014/main" id="{298DE4D8-A32D-4D6A-AF1C-1737F664CA4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425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повторный запуск, вывод сокращён</a:t>
            </a:r>
          </a:p>
        </p:txBody>
      </p:sp>
      <p:sp>
        <p:nvSpPr>
          <p:cNvPr id="3" name="snippet terminal">
            <a:extLst>
              <a:ext uri="{FF2B5EF4-FFF2-40B4-BE49-F238E27FC236}">
                <a16:creationId xmlns:a16="http://schemas.microsoft.com/office/drawing/2014/main" id="{AF60BDBF-DB45-4B6D-A9AA-6775C6BEFA5F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286500" cy="3248025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sync --locked --dev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Resolved 20 packages in 4ms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Checked 18 packages in 3ms</a:t>
            </a:r>
          </a:p>
          <a:p>
            <a:endParaRPr sz="2000">
              <a:solidFill>
                <a:srgbClr val="72F777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run --locked pyright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0 errors, 0 warnings, 0 informations</a:t>
            </a:r>
          </a:p>
          <a:p>
            <a:endParaRPr sz="2000">
              <a:solidFill>
                <a:srgbClr val="72F777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uv run --locked pytest -q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3 passed in 0.00s</a:t>
            </a:r>
          </a:p>
        </p:txBody>
      </p:sp>
      <p:sp>
        <p:nvSpPr>
          <p:cNvPr id="4" name="explanation0">
            <a:extLst>
              <a:ext uri="{FF2B5EF4-FFF2-40B4-BE49-F238E27FC236}">
                <a16:creationId xmlns:a16="http://schemas.microsoft.com/office/drawing/2014/main" id="{F48EEE63-1402-4F0B-AE0A-9CF4477CF436}"/>
              </a:ext>
            </a:extLst>
          </p:cNvPr>
          <p:cNvSpPr>
            <a:spLocks noGrp="1"/>
          </p:cNvSpPr>
          <p:nvPr/>
        </p:nvSpPr>
        <p:spPr>
          <a:xfrm>
            <a:off x="7315200" y="1695450"/>
            <a:ext cx="4191000" cy="2886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ru-RU" sz="1875" dirty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uv sync</a:t>
            </a:r>
            <a:r>
              <a:rPr lang="ru-RU" sz="1875" dirty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сверяет зависимости проекта и установленное окружение.</a:t>
            </a:r>
          </a:p>
          <a:p>
            <a:pPr>
              <a:spcBef>
                <a:spcPts val="700"/>
              </a:spcBef>
            </a:pPr>
            <a:r>
              <a:rPr lang="ru-RU" sz="1875" dirty="0" err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Checked</a:t>
            </a:r>
            <a:r>
              <a:rPr lang="ru-RU" sz="1875" dirty="0">
                <a:solidFill>
                  <a:srgbClr val="142735"/>
                </a:solidFill>
              </a:rPr>
              <a:t> в этом запуске означает, что необходимые пакеты уже установлены.</a:t>
            </a:r>
          </a:p>
          <a:p>
            <a:pPr>
              <a:spcBef>
                <a:spcPts val="800"/>
              </a:spcBef>
            </a:pPr>
            <a:r>
              <a:rPr lang="ru-RU" sz="1875" dirty="0">
                <a:solidFill>
                  <a:srgbClr val="142735"/>
                </a:solidFill>
              </a:rPr>
              <a:t>Pyright не нашёл ошибок типов. </a:t>
            </a:r>
            <a:r>
              <a:rPr lang="ru-RU" sz="1875" dirty="0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pytest</a:t>
            </a:r>
            <a:r>
              <a:rPr lang="ru-RU" sz="1875" dirty="0">
                <a:solidFill>
                  <a:srgbClr val="142735"/>
                </a:solidFill>
              </a:rPr>
              <a:t> выполнил три теста функции расчёта.</a:t>
            </a:r>
          </a:p>
          <a:p>
            <a:pPr>
              <a:spcBef>
                <a:spcPts val="800"/>
              </a:spcBef>
            </a:pPr>
            <a:r>
              <a:rPr lang="ru-RU" sz="1875" dirty="0">
                <a:solidFill>
                  <a:srgbClr val="142735"/>
                </a:solidFill>
              </a:rPr>
              <a:t>Количество пакетов и время зависят от версии инструментов и окружения.</a:t>
            </a:r>
          </a:p>
          <a:p>
            <a:endParaRPr lang="ru-RU" sz="1875" dirty="0">
              <a:solidFill>
                <a:srgbClr val="142735"/>
              </a:solidFill>
            </a:endParaRPr>
          </a:p>
        </p:txBody>
      </p:sp>
      <p:sp>
        <p:nvSpPr>
          <p:cNvPr id="5" name="explanation1">
            <a:extLst>
              <a:ext uri="{FF2B5EF4-FFF2-40B4-BE49-F238E27FC236}">
                <a16:creationId xmlns:a16="http://schemas.microsoft.com/office/drawing/2014/main" id="{E85BFC1B-F497-4A2B-8A3D-31029F7838F2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explanation2">
            <a:extLst>
              <a:ext uri="{FF2B5EF4-FFF2-40B4-BE49-F238E27FC236}">
                <a16:creationId xmlns:a16="http://schemas.microsoft.com/office/drawing/2014/main" id="{1F85D326-1A6B-478F-BB23-E084CC6FB7FD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xplanation3">
            <a:extLst>
              <a:ext uri="{FF2B5EF4-FFF2-40B4-BE49-F238E27FC236}">
                <a16:creationId xmlns:a16="http://schemas.microsoft.com/office/drawing/2014/main" id="{D7786344-D650-400F-AD37-F70136BCB137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akeaway">
            <a:extLst>
              <a:ext uri="{FF2B5EF4-FFF2-40B4-BE49-F238E27FC236}">
                <a16:creationId xmlns:a16="http://schemas.microsoft.com/office/drawing/2014/main" id="{AA631F47-7A9C-416F-853F-8E9031275005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Вывод показывает успешный запуск. Если проверка падает, читаем диагностику и код завершения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D5CAA03D-BBA5-4C22-ADBC-F8543448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10572750" cy="1619250"/>
          </a:xfrm>
        </p:spPr>
        <p:txBody>
          <a:bodyPr anchor="b"/>
          <a:lstStyle/>
          <a:p>
            <a:r>
              <a:t>make и Makefile</a:t>
            </a:r>
          </a:p>
        </p:txBody>
      </p:sp>
      <p:pic>
        <p:nvPicPr>
          <p:cNvPr id="3" name="Рисунок 2" descr="Makefile]의 동작방식과 all의 의미">
            <a:extLst>
              <a:ext uri="{FF2B5EF4-FFF2-40B4-BE49-F238E27FC236}">
                <a16:creationId xmlns:a16="http://schemas.microsoft.com/office/drawing/2014/main" id="{7CD05C54-4CD4-8BDD-067D-5C66957B5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677" y="544946"/>
            <a:ext cx="3675303" cy="264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F88C2-2A0C-4DDB-9819-2C1742D3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Зачем появился make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26C08A33-49BB-4117-AB5C-FE8B441EFB3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4143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dirty="0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1970-е, Bell Labs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751A0C7C-C196-4DE6-BAE3-11F8C87AC9B9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427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Stuart Feldman автоматизирует сборку программ UNIX.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3B79EAE1-E4A2-41C3-B5AE-FE43935E6E1A}"/>
              </a:ext>
            </a:extLst>
          </p:cNvPr>
          <p:cNvSpPr>
            <a:spLocks noGrp="1"/>
          </p:cNvSpPr>
          <p:nvPr/>
        </p:nvSpPr>
        <p:spPr>
          <a:xfrm>
            <a:off x="685800" y="2005012"/>
            <a:ext cx="3657600" cy="4143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Проблема</a:t>
            </a:r>
            <a:endParaRPr lang="ru-RU"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791C7678-EC19-4003-8A32-A8F57EB6A656}"/>
              </a:ext>
            </a:extLst>
          </p:cNvPr>
          <p:cNvSpPr>
            <a:spLocks noGrp="1"/>
          </p:cNvSpPr>
          <p:nvPr/>
        </p:nvSpPr>
        <p:spPr>
          <a:xfrm>
            <a:off x="4705350" y="2005012"/>
            <a:ext cx="6800850" cy="427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После правки нужно помнить, что перекомпилировать.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A8CAA84C-D155-4DB2-998B-66F3EDB911DB}"/>
              </a:ext>
            </a:extLst>
          </p:cNvPr>
          <p:cNvSpPr>
            <a:spLocks noGrp="1"/>
          </p:cNvSpPr>
          <p:nvPr/>
        </p:nvSpPr>
        <p:spPr>
          <a:xfrm>
            <a:off x="685800" y="2538412"/>
            <a:ext cx="3657600" cy="504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Идея</a:t>
            </a:r>
            <a:endParaRPr lang="ru-RU"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E1981D5D-CFC9-432F-BCBB-C37028680D66}"/>
              </a:ext>
            </a:extLst>
          </p:cNvPr>
          <p:cNvSpPr>
            <a:spLocks noGrp="1"/>
          </p:cNvSpPr>
          <p:nvPr/>
        </p:nvSpPr>
        <p:spPr>
          <a:xfrm>
            <a:off x="4705350" y="2538412"/>
            <a:ext cx="6800850" cy="427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Описать файлы, зависимости и команды обновления.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0DC479B5-414D-413A-B944-C60B738D0FFB}"/>
              </a:ext>
            </a:extLst>
          </p:cNvPr>
          <p:cNvSpPr>
            <a:spLocks noGrp="1"/>
          </p:cNvSpPr>
          <p:nvPr/>
        </p:nvSpPr>
        <p:spPr>
          <a:xfrm>
            <a:off x="685800" y="3100389"/>
            <a:ext cx="3657600" cy="504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Результат</a:t>
            </a:r>
            <a:endParaRPr lang="ru-RU"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E4CA9FDE-EB64-4E6C-A9A8-86F4CB248F4A}"/>
              </a:ext>
            </a:extLst>
          </p:cNvPr>
          <p:cNvSpPr>
            <a:spLocks noGrp="1"/>
          </p:cNvSpPr>
          <p:nvPr/>
        </p:nvSpPr>
        <p:spPr>
          <a:xfrm>
            <a:off x="4705350" y="3100389"/>
            <a:ext cx="6800850" cy="427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запускает нужную часть сборки.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00EDB5B0-F862-4225-8752-D28A9145F6DD}"/>
              </a:ext>
            </a:extLst>
          </p:cNvPr>
          <p:cNvSpPr>
            <a:spLocks noGrp="1"/>
          </p:cNvSpPr>
          <p:nvPr/>
        </p:nvSpPr>
        <p:spPr>
          <a:xfrm>
            <a:off x="685800" y="6271491"/>
            <a:ext cx="10820400" cy="3293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Технический отчёт о </a:t>
            </a:r>
            <a:r>
              <a:rPr lang="ru-RU"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 вышел в 1977 году, журнальная статья в 1979 году.</a:t>
            </a:r>
            <a:endParaRPr lang="ru-RU" sz="1725" b="0" dirty="0">
              <a:solidFill>
                <a:srgbClr val="3A4D5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Рисунок 11" descr="Как выполнить команду make в Visual Studio Code в Windows - Заметки VictorZ">
            <a:extLst>
              <a:ext uri="{FF2B5EF4-FFF2-40B4-BE49-F238E27FC236}">
                <a16:creationId xmlns:a16="http://schemas.microsoft.com/office/drawing/2014/main" id="{0CAA6023-0C6B-776A-70D8-EBF5D9550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491" y="3528291"/>
            <a:ext cx="4659746" cy="23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ACA1F-9A76-4F59-BFD4-678E2F8B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Классическая сборка C</a:t>
            </a:r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236AAE55-FA2A-4A4B-B468-2D246CABAAF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1CFF9781-90FC-4DED-A3AA-DABA701E7ED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225473" cy="16573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cc -c main.c -o main.o</a:t>
            </a:r>
            <a:endParaRPr sz="200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cc -c math.c -o math.o</a:t>
            </a:r>
            <a:endParaRPr sz="200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cc main.o math.o -o calculator</a:t>
            </a:r>
            <a:endParaRPr sz="200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./calculator</a:t>
            </a:r>
            <a:endParaRPr sz="200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D7FAEFD6-A878-41F5-AF45-83CBE6A40E4F}"/>
              </a:ext>
            </a:extLst>
          </p:cNvPr>
          <p:cNvSpPr>
            <a:spLocks noGrp="1"/>
          </p:cNvSpPr>
          <p:nvPr/>
        </p:nvSpPr>
        <p:spPr>
          <a:xfrm>
            <a:off x="6410036" y="1685925"/>
            <a:ext cx="5698837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Компилятор создаёт объектный файл из каждого </a:t>
            </a: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180000" indent="-180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Линкер собирает исполняемый </a:t>
            </a: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calculator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180000" indent="-180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Заголовок </a:t>
            </a: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math.h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влияет на оба объектных файла.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1FC91-F598-4B43-960A-89F300B7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9906"/>
            <a:ext cx="10820400" cy="704850"/>
          </a:xfrm>
        </p:spPr>
        <p:txBody>
          <a:bodyPr/>
          <a:lstStyle/>
          <a:p>
            <a:r>
              <a:rPr lang="ru-RU"/>
              <a:t>Makefile описывает зависимости</a:t>
            </a:r>
            <a:endParaRPr lang="ru-RU" dirty="0"/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7F8E76D7-ABEC-4F31-937D-9EC21D521250}"/>
              </a:ext>
            </a:extLst>
          </p:cNvPr>
          <p:cNvSpPr>
            <a:spLocks noGrp="1"/>
          </p:cNvSpPr>
          <p:nvPr/>
        </p:nvSpPr>
        <p:spPr>
          <a:xfrm>
            <a:off x="307109" y="956541"/>
            <a:ext cx="578889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F89F2A0F-EB7C-4BB8-AE76-106D60E38424}"/>
              </a:ext>
            </a:extLst>
          </p:cNvPr>
          <p:cNvSpPr>
            <a:spLocks noGrp="1"/>
          </p:cNvSpPr>
          <p:nvPr/>
        </p:nvSpPr>
        <p:spPr>
          <a:xfrm>
            <a:off x="307109" y="1261340"/>
            <a:ext cx="5788891" cy="279342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calculator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main.o math.o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main.o math.o -o calculator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o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main.c math.h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-c main.c -o main.o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math.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o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math.c math.h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-c math.c -o math.o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86E82B9C-F28B-421C-9836-041BED4847E3}"/>
              </a:ext>
            </a:extLst>
          </p:cNvPr>
          <p:cNvSpPr>
            <a:spLocks noGrp="1"/>
          </p:cNvSpPr>
          <p:nvPr/>
        </p:nvSpPr>
        <p:spPr>
          <a:xfrm>
            <a:off x="307109" y="4352933"/>
            <a:ext cx="4726709" cy="27934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До дво</a:t>
            </a:r>
            <a:r>
              <a:rPr lang="ru-RU" sz="200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е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точия находится цель (</a:t>
            </a:r>
            <a:r>
              <a:rPr lang="en-US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target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После него перечислены зависимости.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Строка команды начинается с </a:t>
            </a: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TAB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Первый </a:t>
            </a:r>
            <a:r>
              <a:rPr lang="ru-RU" sz="2000" b="0" dirty="0" err="1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target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запускается командой </a:t>
            </a: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B1AB9-2091-3EC1-D23B-BC4071527B78}"/>
              </a:ext>
            </a:extLst>
          </p:cNvPr>
          <p:cNvSpPr txBox="1"/>
          <p:nvPr/>
        </p:nvSpPr>
        <p:spPr>
          <a:xfrm>
            <a:off x="6252557" y="1226936"/>
            <a:ext cx="5451763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$ make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cc -c main.c -o main.o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cc -c math.c -o math.o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cc main.o math.o -o calculator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1">
              <a:ln>
                <a:noFill/>
              </a:ln>
              <a:solidFill>
                <a:srgbClr val="00FA00"/>
              </a:solidFill>
              <a:effectLst/>
              <a:uLnTx/>
              <a:uFillTx/>
              <a:latin typeface="Lucida Console" panose="020B0609040504020204" pitchFamily="49" charset="0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$ make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make: 'calculator' is up to date.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1">
              <a:ln>
                <a:noFill/>
              </a:ln>
              <a:solidFill>
                <a:srgbClr val="00FA00"/>
              </a:solidFill>
              <a:effectLst/>
              <a:uLnTx/>
              <a:uFillTx/>
              <a:latin typeface="Lucida Console" panose="020B0609040504020204" pitchFamily="49" charset="0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$ touch math.c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$ make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cc -c math.c -o math.o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cs typeface="Calibri"/>
              </a:rPr>
              <a:t>cc main.o math.o -o calculator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00FA00"/>
              </a:solidFill>
              <a:effectLst/>
              <a:uLnTx/>
              <a:uFillTx/>
              <a:latin typeface="Lucida Console" panose="020B0609040504020204" pitchFamily="49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F982B3-C49A-479C-B164-ED2702A7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Когда make пересобирает цель</a:t>
            </a:r>
          </a:p>
        </p:txBody>
      </p:sp>
      <p:sp>
        <p:nvSpPr>
          <p:cNvPr id="2" name="label0">
            <a:extLst>
              <a:ext uri="{FF2B5EF4-FFF2-40B4-BE49-F238E27FC236}">
                <a16:creationId xmlns:a16="http://schemas.microsoft.com/office/drawing/2014/main" id="{FBA251FD-E904-4855-AD87-391AC0BE56A6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6205654" cy="44061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1" i="0" u="none" strike="noStrike" kern="1200" cap="none" spc="0" normalizeH="0" baseline="0" noProof="1">
                <a:ln>
                  <a:noFill/>
                </a:ln>
                <a:solidFill>
                  <a:srgbClr val="25415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Файла цели нет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Для получения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main.o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необходимо выполнить рецепт компиляции.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1" i="0" u="none" strike="noStrike" kern="1200" cap="none" spc="0" normalizeH="0" baseline="0" noProof="1">
                <a:ln>
                  <a:noFill/>
                </a:ln>
                <a:solidFill>
                  <a:srgbClr val="254158"/>
                </a:solidFill>
                <a:effectLst/>
                <a:uLnTx/>
                <a:uFillTx/>
                <a:latin typeface="Calibri"/>
                <a:cs typeface="Calibri"/>
              </a:rPr>
              <a:t>Зависимость новее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Если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main.c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или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math.h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новее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main.o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повторяет компиляцию.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1" i="0" u="none" strike="noStrike" kern="1200" cap="none" spc="0" normalizeH="0" baseline="0" noProof="1">
                <a:ln>
                  <a:noFill/>
                </a:ln>
                <a:solidFill>
                  <a:srgbClr val="254158"/>
                </a:solidFill>
                <a:effectLst/>
                <a:uLnTx/>
                <a:uFillTx/>
                <a:latin typeface="Calibri"/>
                <a:cs typeface="Calibri"/>
              </a:rPr>
              <a:t>Цель актуальна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Если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main.o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не старее зависимостей, рецепт можно пропустить.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1" i="0" u="none" strike="noStrike" kern="1200" cap="none" spc="0" normalizeH="0" baseline="0" noProof="1">
                <a:ln>
                  <a:noFill/>
                </a:ln>
                <a:solidFill>
                  <a:srgbClr val="254158"/>
                </a:solidFill>
                <a:effectLst/>
                <a:uLnTx/>
                <a:uFillTx/>
                <a:latin typeface="Calibri"/>
                <a:cs typeface="Calibri"/>
              </a:rPr>
              <a:t>Важно описать связи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сравнивает временные метки. Забытый заголовок или изменение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CFLAGS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 может остаться незамеченным.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5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5" b="1" i="0" u="none" strike="noStrike" kern="1200" cap="none" spc="0" normalizeH="0" baseline="0" noProof="1">
              <a:ln>
                <a:noFill/>
              </a:ln>
              <a:solidFill>
                <a:srgbClr val="25415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5" b="1" i="0" u="none" strike="noStrike" kern="1200" cap="none" spc="0" normalizeH="0" baseline="0" noProof="1">
              <a:ln>
                <a:noFill/>
              </a:ln>
              <a:solidFill>
                <a:srgbClr val="25415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5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5" b="1" i="0" u="none" strike="noStrike" kern="1200" cap="none" spc="0" normalizeH="0" baseline="0" noProof="1">
              <a:ln>
                <a:noFill/>
              </a:ln>
              <a:solidFill>
                <a:srgbClr val="254158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value0">
            <a:extLst>
              <a:ext uri="{FF2B5EF4-FFF2-40B4-BE49-F238E27FC236}">
                <a16:creationId xmlns:a16="http://schemas.microsoft.com/office/drawing/2014/main" id="{4AC262F9-B1B7-4F4B-8594-C7199D150C5B}"/>
              </a:ext>
            </a:extLst>
          </p:cNvPr>
          <p:cNvSpPr>
            <a:spLocks noGrp="1"/>
          </p:cNvSpPr>
          <p:nvPr/>
        </p:nvSpPr>
        <p:spPr>
          <a:xfrm>
            <a:off x="4324350" y="1504950"/>
            <a:ext cx="71818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label1">
            <a:extLst>
              <a:ext uri="{FF2B5EF4-FFF2-40B4-BE49-F238E27FC236}">
                <a16:creationId xmlns:a16="http://schemas.microsoft.com/office/drawing/2014/main" id="{CDEA6D16-4CC5-4F10-A0C7-99388589889A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b="1" dirty="0">
              <a:solidFill>
                <a:srgbClr val="2541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value1">
            <a:extLst>
              <a:ext uri="{FF2B5EF4-FFF2-40B4-BE49-F238E27FC236}">
                <a16:creationId xmlns:a16="http://schemas.microsoft.com/office/drawing/2014/main" id="{404C9B85-AFD1-4AC8-8B1B-65C9D6A47508}"/>
              </a:ext>
            </a:extLst>
          </p:cNvPr>
          <p:cNvSpPr>
            <a:spLocks noGrp="1"/>
          </p:cNvSpPr>
          <p:nvPr/>
        </p:nvSpPr>
        <p:spPr>
          <a:xfrm>
            <a:off x="4324350" y="2552700"/>
            <a:ext cx="71818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label2">
            <a:extLst>
              <a:ext uri="{FF2B5EF4-FFF2-40B4-BE49-F238E27FC236}">
                <a16:creationId xmlns:a16="http://schemas.microsoft.com/office/drawing/2014/main" id="{562F3992-7644-43FD-A8D8-6773470A0A53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b="1" dirty="0">
              <a:solidFill>
                <a:srgbClr val="2541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value2">
            <a:extLst>
              <a:ext uri="{FF2B5EF4-FFF2-40B4-BE49-F238E27FC236}">
                <a16:creationId xmlns:a16="http://schemas.microsoft.com/office/drawing/2014/main" id="{1EC1B32E-531C-4C50-A9B8-D40B1D7C2714}"/>
              </a:ext>
            </a:extLst>
          </p:cNvPr>
          <p:cNvSpPr>
            <a:spLocks noGrp="1"/>
          </p:cNvSpPr>
          <p:nvPr/>
        </p:nvSpPr>
        <p:spPr>
          <a:xfrm>
            <a:off x="4324350" y="3600450"/>
            <a:ext cx="71818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label3">
            <a:extLst>
              <a:ext uri="{FF2B5EF4-FFF2-40B4-BE49-F238E27FC236}">
                <a16:creationId xmlns:a16="http://schemas.microsoft.com/office/drawing/2014/main" id="{703DAC99-3FAA-409D-B756-B63866687D86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b="1" dirty="0">
              <a:solidFill>
                <a:srgbClr val="2541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value3">
            <a:extLst>
              <a:ext uri="{FF2B5EF4-FFF2-40B4-BE49-F238E27FC236}">
                <a16:creationId xmlns:a16="http://schemas.microsoft.com/office/drawing/2014/main" id="{3C102F11-1C83-4ABC-BE1D-08E549E4487E}"/>
              </a:ext>
            </a:extLst>
          </p:cNvPr>
          <p:cNvSpPr>
            <a:spLocks noGrp="1"/>
          </p:cNvSpPr>
          <p:nvPr/>
        </p:nvSpPr>
        <p:spPr>
          <a:xfrm>
            <a:off x="4324350" y="4648200"/>
            <a:ext cx="71818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202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DC639D7C-6855-4DEB-8105-D39B3DE07D29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650" dirty="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make -B calculator</a:t>
            </a:r>
            <a:r>
              <a:rPr sz="1650" dirty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dirty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принудительно пересоберёт рассматриваемые цели.</a:t>
            </a:r>
            <a:endParaRPr lang="ru-RU" sz="1650" dirty="0">
              <a:solidFill>
                <a:srgbClr val="3E56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nippet make">
            <a:extLst>
              <a:ext uri="{FF2B5EF4-FFF2-40B4-BE49-F238E27FC236}">
                <a16:creationId xmlns:a16="http://schemas.microsoft.com/office/drawing/2014/main" id="{D8AC09D5-8C91-679C-A59D-3BDC9219F989}"/>
              </a:ext>
            </a:extLst>
          </p:cNvPr>
          <p:cNvSpPr>
            <a:spLocks noGrp="1"/>
          </p:cNvSpPr>
          <p:nvPr/>
        </p:nvSpPr>
        <p:spPr>
          <a:xfrm>
            <a:off x="7337503" y="1404124"/>
            <a:ext cx="4661209" cy="279342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08000" tIns="108000" rIns="108000" bIns="720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calc</a:t>
            </a: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main.o math.o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main.o math.o -o calc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main.</a:t>
            </a: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o</a:t>
            </a: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main.c math.h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-c main.c -o main.o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math.</a:t>
            </a: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o</a:t>
            </a: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math.c math.h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cc -c math.c -o math.o</a:t>
            </a:r>
            <a:endParaRPr kumimoji="0" lang="en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2D06568-FBA9-4694-983E-AA2ACB74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42950"/>
          </a:xfrm>
        </p:spPr>
        <p:txBody>
          <a:bodyPr/>
          <a:lstStyle/>
          <a:p>
            <a:r>
              <a:t>make в консоли: план и повторная сборка</a:t>
            </a:r>
          </a:p>
        </p:txBody>
      </p:sp>
      <p:sp>
        <p:nvSpPr>
          <p:cNvPr id="2" name="label Терминал: до первой сборки">
            <a:extLst>
              <a:ext uri="{FF2B5EF4-FFF2-40B4-BE49-F238E27FC236}">
                <a16:creationId xmlns:a16="http://schemas.microsoft.com/office/drawing/2014/main" id="{9CC6BD5C-2E1D-483D-8C51-234EE96D6AF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425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до первой сборки</a:t>
            </a:r>
          </a:p>
        </p:txBody>
      </p:sp>
      <p:sp>
        <p:nvSpPr>
          <p:cNvPr id="3" name="snippet terminal">
            <a:extLst>
              <a:ext uri="{FF2B5EF4-FFF2-40B4-BE49-F238E27FC236}">
                <a16:creationId xmlns:a16="http://schemas.microsoft.com/office/drawing/2014/main" id="{A3A4D24C-FB97-4DBF-94D2-3D3C6B58AD5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286500" cy="1554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-n calculator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cc -c main.c -o main.o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cc -c math.c -o math.o</a:t>
            </a:r>
          </a:p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cc main.o math.o -o calculator</a:t>
            </a:r>
          </a:p>
        </p:txBody>
      </p:sp>
      <p:sp>
        <p:nvSpPr>
          <p:cNvPr id="4" name="label Терминал: после обычного `make calculator`">
            <a:extLst>
              <a:ext uri="{FF2B5EF4-FFF2-40B4-BE49-F238E27FC236}">
                <a16:creationId xmlns:a16="http://schemas.microsoft.com/office/drawing/2014/main" id="{A18BE929-EB77-4531-A36B-DEA04FDEF8A9}"/>
              </a:ext>
            </a:extLst>
          </p:cNvPr>
          <p:cNvSpPr>
            <a:spLocks noGrp="1"/>
          </p:cNvSpPr>
          <p:nvPr/>
        </p:nvSpPr>
        <p:spPr>
          <a:xfrm>
            <a:off x="685800" y="328803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425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после обычного </a:t>
            </a:r>
            <a:r>
              <a:rPr sz="1425"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make calculator</a:t>
            </a:r>
            <a:endParaRPr sz="1425">
              <a:solidFill>
                <a:srgbClr val="52617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nippet terminal">
            <a:extLst>
              <a:ext uri="{FF2B5EF4-FFF2-40B4-BE49-F238E27FC236}">
                <a16:creationId xmlns:a16="http://schemas.microsoft.com/office/drawing/2014/main" id="{F6A76BD7-7DF1-4365-962C-59F09ECEE464}"/>
              </a:ext>
            </a:extLst>
          </p:cNvPr>
          <p:cNvSpPr>
            <a:spLocks noGrp="1"/>
          </p:cNvSpPr>
          <p:nvPr/>
        </p:nvSpPr>
        <p:spPr>
          <a:xfrm>
            <a:off x="685800" y="3592830"/>
            <a:ext cx="6286500" cy="1569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./calculator</a:t>
            </a:r>
          </a:p>
          <a:p>
            <a:pPr>
              <a:lnSpc>
                <a:spcPct val="100000"/>
              </a:lnSpc>
              <a:buNone/>
            </a:pPr>
            <a:r>
              <a:rPr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5</a:t>
            </a:r>
          </a:p>
          <a:p>
            <a:pPr>
              <a:lnSpc>
                <a:spcPct val="100000"/>
              </a:lnSpc>
              <a:buNone/>
            </a:pPr>
            <a:r>
              <a:rPr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calculator</a:t>
            </a:r>
          </a:p>
          <a:p>
            <a:pPr>
              <a:lnSpc>
                <a:spcPct val="100000"/>
              </a:lnSpc>
              <a:buNone/>
            </a:pPr>
            <a:r>
              <a:rPr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make: `calculator' is up to date.</a:t>
            </a:r>
          </a:p>
        </p:txBody>
      </p:sp>
      <p:sp>
        <p:nvSpPr>
          <p:cNvPr id="6" name="explanation0">
            <a:extLst>
              <a:ext uri="{FF2B5EF4-FFF2-40B4-BE49-F238E27FC236}">
                <a16:creationId xmlns:a16="http://schemas.microsoft.com/office/drawing/2014/main" id="{EB25F26B-C7DF-4E6D-9BB1-A7D9D5B8A689}"/>
              </a:ext>
            </a:extLst>
          </p:cNvPr>
          <p:cNvSpPr>
            <a:spLocks noGrp="1"/>
          </p:cNvSpPr>
          <p:nvPr/>
        </p:nvSpPr>
        <p:spPr>
          <a:xfrm>
            <a:off x="7214840" y="1695915"/>
            <a:ext cx="4191000" cy="18973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7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-n</a:t>
            </a:r>
            <a:r>
              <a:rPr kumimoji="0" lang="en" sz="187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187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показывает команды обычных рецептов без выполнения.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7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До первой сборки нужны оба объектных файла и линковка программы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75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cs typeface="Calibri"/>
              </a:rPr>
              <a:t>После сборки повторный запуск пропускает актуальную цель.</a:t>
            </a:r>
          </a:p>
        </p:txBody>
      </p:sp>
      <p:sp>
        <p:nvSpPr>
          <p:cNvPr id="7" name="explanation1">
            <a:extLst>
              <a:ext uri="{FF2B5EF4-FFF2-40B4-BE49-F238E27FC236}">
                <a16:creationId xmlns:a16="http://schemas.microsoft.com/office/drawing/2014/main" id="{4A4A61BB-61BD-4B36-92A0-57A0438E7DDC}"/>
              </a:ext>
            </a:extLst>
          </p:cNvPr>
          <p:cNvSpPr>
            <a:spLocks noGrp="1"/>
          </p:cNvSpPr>
          <p:nvPr/>
        </p:nvSpPr>
        <p:spPr>
          <a:xfrm>
            <a:off x="7315200" y="27241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explanation2">
            <a:extLst>
              <a:ext uri="{FF2B5EF4-FFF2-40B4-BE49-F238E27FC236}">
                <a16:creationId xmlns:a16="http://schemas.microsoft.com/office/drawing/2014/main" id="{7B765742-D6A2-4440-95A1-CB04200A98F3}"/>
              </a:ext>
            </a:extLst>
          </p:cNvPr>
          <p:cNvSpPr>
            <a:spLocks noGrp="1"/>
          </p:cNvSpPr>
          <p:nvPr/>
        </p:nvSpPr>
        <p:spPr>
          <a:xfrm>
            <a:off x="7315200" y="37528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explanation3">
            <a:extLst>
              <a:ext uri="{FF2B5EF4-FFF2-40B4-BE49-F238E27FC236}">
                <a16:creationId xmlns:a16="http://schemas.microsoft.com/office/drawing/2014/main" id="{2E35579C-1CBF-49E5-84C7-69FE1AB41615}"/>
              </a:ext>
            </a:extLst>
          </p:cNvPr>
          <p:cNvSpPr>
            <a:spLocks noGrp="1"/>
          </p:cNvSpPr>
          <p:nvPr/>
        </p:nvSpPr>
        <p:spPr>
          <a:xfrm>
            <a:off x="7315200" y="4781550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sz="1875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50D68B0E-4CA4-4F0C-BCFC-3FD0F0B43F59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Пример использует простой </a:t>
            </a:r>
            <a:r>
              <a:rPr sz="165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Makefile</a:t>
            </a: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из начала раздела. </a:t>
            </a:r>
            <a:r>
              <a:rPr sz="1650">
                <a:solidFill>
                  <a:srgbClr val="3E5669"/>
                </a:solidFill>
                <a:latin typeface="Courier New"/>
                <a:ea typeface="Courier New"/>
                <a:cs typeface="Courier New"/>
              </a:rPr>
              <a:t>make -n</a:t>
            </a:r>
            <a:r>
              <a:rPr sz="165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 не следует считать песочницей.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A6774-392E-4A28-BF5E-4EA3894F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Переменные и шаблонные правила</a:t>
            </a:r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1B306998-837F-4E06-95DA-DFD51E84FB3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9C62877F-18FE-4F76-B9E8-893DBBEFFE1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3478716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CC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cc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CFLAGS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-Wall -Wextra -O2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OBJ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= main.o math.o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calculator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$(OBJ)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$(CC)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$(OBJ)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-o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$@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$(OBJ)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math.h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%.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o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%.c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$(CC)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$(CFLAGS)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-c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$&lt;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-o </a:t>
            </a:r>
            <a:r>
              <a:rPr sz="2000" b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$@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3ACF436-27D2-4DCA-962A-61C41B0ACAE4}"/>
              </a:ext>
            </a:extLst>
          </p:cNvPr>
          <p:cNvSpPr>
            <a:spLocks noGrp="1"/>
          </p:cNvSpPr>
          <p:nvPr/>
        </p:nvSpPr>
        <p:spPr>
          <a:xfrm>
            <a:off x="8084634" y="1685925"/>
            <a:ext cx="3713356" cy="34787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$@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обозначает имя текущей цели.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$&lt;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обозначает первую зависимость.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%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подставляет общую часть имени файла.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Зависимость от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math.h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сохраняется явно.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F3AE9-6B96-42B2-AF68-2B81E84D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Makefile для обработки аудио</a:t>
            </a:r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D69A643E-885A-4575-A4F5-4D9DDF8BE8E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Makefile</a:t>
            </a:r>
            <a:endParaRPr kumimoji="0" lang="en" sz="1600" b="0" i="0" u="none" strike="noStrike" kern="1200" cap="none" spc="0" normalizeH="0" baseline="0" noProof="1">
              <a:ln>
                <a:noFill/>
              </a:ln>
              <a:solidFill>
                <a:srgbClr val="56627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330B79A4-74E0-4286-97C9-60DF0086E0BE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7239000" cy="3010365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DEFAULT_GOAL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:= summary.txt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%.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txt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%.wav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whisper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$&lt;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--model small \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    --output_format txt --output_dir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summary.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txt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interview.txt summarize.py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python summarize.py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$&lt;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&gt;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$@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13B649D-A6A5-4E73-AE6A-4091031D79DF}"/>
              </a:ext>
            </a:extLst>
          </p:cNvPr>
          <p:cNvSpPr>
            <a:spLocks noGrp="1"/>
          </p:cNvSpPr>
          <p:nvPr/>
        </p:nvSpPr>
        <p:spPr>
          <a:xfrm>
            <a:off x="8028878" y="1685925"/>
            <a:ext cx="3477322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Целью может быть любой получаемый файл.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Новое аудио вызывает повторную транскрипцию.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Изменение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summarize.py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обновит только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summary.txt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C220C-EC62-4F66-9134-B3CAB8BC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От файлов к частым командам</a:t>
            </a:r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7E883AF0-BF88-4EF1-B71F-3985FC77BA3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sz="1600" b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09E0D49B-D5DC-428C-810C-7F7276584281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016083" cy="335605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run test lint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uv run --locked python main.py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uv run --locked pytest -q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lint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ruff check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35988FA-9395-4590-AE23-30E8B7FA4F3D}"/>
              </a:ext>
            </a:extLst>
          </p:cNvPr>
          <p:cNvSpPr>
            <a:spLocks noGrp="1"/>
          </p:cNvSpPr>
          <p:nvPr/>
        </p:nvSpPr>
        <p:spPr>
          <a:xfrm>
            <a:off x="6980663" y="1685925"/>
            <a:ext cx="4817327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run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,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test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и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lint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обозначают действия.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</a:p>
          <a:p>
            <a:pPr lvl="0">
              <a:defRPr/>
            </a:pPr>
            <a:r>
              <a:rPr lang="ru-RU" sz="2000" dirty="0">
                <a:latin typeface="Calibri" panose="020F0502020204030204" pitchFamily="34" charset="0"/>
              </a:rPr>
              <a:t>директива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PHONY</a:t>
            </a:r>
            <a:r>
              <a:rPr lang="ru-RU" sz="2000" dirty="0"/>
              <a:t> используется для указания </a:t>
            </a:r>
            <a:r>
              <a:rPr lang="en-US" sz="2000" dirty="0"/>
              <a:t>«</a:t>
            </a:r>
            <a:r>
              <a:rPr lang="ru-RU" sz="2000" dirty="0"/>
              <a:t>не файловых</a:t>
            </a:r>
            <a:r>
              <a:rPr lang="en-US" sz="2000" dirty="0"/>
              <a:t>»</a:t>
            </a:r>
            <a:r>
              <a:rPr lang="ru-RU" sz="2000" dirty="0"/>
              <a:t> целей</a:t>
            </a:r>
            <a:endParaRPr kumimoji="0" lang="ru-RU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Запуск остаётся коротким: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make test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snippet terminal">
            <a:extLst>
              <a:ext uri="{FF2B5EF4-FFF2-40B4-BE49-F238E27FC236}">
                <a16:creationId xmlns:a16="http://schemas.microsoft.com/office/drawing/2014/main" id="{E80E61CF-DAE6-02E1-C39A-97CEB14D0216}"/>
              </a:ext>
            </a:extLst>
          </p:cNvPr>
          <p:cNvSpPr>
            <a:spLocks noGrp="1"/>
          </p:cNvSpPr>
          <p:nvPr/>
        </p:nvSpPr>
        <p:spPr>
          <a:xfrm>
            <a:off x="685800" y="5241073"/>
            <a:ext cx="6016083" cy="1405054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3335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make run</a:t>
            </a: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</a:b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uv run --locked python main.py</a:t>
            </a: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</a:b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00FA00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76DCA-2C74-4278-9E52-AB38D959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1087"/>
            <a:ext cx="10820400" cy="704850"/>
          </a:xfrm>
        </p:spPr>
        <p:txBody>
          <a:bodyPr/>
          <a:lstStyle/>
          <a:p>
            <a:r>
              <a:rPr lang="ru-RU"/>
              <a:t>Переменные команд проекта</a:t>
            </a:r>
            <a:endParaRPr lang="ru-RU" dirty="0"/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B363BFEB-B55B-484E-B4DD-1E893D554CCF}"/>
              </a:ext>
            </a:extLst>
          </p:cNvPr>
          <p:cNvSpPr>
            <a:spLocks noGrp="1"/>
          </p:cNvSpPr>
          <p:nvPr/>
        </p:nvSpPr>
        <p:spPr>
          <a:xfrm>
            <a:off x="685800" y="1122295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7260546B-4256-4A2A-BE8A-9C21339EE2AB}"/>
              </a:ext>
            </a:extLst>
          </p:cNvPr>
          <p:cNvSpPr>
            <a:spLocks noGrp="1"/>
          </p:cNvSpPr>
          <p:nvPr/>
        </p:nvSpPr>
        <p:spPr>
          <a:xfrm>
            <a:off x="685800" y="1427095"/>
            <a:ext cx="5695122" cy="374125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UV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?= uv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:=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$(UV)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run --locked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TEST_ARGS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?= -q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test run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pytest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$(TEST_ARGS)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</a:b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PYTHONPATH=src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./myapp.py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snippet terminal">
            <a:extLst>
              <a:ext uri="{FF2B5EF4-FFF2-40B4-BE49-F238E27FC236}">
                <a16:creationId xmlns:a16="http://schemas.microsoft.com/office/drawing/2014/main" id="{2BE60859-FC37-459F-8C2B-D34BFAE392B1}"/>
              </a:ext>
            </a:extLst>
          </p:cNvPr>
          <p:cNvSpPr>
            <a:spLocks noGrp="1"/>
          </p:cNvSpPr>
          <p:nvPr/>
        </p:nvSpPr>
        <p:spPr>
          <a:xfrm>
            <a:off x="685800" y="5468798"/>
            <a:ext cx="5001322" cy="1158115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test TEST_ARGS="-q -x"</a:t>
            </a:r>
            <a:endParaRPr lang="en-US" sz="2000" b="0" dirty="0">
              <a:solidFill>
                <a:srgbClr val="72F777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endParaRPr lang="en" sz="2000" dirty="0">
              <a:solidFill>
                <a:srgbClr val="72F777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r>
              <a:rPr lang="en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run</a:t>
            </a: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AFC7347B-32EB-4C36-8E6E-EBBE22C5F8E0}"/>
              </a:ext>
            </a:extLst>
          </p:cNvPr>
          <p:cNvSpPr>
            <a:spLocks noGrp="1"/>
          </p:cNvSpPr>
          <p:nvPr/>
        </p:nvSpPr>
        <p:spPr>
          <a:xfrm>
            <a:off x="6597401" y="1427095"/>
            <a:ext cx="5216912" cy="20019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?=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задаёт значение, если оно ещё не задано.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:=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вычисляет значение сразу.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$(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NAME)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подставляет переменную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Параметры команды меняют частый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17116-051D-4ED9-A9F1-981114FC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rPr lang="ru-RU"/>
              <a:t>Команды рецепта (recipe) и оболочка</a:t>
            </a:r>
            <a:endParaRPr lang="ru-RU" dirty="0"/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5A81E277-B0D2-4195-A70A-AE1D207DE29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F23D7852-CA17-4AE9-9FF2-D51561CDAF8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224346" cy="2932306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inspect show-dir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inspect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@printf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8E331C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"Project checks\n"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ruff check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show-dir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cd tests &amp;&amp; pwd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D3B3AC2E-C825-430B-9F3E-2DF6A894DE8E}"/>
              </a:ext>
            </a:extLst>
          </p:cNvPr>
          <p:cNvSpPr>
            <a:spLocks noGrp="1"/>
          </p:cNvSpPr>
          <p:nvPr/>
        </p:nvSpPr>
        <p:spPr>
          <a:xfrm>
            <a:off x="6281854" y="1685925"/>
            <a:ext cx="5224346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скрывает печать самой команды.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Ошибка команды обычно останавливает цель.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Каждая строка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recipe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запускается в новой оболочке.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cd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и следующую команду связываем через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highlight>
                  <a:srgbClr val="00FF00"/>
                </a:highlight>
                <a:uLnTx/>
                <a:uFillTx/>
                <a:latin typeface="Courier New"/>
                <a:ea typeface="Courier New"/>
                <a:cs typeface="Courier New"/>
              </a:rPr>
              <a:t>&amp;&amp;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8492F-42C0-4328-A3AC-201CA2D2D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rPr lang="ru-RU"/>
              <a:t>Составная цель и порядок выполнения</a:t>
            </a:r>
            <a:endParaRPr lang="ru-RU" dirty="0"/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D5137D53-95AA-457F-9D0E-44E632D05CF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30646D61-B7E2-4AF1-BB5A-DA1794081B1C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1114425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check lint format-check typecheck test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check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lint format-check typecheck test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label Терминал">
            <a:extLst>
              <a:ext uri="{FF2B5EF4-FFF2-40B4-BE49-F238E27FC236}">
                <a16:creationId xmlns:a16="http://schemas.microsoft.com/office/drawing/2014/main" id="{77C7183D-E4A5-4CB1-BB00-BA0BC936C8EB}"/>
              </a:ext>
            </a:extLst>
          </p:cNvPr>
          <p:cNvSpPr>
            <a:spLocks noGrp="1"/>
          </p:cNvSpPr>
          <p:nvPr/>
        </p:nvSpPr>
        <p:spPr>
          <a:xfrm>
            <a:off x="685800" y="3414361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Терминал</a:t>
            </a:r>
            <a:endParaRPr lang="ru-RU" sz="1600" dirty="0"/>
          </a:p>
        </p:txBody>
      </p:sp>
      <p:sp>
        <p:nvSpPr>
          <p:cNvPr id="6" name="snippet terminal">
            <a:extLst>
              <a:ext uri="{FF2B5EF4-FFF2-40B4-BE49-F238E27FC236}">
                <a16:creationId xmlns:a16="http://schemas.microsoft.com/office/drawing/2014/main" id="{C8C204C1-C1FB-4067-9E16-19878EEF671E}"/>
              </a:ext>
            </a:extLst>
          </p:cNvPr>
          <p:cNvSpPr>
            <a:spLocks noGrp="1"/>
          </p:cNvSpPr>
          <p:nvPr/>
        </p:nvSpPr>
        <p:spPr>
          <a:xfrm>
            <a:off x="685800" y="3719161"/>
            <a:ext cx="7239000" cy="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check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-j 4 check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B8193D72-EE73-40F7-B968-1C30B6A6E6BC}"/>
              </a:ext>
            </a:extLst>
          </p:cNvPr>
          <p:cNvSpPr>
            <a:spLocks noGrp="1"/>
          </p:cNvSpPr>
          <p:nvPr/>
        </p:nvSpPr>
        <p:spPr>
          <a:xfrm>
            <a:off x="8051180" y="1685925"/>
            <a:ext cx="383602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собирает несколько независимых проверок.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</a:rPr>
              <a:t>-</a:t>
            </a:r>
            <a:r>
              <a:rPr lang="ru-RU" sz="2000" b="0" dirty="0" err="1">
                <a:solidFill>
                  <a:srgbClr val="26323E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</a:rPr>
              <a:t>j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разрешает параллельное выполнение зависимостей</a:t>
            </a:r>
            <a:endParaRPr lang="en-US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Автоисправления и проверки вместе параллельно не запускаем</a:t>
            </a:r>
            <a:r>
              <a:rPr lang="en-US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!</a:t>
            </a:r>
            <a:endParaRPr lang="ru-RU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D031E-4EC6-473C-A873-FF6897F9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cs typeface="Calibri Light"/>
              </a:rPr>
              <a:t>Подготовка после клонирования</a:t>
            </a:r>
          </a:p>
        </p:txBody>
      </p:sp>
      <p:sp>
        <p:nvSpPr>
          <p:cNvPr id="3" name="label Makefile">
            <a:extLst>
              <a:ext uri="{FF2B5EF4-FFF2-40B4-BE49-F238E27FC236}">
                <a16:creationId xmlns:a16="http://schemas.microsoft.com/office/drawing/2014/main" id="{8896E7D7-AE1C-4B62-911A-1860A7FFB5F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endParaRPr sz="1425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65B7DB96-8FA3-4394-9150-8F5F20A43FCC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5770756" cy="4147789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DEFAULT_GOAL 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:= check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?= uv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RUN 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:= </a:t>
            </a: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$(UV)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run --locked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PHONY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sync hooks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sync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$(UV)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sync --locked --dev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hooks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sz="2000" b="0" dirty="0">
                <a:solidFill>
                  <a:srgbClr val="5B3482"/>
                </a:solidFill>
                <a:latin typeface="Courier New"/>
                <a:ea typeface="Courier New"/>
                <a:cs typeface="Courier New"/>
              </a:rPr>
              <a:t>$(RUN)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pre-commit install \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    --hook-type pre-commit \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30480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	    --hook-type pre-push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D474883-80E5-4343-8DC2-C35DA247955F}"/>
              </a:ext>
            </a:extLst>
          </p:cNvPr>
          <p:cNvSpPr>
            <a:spLocks noGrp="1"/>
          </p:cNvSpPr>
          <p:nvPr/>
        </p:nvSpPr>
        <p:spPr>
          <a:xfrm>
            <a:off x="6913756" y="1685925"/>
            <a:ext cx="4592444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без аргументов запускает </a:t>
            </a: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 sync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готовит окружение.</a:t>
            </a:r>
          </a:p>
          <a:p>
            <a:pPr marL="180000" indent="-1800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 hooks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ставит оба </a:t>
            </a:r>
            <a:r>
              <a:rPr lang="ru-RU" sz="2000" b="0" dirty="0" err="1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Git</a:t>
            </a:r>
            <a:r>
              <a:rPr lang="ru-RU" sz="20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-хука для текущего клона.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E18BAEC8-AD78-49D8-A7A7-88039CAF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7996818" cy="1619250"/>
          </a:xfrm>
        </p:spPr>
        <p:txBody>
          <a:bodyPr anchor="b"/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cs typeface="Calibri Light"/>
              </a:rPr>
              <a:t>Git-</a:t>
            </a:r>
            <a:r>
              <a:rPr kumimoji="0" lang="ru-RU" sz="6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cs typeface="Calibri Light"/>
              </a:rPr>
              <a:t>хуки и </a:t>
            </a:r>
            <a:r>
              <a:rPr kumimoji="0" lang="en" sz="6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cs typeface="Calibri Light"/>
              </a:rPr>
              <a:t>pre-commit</a:t>
            </a:r>
          </a:p>
        </p:txBody>
      </p:sp>
      <p:pic>
        <p:nvPicPr>
          <p:cNvPr id="5" name="Рисунок 4" descr="Автоматизация релизов с помощью github-action и semantic-release. А так же  использование Pre-commit в Github action / Хабр">
            <a:extLst>
              <a:ext uri="{FF2B5EF4-FFF2-40B4-BE49-F238E27FC236}">
                <a16:creationId xmlns:a16="http://schemas.microsoft.com/office/drawing/2014/main" id="{89CAC2A4-C477-57DE-CE9E-80788B54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927" y="364737"/>
            <a:ext cx="3683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40E1C-EB82-4802-87B1-E67B8645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80" y="253204"/>
            <a:ext cx="10820400" cy="704850"/>
          </a:xfrm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cs typeface="Calibri Light"/>
              </a:rPr>
              <a:t>Git-хуки и пакет pre-commit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617109E7-2BB1-46E4-9A23-408B55AA413B}"/>
              </a:ext>
            </a:extLst>
          </p:cNvPr>
          <p:cNvSpPr>
            <a:spLocks noGrp="1"/>
          </p:cNvSpPr>
          <p:nvPr/>
        </p:nvSpPr>
        <p:spPr>
          <a:xfrm>
            <a:off x="685800" y="1125809"/>
            <a:ext cx="3657600" cy="4576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Git hook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946CC7F7-E043-4227-B1A4-D4F6067230D0}"/>
              </a:ext>
            </a:extLst>
          </p:cNvPr>
          <p:cNvSpPr>
            <a:spLocks noGrp="1"/>
          </p:cNvSpPr>
          <p:nvPr/>
        </p:nvSpPr>
        <p:spPr>
          <a:xfrm>
            <a:off x="4705350" y="1125809"/>
            <a:ext cx="6800850" cy="4992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Скрипт, который Git вызывает при определённом событии.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6ECE3910-6DD7-47AF-81E5-91E10E15478C}"/>
              </a:ext>
            </a:extLst>
          </p:cNvPr>
          <p:cNvSpPr>
            <a:spLocks noGrp="1"/>
          </p:cNvSpPr>
          <p:nvPr/>
        </p:nvSpPr>
        <p:spPr>
          <a:xfrm>
            <a:off x="685800" y="1544909"/>
            <a:ext cx="3657600" cy="4576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dirty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pre-commit</a:t>
            </a:r>
            <a:endParaRPr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9C5CBDA6-64E9-4C86-885E-48FAF57F45CC}"/>
              </a:ext>
            </a:extLst>
          </p:cNvPr>
          <p:cNvSpPr>
            <a:spLocks noGrp="1"/>
          </p:cNvSpPr>
          <p:nvPr/>
        </p:nvSpPr>
        <p:spPr>
          <a:xfrm>
            <a:off x="4705350" y="1544909"/>
            <a:ext cx="6800850" cy="4992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Менеджер хуков и их конфигурации для проекта.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9A5B249C-4F3F-4DC8-8E9D-44F31569A970}"/>
              </a:ext>
            </a:extLst>
          </p:cNvPr>
          <p:cNvSpPr>
            <a:spLocks noGrp="1"/>
          </p:cNvSpPr>
          <p:nvPr/>
        </p:nvSpPr>
        <p:spPr>
          <a:xfrm>
            <a:off x="685800" y="1964009"/>
            <a:ext cx="3657600" cy="4576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dirty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.pre-commit-config.yaml</a:t>
            </a:r>
            <a:endParaRPr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3BCEE6E2-13CE-458F-8BC4-C55595046194}"/>
              </a:ext>
            </a:extLst>
          </p:cNvPr>
          <p:cNvSpPr>
            <a:spLocks noGrp="1"/>
          </p:cNvSpPr>
          <p:nvPr/>
        </p:nvSpPr>
        <p:spPr>
          <a:xfrm>
            <a:off x="4705350" y="1964009"/>
            <a:ext cx="6800850" cy="4992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Какие проверки запускать и на каких этапах.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EDB2D49B-872C-433C-B07B-943E91622FD9}"/>
              </a:ext>
            </a:extLst>
          </p:cNvPr>
          <p:cNvSpPr>
            <a:spLocks noGrp="1"/>
          </p:cNvSpPr>
          <p:nvPr/>
        </p:nvSpPr>
        <p:spPr>
          <a:xfrm>
            <a:off x="685800" y="2421674"/>
            <a:ext cx="3657600" cy="4576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dirty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pre-commit install</a:t>
            </a:r>
            <a:endParaRPr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5C4C2F20-05E5-4D02-8CAB-7F5B81B73A08}"/>
              </a:ext>
            </a:extLst>
          </p:cNvPr>
          <p:cNvSpPr>
            <a:spLocks noGrp="1"/>
          </p:cNvSpPr>
          <p:nvPr/>
        </p:nvSpPr>
        <p:spPr>
          <a:xfrm>
            <a:off x="4705350" y="2421674"/>
            <a:ext cx="6800850" cy="4992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Устанавливает вызывающие скрипты в текущем клоне.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EC531370-7301-4D2D-9A33-26023E9B0543}"/>
              </a:ext>
            </a:extLst>
          </p:cNvPr>
          <p:cNvSpPr>
            <a:spLocks noGrp="1"/>
          </p:cNvSpPr>
          <p:nvPr/>
        </p:nvSpPr>
        <p:spPr>
          <a:xfrm>
            <a:off x="395869" y="6216112"/>
            <a:ext cx="5558882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25" b="0" dirty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Пакет и команда называются </a:t>
            </a:r>
            <a:r>
              <a:rPr lang="ru-RU" sz="1725" b="0" dirty="0" err="1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pre-commit</a:t>
            </a:r>
            <a:r>
              <a:rPr lang="ru-RU" sz="1725" b="0" dirty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, с дефисом.</a:t>
            </a:r>
          </a:p>
        </p:txBody>
      </p:sp>
      <p:pic>
        <p:nvPicPr>
          <p:cNvPr id="12" name="Рисунок 11" descr="Что такое pre-commit hooks для Git и зачем они нужны | DOU">
            <a:extLst>
              <a:ext uri="{FF2B5EF4-FFF2-40B4-BE49-F238E27FC236}">
                <a16:creationId xmlns:a16="http://schemas.microsoft.com/office/drawing/2014/main" id="{8CAB4775-516D-5C61-36A1-33359978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12" b="4531"/>
          <a:stretch>
            <a:fillRect/>
          </a:stretch>
        </p:blipFill>
        <p:spPr>
          <a:xfrm>
            <a:off x="6400800" y="2913762"/>
            <a:ext cx="5756275" cy="39442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4DF40-B06F-3EB3-846C-213C1F35899D}"/>
              </a:ext>
            </a:extLst>
          </p:cNvPr>
          <p:cNvSpPr txBox="1"/>
          <p:nvPr/>
        </p:nvSpPr>
        <p:spPr>
          <a:xfrm>
            <a:off x="395869" y="3291256"/>
            <a:ext cx="55588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Читает список проверок (</a:t>
            </a:r>
            <a:r>
              <a:rPr kumimoji="0" lang="ru-RU" sz="2000" b="0" i="1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hooks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) из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.pre-commit-config.yaml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При первом запуске скачивает нужные инструменты и создаёт для них окружения.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Запускает проверки: форматирование, линтеры, проверку YAML, поиск лишних пробелов и т. д. — в зависимости от конфигурации.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0D94B-6B6F-450A-9185-AE7EC065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Распределение проверок по этапам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D274673C-8E5D-446F-AA49-62C8DCADBE0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 dirty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pre-commit</a:t>
            </a:r>
            <a:endParaRPr sz="2025" b="1" dirty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CDDFE7D3-B752-4830-B7AD-32E6587C8ED1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Ruff </a:t>
            </a:r>
            <a:r>
              <a:rPr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lint</a:t>
            </a: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format --check</a:t>
            </a: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ru-RU"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Быстрая проверка до коммита.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B38947DB-7B95-4228-9F4F-6B828839CE34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pre-push</a:t>
            </a:r>
            <a:endParaRPr sz="2025" b="1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24E46B4B-BEC4-4648-A81B-60EC3C780380}"/>
              </a:ext>
            </a:extLst>
          </p:cNvPr>
          <p:cNvSpPr>
            <a:spLocks noGrp="1"/>
          </p:cNvSpPr>
          <p:nvPr/>
        </p:nvSpPr>
        <p:spPr>
          <a:xfrm>
            <a:off x="4705350" y="28384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Pyright +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pytest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 Полный анализ типов и тесты.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60D6EEE1-0CF4-4E4B-8C87-CD73B9CB78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CI</a:t>
            </a: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7C442B18-60B3-49A0-A855-7C21528C0F6A}"/>
              </a:ext>
            </a:extLst>
          </p:cNvPr>
          <p:cNvSpPr>
            <a:spLocks noGrp="1"/>
          </p:cNvSpPr>
          <p:nvPr/>
        </p:nvSpPr>
        <p:spPr>
          <a:xfrm>
            <a:off x="4705350" y="4171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Все проверки на чистом checkout ревизии события.</a:t>
            </a:r>
          </a:p>
        </p:txBody>
      </p:sp>
      <p:sp>
        <p:nvSpPr>
          <p:cNvPr id="9" name="takeaway">
            <a:extLst>
              <a:ext uri="{FF2B5EF4-FFF2-40B4-BE49-F238E27FC236}">
                <a16:creationId xmlns:a16="http://schemas.microsoft.com/office/drawing/2014/main" id="{F2999FCE-25FF-440C-9939-CDB11E189601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Исправления запускаем явно: </a:t>
            </a: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make fix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, затем просматриваем </a:t>
            </a: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diff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 и выполняем </a:t>
            </a: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git add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8BD0F-AD6F-4369-8FB0-D4929AEE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2421"/>
            <a:ext cx="10820400" cy="704850"/>
          </a:xfrm>
        </p:spPr>
        <p:txBody>
          <a:bodyPr/>
          <a:lstStyle/>
          <a:p>
            <a:r>
              <a:rPr lang="ru-RU"/>
              <a:t>Конфигурация хука pre-commit</a:t>
            </a:r>
            <a:endParaRPr lang="ru-RU" dirty="0"/>
          </a:p>
        </p:txBody>
      </p:sp>
      <p:sp>
        <p:nvSpPr>
          <p:cNvPr id="3" name="label .pre-commit-config.yaml">
            <a:extLst>
              <a:ext uri="{FF2B5EF4-FFF2-40B4-BE49-F238E27FC236}">
                <a16:creationId xmlns:a16="http://schemas.microsoft.com/office/drawing/2014/main" id="{3567032F-A262-4A90-9A44-09CF2DCCD3F0}"/>
              </a:ext>
            </a:extLst>
          </p:cNvPr>
          <p:cNvSpPr>
            <a:spLocks noGrp="1"/>
          </p:cNvSpPr>
          <p:nvPr/>
        </p:nvSpPr>
        <p:spPr>
          <a:xfrm>
            <a:off x="685800" y="994898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.pre-commit-config.yaml</a:t>
            </a:r>
            <a:endParaRPr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yaml">
            <a:extLst>
              <a:ext uri="{FF2B5EF4-FFF2-40B4-BE49-F238E27FC236}">
                <a16:creationId xmlns:a16="http://schemas.microsoft.com/office/drawing/2014/main" id="{20F8E859-83FC-4B36-88B5-BBE05AC2815D}"/>
              </a:ext>
            </a:extLst>
          </p:cNvPr>
          <p:cNvSpPr>
            <a:spLocks noGrp="1"/>
          </p:cNvSpPr>
          <p:nvPr/>
        </p:nvSpPr>
        <p:spPr>
          <a:xfrm>
            <a:off x="685800" y="1318865"/>
            <a:ext cx="7889488" cy="540671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6437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default_install_hook_types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- pre-commit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- pre-push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6437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repos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- repo: https://github.com/pre-commit/pre-commit-hooks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rev: v6.0.0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hooks: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- id: check-yaml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- id: check-toml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- id: check-merge-conflict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- id: debug-statements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-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repo: local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hooks: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-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id: ruff-format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name: ruff format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entry: uv run ruff format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noProof="1"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        language: system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F180CAD-B168-497C-9843-6356546214BA}"/>
              </a:ext>
            </a:extLst>
          </p:cNvPr>
          <p:cNvSpPr>
            <a:spLocks noGrp="1"/>
          </p:cNvSpPr>
          <p:nvPr/>
        </p:nvSpPr>
        <p:spPr>
          <a:xfrm>
            <a:off x="8753707" y="1422245"/>
            <a:ext cx="2977375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repo: local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использует команды из проекта.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entry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вызывает команду.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Окружением управляет 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uv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внутри 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2025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782ED-642D-44E3-AA81-88357631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rPr lang="ru-RU"/>
              <a:t>Проверка хуков вручную</a:t>
            </a:r>
            <a:endParaRPr lang="ru-RU" dirty="0"/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D6F60257-89B3-4F5D-84FB-F5426BED624F}"/>
              </a:ext>
            </a:extLst>
          </p:cNvPr>
          <p:cNvSpPr>
            <a:spLocks noGrp="1"/>
          </p:cNvSpPr>
          <p:nvPr/>
        </p:nvSpPr>
        <p:spPr>
          <a:xfrm>
            <a:off x="273207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72FF04E5-C102-45D4-902A-17E149B77DB3}"/>
              </a:ext>
            </a:extLst>
          </p:cNvPr>
          <p:cNvSpPr>
            <a:spLocks noGrp="1"/>
          </p:cNvSpPr>
          <p:nvPr/>
        </p:nvSpPr>
        <p:spPr>
          <a:xfrm>
            <a:off x="273206" y="1695451"/>
            <a:ext cx="8101359" cy="350101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make hooks</a:t>
            </a:r>
            <a:br>
              <a:rPr lang="en-US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</a:br>
            <a:r>
              <a:rPr lang="en-US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pre-commit install </a:t>
            </a:r>
          </a:p>
          <a:p>
            <a:r>
              <a:rPr lang="en-US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    --hook-type pre-commit \</a:t>
            </a:r>
          </a:p>
          <a:p>
            <a:r>
              <a:rPr lang="en-US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    --hook-type pre-push</a:t>
            </a:r>
            <a:br>
              <a:rPr lang="en-US" sz="200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</a:b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pre-commit run --all-files</a:t>
            </a: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Ruff checks........................Passed</a:t>
            </a: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 </a:t>
            </a: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pre-commit run --all-files --hook-stage pre-push</a:t>
            </a: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Pyright and tests...................Passed</a:t>
            </a:r>
            <a:endParaRPr sz="2000" b="0" dirty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051247A-463A-4F76-8659-18E5A27BE8B7}"/>
              </a:ext>
            </a:extLst>
          </p:cNvPr>
          <p:cNvSpPr>
            <a:spLocks noGrp="1"/>
          </p:cNvSpPr>
          <p:nvPr/>
        </p:nvSpPr>
        <p:spPr>
          <a:xfrm>
            <a:off x="8530682" y="1695451"/>
            <a:ext cx="3388112" cy="21742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install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выполняется один раз на каждый клон.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позволяет проверить конфигурацию до первого коммита.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80000" marR="0" lvl="0" indent="-1800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Для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pre-push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ru-RU" sz="2000" b="0" i="0" u="none" strike="noStrike" kern="1200" cap="none" spc="0" normalizeH="0" baseline="0" noProof="1">
                <a:ln>
                  <a:noFill/>
                </a:ln>
                <a:solidFill>
                  <a:srgbClr val="26323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этап задаём явно.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noProof="1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A5EF5-EEB8-4280-9D8B-C101B1F8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Если коммит остановлен</a:t>
            </a:r>
          </a:p>
        </p:txBody>
      </p:sp>
      <p:sp>
        <p:nvSpPr>
          <p:cNvPr id="3" name="label Терминал">
            <a:extLst>
              <a:ext uri="{FF2B5EF4-FFF2-40B4-BE49-F238E27FC236}">
                <a16:creationId xmlns:a16="http://schemas.microsoft.com/office/drawing/2014/main" id="{63CA103D-67A2-4209-A13B-EB14005BB25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Терминал</a:t>
            </a:r>
          </a:p>
        </p:txBody>
      </p:sp>
      <p:sp>
        <p:nvSpPr>
          <p:cNvPr id="4" name="snippet terminal">
            <a:extLst>
              <a:ext uri="{FF2B5EF4-FFF2-40B4-BE49-F238E27FC236}">
                <a16:creationId xmlns:a16="http://schemas.microsoft.com/office/drawing/2014/main" id="{0640DDBA-6713-4D0E-B1CD-DF8A0996FFF6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6707459" cy="3771901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commit -m "Add pricing"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Ruff checks........................Failed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make fix</a:t>
            </a: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</a:b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diff</a:t>
            </a: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</a:b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add main.py pricing.py tests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</a:b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commit -m "Add pricing"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Ruff checks........................Passed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F372352-BEDC-4443-BFBC-E90E2A4B2C36}"/>
              </a:ext>
            </a:extLst>
          </p:cNvPr>
          <p:cNvSpPr>
            <a:spLocks noGrp="1"/>
          </p:cNvSpPr>
          <p:nvPr/>
        </p:nvSpPr>
        <p:spPr>
          <a:xfrm>
            <a:off x="7593981" y="1685925"/>
            <a:ext cx="4404732" cy="2295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Читаем диагностику, а не отключаем хук.</a:t>
            </a:r>
          </a:p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Исправляем и повторно добавляем изменения в индекс.</a:t>
            </a:r>
          </a:p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Неисправляемые автоматически ошибки правим вручную.</a:t>
            </a:r>
            <a:endParaRPr lang="ru-RU" sz="2000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CFAA5-61DD-4533-BC29-DDD61BAB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Что именно проверяет хук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E57AD666-CA5E-411B-8E60-5E7BC7F6FC68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При коммите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3D826127-5453-4041-88DF-3D9A386EF3D7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pre-commit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временно убирает незастейдженные изменения отслеживаемых файлов.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229CA69C-9437-46A0-AFAA-30D51E728B0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Весь проект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93DFEA24-ED6D-4B7E-B573-5463DBB55B63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Наш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проверяет каталоги целиком, включая доступные untracked-файлы.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739DF3BF-1E18-4175-9783-D5742EE6C6A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Перед </a:t>
            </a:r>
            <a:r>
              <a:rPr sz="2025" b="1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push</a:t>
            </a:r>
            <a:endParaRPr sz="2025" b="1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E7E85209-4F40-4FBA-982D-B5232F583A5F}"/>
              </a:ext>
            </a:extLst>
          </p:cNvPr>
          <p:cNvSpPr>
            <a:spLocks noGrp="1"/>
          </p:cNvSpPr>
          <p:nvPr/>
        </p:nvSpPr>
        <p:spPr>
          <a:xfrm>
            <a:off x="4705350" y="36385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 этой схеме проверяется рабочее дерево, а не каждый отправляемый коммит.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EDF95B95-67F0-4755-8474-3F051BB5207B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На сервере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168FD6B0-8B2D-43EE-BD78-E8B448269601}"/>
              </a:ext>
            </a:extLst>
          </p:cNvPr>
          <p:cNvSpPr>
            <a:spLocks noGrp="1"/>
          </p:cNvSpPr>
          <p:nvPr/>
        </p:nvSpPr>
        <p:spPr>
          <a:xfrm>
            <a:off x="4705350" y="47053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CI проверяет конкретную ревизию в чистом окружении.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458B865F-A56E-40F8-834B-6BEF41BF7F6C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 добавляем в коммит вместе.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54C1B8B5-C7AF-4499-9835-F701B1EB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10572750" cy="1619250"/>
          </a:xfrm>
        </p:spPr>
        <p:txBody>
          <a:bodyPr anchor="b"/>
          <a:lstStyle/>
          <a:p>
            <a:r>
              <a:t>Общая настройка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1C596-B113-4D02-B188-154D975F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Все команды проверок в Makefile</a:t>
            </a:r>
          </a:p>
        </p:txBody>
      </p:sp>
      <p:sp>
        <p:nvSpPr>
          <p:cNvPr id="3" name="label Makefile: базовые проверки">
            <a:extLst>
              <a:ext uri="{FF2B5EF4-FFF2-40B4-BE49-F238E27FC236}">
                <a16:creationId xmlns:a16="http://schemas.microsoft.com/office/drawing/2014/main" id="{7735B302-51C8-40AC-A8DD-F603652EA87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Makefile</a:t>
            </a:r>
            <a:r>
              <a:rPr lang="ru-RU"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: базовые проверки</a:t>
            </a:r>
            <a:endParaRPr lang="ru-RU" sz="1600" b="0" dirty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81E6C050-1575-4D42-BB76-D77EFAB1006A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7239000" cy="4170091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UV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?= uv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:= 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$(UV)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run --locked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lint format-check typecheck test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lint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ruff check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format-check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ruff format --check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typecheck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pyright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pytest -q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1DD96D74-C62D-4717-AEE8-33D9159949CA}"/>
              </a:ext>
            </a:extLst>
          </p:cNvPr>
          <p:cNvSpPr>
            <a:spLocks noGrp="1"/>
          </p:cNvSpPr>
          <p:nvPr/>
        </p:nvSpPr>
        <p:spPr>
          <a:xfrm>
            <a:off x="8151541" y="1685925"/>
            <a:ext cx="3354659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выбирает окружение и версии.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Ruff и Pyright читают правила из </a:t>
            </a:r>
            <a:r>
              <a:rPr lang="ru-RU"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Makefile</a:t>
            </a:r>
            <a:r>
              <a:rPr lang="ru-RU"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хранит команды запуска.</a:t>
            </a:r>
            <a:endParaRPr lang="ru-RU" sz="2025" b="0" dirty="0">
              <a:solidFill>
                <a:srgbClr val="26323E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A4BDD-6091-4366-92EA-54240E7C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Ручной запуск, хуки и CI</a:t>
            </a:r>
          </a:p>
        </p:txBody>
      </p:sp>
      <p:sp>
        <p:nvSpPr>
          <p:cNvPr id="3" name="label Makefile: составные цели">
            <a:extLst>
              <a:ext uri="{FF2B5EF4-FFF2-40B4-BE49-F238E27FC236}">
                <a16:creationId xmlns:a16="http://schemas.microsoft.com/office/drawing/2014/main" id="{E653ABA8-C0ED-44F1-BF13-8DAB2DF23E5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Makefile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</a:t>
            </a: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6627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составные цели</a:t>
            </a:r>
          </a:p>
        </p:txBody>
      </p:sp>
      <p:sp>
        <p:nvSpPr>
          <p:cNvPr id="4" name="snippet make">
            <a:extLst>
              <a:ext uri="{FF2B5EF4-FFF2-40B4-BE49-F238E27FC236}">
                <a16:creationId xmlns:a16="http://schemas.microsoft.com/office/drawing/2014/main" id="{7173A5B1-5AE6-42B0-8265-D31B862E2A3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377190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PHONY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fix check ci hook-commit hook-push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fix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ruff check --fix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30480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	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$(RUN)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ruff format .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check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lint format-check typecheck test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ci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check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hook-commit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lint format-check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5B3482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hook-push</a:t>
            </a: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typecheck test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26323E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40D9E5E-D78D-47A3-92D9-3FB9B749ED5B}"/>
              </a:ext>
            </a:extLst>
          </p:cNvPr>
          <p:cNvSpPr>
            <a:spLocks noGrp="1"/>
          </p:cNvSpPr>
          <p:nvPr/>
        </p:nvSpPr>
        <p:spPr>
          <a:xfrm>
            <a:off x="8051180" y="1685925"/>
            <a:ext cx="3802566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25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25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ru-RU" sz="2025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fix</a:t>
            </a:r>
            <a:r>
              <a:rPr lang="ru-RU" sz="2025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меняет исходные файлы.</a:t>
            </a:r>
          </a:p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25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25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 check</a:t>
            </a:r>
            <a:r>
              <a:rPr lang="ru-RU" sz="2025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проверяет весь проект.</a:t>
            </a:r>
          </a:p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25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Хуки вызывают подходящую часть проверок.</a:t>
            </a:r>
          </a:p>
          <a:p>
            <a:pPr marL="180000" indent="-18000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25" b="0" dirty="0" err="1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lang="ru-RU" sz="2025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 ci</a:t>
            </a:r>
            <a:r>
              <a:rPr lang="ru-RU" sz="2025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запускает полный набор.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0B512-2D57-4DCF-9672-1FE80A5A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Одна конфигурация — три точки входа</a:t>
            </a:r>
          </a:p>
        </p:txBody>
      </p:sp>
      <p:sp>
        <p:nvSpPr>
          <p:cNvPr id="3" name="entry-label0">
            <a:extLst>
              <a:ext uri="{FF2B5EF4-FFF2-40B4-BE49-F238E27FC236}">
                <a16:creationId xmlns:a16="http://schemas.microsoft.com/office/drawing/2014/main" id="{75BDF6E9-3660-4B1C-BE46-1EAD0F5E3E52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320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Ручной запуск</a:t>
            </a:r>
          </a:p>
        </p:txBody>
      </p:sp>
      <p:sp>
        <p:nvSpPr>
          <p:cNvPr id="4" name="entry-command0">
            <a:extLst>
              <a:ext uri="{FF2B5EF4-FFF2-40B4-BE49-F238E27FC236}">
                <a16:creationId xmlns:a16="http://schemas.microsoft.com/office/drawing/2014/main" id="{5A2F6309-D5CF-4EA5-95B9-88E6A07F6941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3200400" cy="9715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check</a:t>
            </a:r>
          </a:p>
        </p:txBody>
      </p:sp>
      <p:sp>
        <p:nvSpPr>
          <p:cNvPr id="5" name="entry-arrow0">
            <a:extLst>
              <a:ext uri="{FF2B5EF4-FFF2-40B4-BE49-F238E27FC236}">
                <a16:creationId xmlns:a16="http://schemas.microsoft.com/office/drawing/2014/main" id="{D895C5BD-BC05-46AF-8435-B833B2EB59FF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533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3F5669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6" name="entry-label1">
            <a:extLst>
              <a:ext uri="{FF2B5EF4-FFF2-40B4-BE49-F238E27FC236}">
                <a16:creationId xmlns:a16="http://schemas.microsoft.com/office/drawing/2014/main" id="{51617B1A-3936-43B2-BC52-F36415CC65B8}"/>
              </a:ext>
            </a:extLst>
          </p:cNvPr>
          <p:cNvSpPr>
            <a:spLocks noGrp="1"/>
          </p:cNvSpPr>
          <p:nvPr/>
        </p:nvSpPr>
        <p:spPr>
          <a:xfrm>
            <a:off x="4495800" y="1495425"/>
            <a:ext cx="320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Git-хуки</a:t>
            </a:r>
          </a:p>
        </p:txBody>
      </p:sp>
      <p:sp>
        <p:nvSpPr>
          <p:cNvPr id="7" name="entry-command1">
            <a:extLst>
              <a:ext uri="{FF2B5EF4-FFF2-40B4-BE49-F238E27FC236}">
                <a16:creationId xmlns:a16="http://schemas.microsoft.com/office/drawing/2014/main" id="{88D48746-48AE-44A4-9A56-B417528758DD}"/>
              </a:ext>
            </a:extLst>
          </p:cNvPr>
          <p:cNvSpPr>
            <a:spLocks noGrp="1"/>
          </p:cNvSpPr>
          <p:nvPr/>
        </p:nvSpPr>
        <p:spPr>
          <a:xfrm>
            <a:off x="4495800" y="2028825"/>
            <a:ext cx="3200400" cy="9715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hook-commit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hook-push</a:t>
            </a:r>
          </a:p>
        </p:txBody>
      </p:sp>
      <p:sp>
        <p:nvSpPr>
          <p:cNvPr id="8" name="entry-arrow1">
            <a:extLst>
              <a:ext uri="{FF2B5EF4-FFF2-40B4-BE49-F238E27FC236}">
                <a16:creationId xmlns:a16="http://schemas.microsoft.com/office/drawing/2014/main" id="{34AC5C96-6956-4568-8E09-C5770FE8CC14}"/>
              </a:ext>
            </a:extLst>
          </p:cNvPr>
          <p:cNvSpPr>
            <a:spLocks noGrp="1"/>
          </p:cNvSpPr>
          <p:nvPr/>
        </p:nvSpPr>
        <p:spPr>
          <a:xfrm>
            <a:off x="5829300" y="3048000"/>
            <a:ext cx="533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3F5669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9" name="entry-label2">
            <a:extLst>
              <a:ext uri="{FF2B5EF4-FFF2-40B4-BE49-F238E27FC236}">
                <a16:creationId xmlns:a16="http://schemas.microsoft.com/office/drawing/2014/main" id="{385CB6A4-BF3F-439D-BDF0-EA478BA99721}"/>
              </a:ext>
            </a:extLst>
          </p:cNvPr>
          <p:cNvSpPr>
            <a:spLocks noGrp="1"/>
          </p:cNvSpPr>
          <p:nvPr/>
        </p:nvSpPr>
        <p:spPr>
          <a:xfrm>
            <a:off x="8305800" y="1495425"/>
            <a:ext cx="320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Серверный CI</a:t>
            </a:r>
          </a:p>
        </p:txBody>
      </p:sp>
      <p:sp>
        <p:nvSpPr>
          <p:cNvPr id="10" name="entry-command2">
            <a:extLst>
              <a:ext uri="{FF2B5EF4-FFF2-40B4-BE49-F238E27FC236}">
                <a16:creationId xmlns:a16="http://schemas.microsoft.com/office/drawing/2014/main" id="{060803DE-B807-44A4-9233-0554750B0207}"/>
              </a:ext>
            </a:extLst>
          </p:cNvPr>
          <p:cNvSpPr>
            <a:spLocks noGrp="1"/>
          </p:cNvSpPr>
          <p:nvPr/>
        </p:nvSpPr>
        <p:spPr>
          <a:xfrm>
            <a:off x="8305800" y="2028825"/>
            <a:ext cx="3200400" cy="97155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ci</a:t>
            </a:r>
          </a:p>
        </p:txBody>
      </p:sp>
      <p:sp>
        <p:nvSpPr>
          <p:cNvPr id="11" name="entry-arrow2">
            <a:extLst>
              <a:ext uri="{FF2B5EF4-FFF2-40B4-BE49-F238E27FC236}">
                <a16:creationId xmlns:a16="http://schemas.microsoft.com/office/drawing/2014/main" id="{253BB197-F3D8-41B4-85E0-B6A3441041FA}"/>
              </a:ext>
            </a:extLst>
          </p:cNvPr>
          <p:cNvSpPr>
            <a:spLocks noGrp="1"/>
          </p:cNvSpPr>
          <p:nvPr/>
        </p:nvSpPr>
        <p:spPr>
          <a:xfrm>
            <a:off x="9639300" y="3048000"/>
            <a:ext cx="533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3F5669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12" name="shared-make">
            <a:extLst>
              <a:ext uri="{FF2B5EF4-FFF2-40B4-BE49-F238E27FC236}">
                <a16:creationId xmlns:a16="http://schemas.microsoft.com/office/drawing/2014/main" id="{00F1FD40-C9E9-45A8-BA88-AF34C343609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733425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square" lIns="190500" tIns="190500" rIns="190500" bIns="19050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Makefile</a:t>
            </a:r>
            <a:r>
              <a:rPr sz="23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: общие цели и команды</a:t>
            </a:r>
          </a:p>
        </p:txBody>
      </p:sp>
      <p:sp>
        <p:nvSpPr>
          <p:cNvPr id="13" name="uv-arrow">
            <a:extLst>
              <a:ext uri="{FF2B5EF4-FFF2-40B4-BE49-F238E27FC236}">
                <a16:creationId xmlns:a16="http://schemas.microsoft.com/office/drawing/2014/main" id="{C813792C-FDD8-4A10-987D-BB1268C06837}"/>
              </a:ext>
            </a:extLst>
          </p:cNvPr>
          <p:cNvSpPr>
            <a:spLocks noGrp="1"/>
          </p:cNvSpPr>
          <p:nvPr/>
        </p:nvSpPr>
        <p:spPr>
          <a:xfrm>
            <a:off x="5781675" y="4419600"/>
            <a:ext cx="6096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3F5669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14" name="uv-and-tools">
            <a:extLst>
              <a:ext uri="{FF2B5EF4-FFF2-40B4-BE49-F238E27FC236}">
                <a16:creationId xmlns:a16="http://schemas.microsoft.com/office/drawing/2014/main" id="{40787A2C-D706-472A-9504-C8869408EF67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10820400" cy="781050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square" lIns="190500" tIns="190500" rIns="190500" bIns="19050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sz="2250" b="0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: окружение из </a:t>
            </a:r>
            <a:r>
              <a:rPr sz="2250" b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sz="2250" b="0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  →  Ruff / Pyright / </a:t>
            </a:r>
            <a:r>
              <a:rPr sz="2250" b="0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pytest</a:t>
            </a:r>
            <a:endParaRPr sz="2250" b="0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red-config">
            <a:extLst>
              <a:ext uri="{FF2B5EF4-FFF2-40B4-BE49-F238E27FC236}">
                <a16:creationId xmlns:a16="http://schemas.microsoft.com/office/drawing/2014/main" id="{72190EE0-B140-4120-A20D-771640585D78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Правила Ruff и Pyright хранятся в одном </a:t>
            </a:r>
            <a:r>
              <a:rPr sz="1725" b="0">
                <a:solidFill>
                  <a:srgbClr val="3A4D5D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раздела">
            <a:extLst>
              <a:ext uri="{FF2B5EF4-FFF2-40B4-BE49-F238E27FC236}">
                <a16:creationId xmlns:a16="http://schemas.microsoft.com/office/drawing/2014/main" id="{448ACCE6-2487-4BDF-8C26-EBB7C542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2250"/>
            <a:ext cx="10572750" cy="1619250"/>
          </a:xfrm>
        </p:spPr>
        <p:txBody>
          <a:bodyPr anchor="b"/>
          <a:lstStyle/>
          <a:p>
            <a:r>
              <a:t>CI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D394E-D8F0-4E7A-891A-C28DA1A6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GitHub Actions: запуск задания</a:t>
            </a:r>
          </a:p>
        </p:txBody>
      </p:sp>
      <p:sp>
        <p:nvSpPr>
          <p:cNvPr id="3" name="label .github/workflows/ci.yml, начало">
            <a:extLst>
              <a:ext uri="{FF2B5EF4-FFF2-40B4-BE49-F238E27FC236}">
                <a16:creationId xmlns:a16="http://schemas.microsoft.com/office/drawing/2014/main" id="{AE263941-7810-496A-94B5-9DADF9776C9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.github/workflows/ci.yml</a:t>
            </a:r>
            <a:r>
              <a:rPr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, начало</a:t>
            </a:r>
          </a:p>
        </p:txBody>
      </p:sp>
      <p:sp>
        <p:nvSpPr>
          <p:cNvPr id="4" name="snippet yaml">
            <a:extLst>
              <a:ext uri="{FF2B5EF4-FFF2-40B4-BE49-F238E27FC236}">
                <a16:creationId xmlns:a16="http://schemas.microsoft.com/office/drawing/2014/main" id="{C86C3A7A-5C85-4388-8CBB-BCE04C6F8B4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4460023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Python CI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[push, pull_request]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permissions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contents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read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jobs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quality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runs-on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ubuntu-latest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steps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-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uses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actions/checkout@v7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-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uses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astral-sh/setup-uv@v10.</a:t>
            </a:r>
            <a:r>
              <a:rPr sz="2000" b="0">
                <a:solidFill>
                  <a:srgbClr val="225B43"/>
                </a:solidFill>
                <a:latin typeface="Courier New"/>
                <a:ea typeface="Courier New"/>
                <a:cs typeface="Courier New"/>
              </a:rPr>
              <a:t>0.1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    </a:t>
            </a:r>
            <a:r>
              <a:rPr sz="2000" b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python-version</a:t>
            </a:r>
            <a:r>
              <a:rPr sz="20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8E331C"/>
                </a:solidFill>
                <a:latin typeface="Courier New"/>
                <a:ea typeface="Courier New"/>
                <a:cs typeface="Courier New"/>
              </a:rPr>
              <a:t>"3.12"</a:t>
            </a:r>
            <a:endParaRPr sz="2000" b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8D972ABF-4954-438E-97A2-0C02FFAEB099}"/>
              </a:ext>
            </a:extLst>
          </p:cNvPr>
          <p:cNvSpPr>
            <a:spLocks noGrp="1"/>
          </p:cNvSpPr>
          <p:nvPr/>
        </p:nvSpPr>
        <p:spPr>
          <a:xfrm>
            <a:off x="8305800" y="1685925"/>
            <a:ext cx="3200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Сервер получает ревизию из Git.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Задание запускается после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push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для pull request.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setup-uv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устанавливает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задаёт версию Python.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C43F7-5181-4495-B6F3-2158736E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4724"/>
            <a:ext cx="10820400" cy="704850"/>
          </a:xfrm>
        </p:spPr>
        <p:txBody>
          <a:bodyPr/>
          <a:lstStyle/>
          <a:p>
            <a:r>
              <a:rPr dirty="0"/>
              <a:t>GitHub Actions: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проверки</a:t>
            </a:r>
            <a:endParaRPr dirty="0"/>
          </a:p>
        </p:txBody>
      </p:sp>
      <p:sp>
        <p:nvSpPr>
          <p:cNvPr id="3" name="label Продолжение steps">
            <a:extLst>
              <a:ext uri="{FF2B5EF4-FFF2-40B4-BE49-F238E27FC236}">
                <a16:creationId xmlns:a16="http://schemas.microsoft.com/office/drawing/2014/main" id="{8E4D291D-335E-46AC-A59A-490EF1186692}"/>
              </a:ext>
            </a:extLst>
          </p:cNvPr>
          <p:cNvSpPr>
            <a:spLocks noGrp="1"/>
          </p:cNvSpPr>
          <p:nvPr/>
        </p:nvSpPr>
        <p:spPr>
          <a:xfrm>
            <a:off x="685800" y="1189929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Продолжение </a:t>
            </a:r>
            <a:r>
              <a:rPr sz="1600" b="0">
                <a:solidFill>
                  <a:srgbClr val="566270"/>
                </a:solidFill>
                <a:latin typeface="Courier New"/>
                <a:ea typeface="Courier New"/>
                <a:cs typeface="Courier New"/>
              </a:rPr>
              <a:t>steps</a:t>
            </a:r>
            <a:endParaRPr sz="1600" b="0">
              <a:solidFill>
                <a:srgbClr val="5662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nippet yaml">
            <a:extLst>
              <a:ext uri="{FF2B5EF4-FFF2-40B4-BE49-F238E27FC236}">
                <a16:creationId xmlns:a16="http://schemas.microsoft.com/office/drawing/2014/main" id="{199F98A4-91D3-4ADD-AA45-027E76FE1B1E}"/>
              </a:ext>
            </a:extLst>
          </p:cNvPr>
          <p:cNvSpPr>
            <a:spLocks noGrp="1"/>
          </p:cNvSpPr>
          <p:nvPr/>
        </p:nvSpPr>
        <p:spPr>
          <a:xfrm>
            <a:off x="685800" y="1552576"/>
            <a:ext cx="7239000" cy="180975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- </a:t>
            </a:r>
            <a:r>
              <a:rPr sz="2000" b="0" dirty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Sync dependencies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2000" b="0" dirty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make sync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- </a:t>
            </a:r>
            <a:r>
              <a:rPr sz="2000" b="0" dirty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Run project checks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2000" b="0" dirty="0">
                <a:solidFill>
                  <a:srgbClr val="16437B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sz="20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: make ci</a:t>
            </a:r>
            <a:endParaRPr sz="2000" b="0" dirty="0">
              <a:solidFill>
                <a:srgbClr val="26323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label Результат проверок">
            <a:extLst>
              <a:ext uri="{FF2B5EF4-FFF2-40B4-BE49-F238E27FC236}">
                <a16:creationId xmlns:a16="http://schemas.microsoft.com/office/drawing/2014/main" id="{9985F57E-7B85-4CA4-913B-1DAFD6DEB7B5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66270"/>
                </a:solidFill>
                <a:latin typeface="Calibri"/>
                <a:ea typeface="Calibri"/>
                <a:cs typeface="Calibri"/>
              </a:rPr>
              <a:t>Результат проверок</a:t>
            </a:r>
          </a:p>
        </p:txBody>
      </p:sp>
      <p:sp>
        <p:nvSpPr>
          <p:cNvPr id="6" name="snippet terminal">
            <a:extLst>
              <a:ext uri="{FF2B5EF4-FFF2-40B4-BE49-F238E27FC236}">
                <a16:creationId xmlns:a16="http://schemas.microsoft.com/office/drawing/2014/main" id="{BCEB86B3-C7F1-4754-A648-830EC24D2AC3}"/>
              </a:ext>
            </a:extLst>
          </p:cNvPr>
          <p:cNvSpPr>
            <a:spLocks noGrp="1"/>
          </p:cNvSpPr>
          <p:nvPr/>
        </p:nvSpPr>
        <p:spPr>
          <a:xfrm>
            <a:off x="685800" y="3914774"/>
            <a:ext cx="7239000" cy="1571625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52400" rIns="171450" bIns="11430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All checks passed!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3 files already formatted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0 errors, 0 warnings, 0 informations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3 passed</a:t>
            </a:r>
            <a:endParaRPr sz="2000" b="0">
              <a:solidFill>
                <a:srgbClr val="26323E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78C0D48A-CC27-4564-B248-488ACE2D4854}"/>
              </a:ext>
            </a:extLst>
          </p:cNvPr>
          <p:cNvSpPr>
            <a:spLocks noGrp="1"/>
          </p:cNvSpPr>
          <p:nvPr/>
        </p:nvSpPr>
        <p:spPr>
          <a:xfrm>
            <a:off x="8305800" y="1685925"/>
            <a:ext cx="3200400" cy="45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sync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требует актуальный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ci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выполняет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lint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format-check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typecheck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2025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test</a:t>
            </a: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Ненулевой код завершает job с ошибкой.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9B4E9-7A7F-4DC4-932D-4BD8FB6F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Что делает проверку обязательной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7A8E9AE5-03CA-4D50-B977-2E037A0BB8C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Локальные хуки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4AC257F4-EF03-4E73-94E6-8489D1244845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Быстро сообщают об ошибке, но их можно пропустить.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CF3E58AE-2995-45FB-AC50-085E7D8A566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CI job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64B4A8BD-C33A-40F0-A663-052704A6756C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Проверяет конкретную ревизию события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push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/ PR.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A28E3EC9-8AEB-46A8-8DF8-C5A9091C9655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Required status </a:t>
            </a:r>
            <a:r>
              <a:rPr sz="2025" b="1">
                <a:solidFill>
                  <a:srgbClr val="203A50"/>
                </a:solidFill>
                <a:latin typeface="Courier New"/>
                <a:ea typeface="Courier New"/>
                <a:cs typeface="Courier New"/>
              </a:rPr>
              <a:t>check</a:t>
            </a:r>
            <a:endParaRPr sz="2025" b="1">
              <a:solidFill>
                <a:srgbClr val="203A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6BAC2A64-6C0F-4FBB-85EE-C7E5D4ACF88D}"/>
              </a:ext>
            </a:extLst>
          </p:cNvPr>
          <p:cNvSpPr>
            <a:spLocks noGrp="1"/>
          </p:cNvSpPr>
          <p:nvPr/>
        </p:nvSpPr>
        <p:spPr>
          <a:xfrm>
            <a:off x="4705350" y="36385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Правило репозитория требует успешный job перед merge.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D4A9545E-42E3-4B84-9291-60F9364A1849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Одинаковая конфигурация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FD136011-E930-4401-8C9B-74F89029EE3A}"/>
              </a:ext>
            </a:extLst>
          </p:cNvPr>
          <p:cNvSpPr>
            <a:spLocks noGrp="1"/>
          </p:cNvSpPr>
          <p:nvPr/>
        </p:nvSpPr>
        <p:spPr>
          <a:xfrm>
            <a:off x="4705350" y="47053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uv.lock</a:t>
            </a: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 </a:t>
            </a:r>
            <a:r>
              <a:rPr lang="ru-RU" sz="2100" b="0" dirty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ci</a:t>
            </a:r>
            <a:r>
              <a:rPr lang="ru-RU" sz="2100" b="0" dirty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связывают окружение и проверки.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75A8841F-D3A2-483F-8AC9-880C179DE5FA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Хуки ускоряют работу разработчика. Правила merge устанавливаются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D8252-08F1-4BE8-9547-958ECFB0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704850"/>
          </a:xfrm>
        </p:spPr>
        <p:txBody>
          <a:bodyPr/>
          <a:lstStyle/>
          <a:p>
            <a:r>
              <a:t>Частые ошибки настройки</a:t>
            </a:r>
          </a:p>
        </p:txBody>
      </p:sp>
      <p:sp>
        <p:nvSpPr>
          <p:cNvPr id="3" name="label0">
            <a:extLst>
              <a:ext uri="{FF2B5EF4-FFF2-40B4-BE49-F238E27FC236}">
                <a16:creationId xmlns:a16="http://schemas.microsoft.com/office/drawing/2014/main" id="{38CBCD59-2CEA-4F4D-B950-BFAEC462215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Разные версии инструментов</a:t>
            </a:r>
          </a:p>
        </p:txBody>
      </p:sp>
      <p:sp>
        <p:nvSpPr>
          <p:cNvPr id="4" name="value0">
            <a:extLst>
              <a:ext uri="{FF2B5EF4-FFF2-40B4-BE49-F238E27FC236}">
                <a16:creationId xmlns:a16="http://schemas.microsoft.com/office/drawing/2014/main" id="{C416AE9F-930D-4443-B7FE-643B98555A3B}"/>
              </a:ext>
            </a:extLst>
          </p:cNvPr>
          <p:cNvSpPr>
            <a:spLocks noGrp="1"/>
          </p:cNvSpPr>
          <p:nvPr/>
        </p:nvSpPr>
        <p:spPr>
          <a:xfrm>
            <a:off x="4705350" y="15049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Локально запускаем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uv run --locked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в CI сначала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 sync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label1">
            <a:extLst>
              <a:ext uri="{FF2B5EF4-FFF2-40B4-BE49-F238E27FC236}">
                <a16:creationId xmlns:a16="http://schemas.microsoft.com/office/drawing/2014/main" id="{B3151508-6E14-4D2E-A0D6-C633420E4C39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Дублирующиеся правила</a:t>
            </a:r>
          </a:p>
        </p:txBody>
      </p:sp>
      <p:sp>
        <p:nvSpPr>
          <p:cNvPr id="6" name="value1">
            <a:extLst>
              <a:ext uri="{FF2B5EF4-FFF2-40B4-BE49-F238E27FC236}">
                <a16:creationId xmlns:a16="http://schemas.microsoft.com/office/drawing/2014/main" id="{CA47658D-4A63-4C05-B83F-DB33F35D25BC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Конфигурация хранится в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662E2FCB-AE19-42A0-B679-4DBA9475131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Рекурсивные команды</a:t>
            </a:r>
          </a:p>
        </p:txBody>
      </p:sp>
      <p:sp>
        <p:nvSpPr>
          <p:cNvPr id="8" name="value2">
            <a:extLst>
              <a:ext uri="{FF2B5EF4-FFF2-40B4-BE49-F238E27FC236}">
                <a16:creationId xmlns:a16="http://schemas.microsoft.com/office/drawing/2014/main" id="{33A16C1D-2496-43EF-AEA6-ACB4AB470E60}"/>
              </a:ext>
            </a:extLst>
          </p:cNvPr>
          <p:cNvSpPr>
            <a:spLocks noGrp="1"/>
          </p:cNvSpPr>
          <p:nvPr/>
        </p:nvSpPr>
        <p:spPr>
          <a:xfrm>
            <a:off x="4705350" y="36385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Хук вызывает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, а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make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запускает инструмент напрямую.</a:t>
            </a:r>
          </a:p>
        </p:txBody>
      </p:sp>
      <p:sp>
        <p:nvSpPr>
          <p:cNvPr id="9" name="label3">
            <a:extLst>
              <a:ext uri="{FF2B5EF4-FFF2-40B4-BE49-F238E27FC236}">
                <a16:creationId xmlns:a16="http://schemas.microsoft.com/office/drawing/2014/main" id="{A1F41D2F-1552-4BEF-AB32-951D8C973196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657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203A50"/>
                </a:solidFill>
                <a:latin typeface="Calibri"/>
                <a:ea typeface="Calibri"/>
                <a:cs typeface="Calibri"/>
              </a:rPr>
              <a:t>Скрытые автоисправления</a:t>
            </a:r>
          </a:p>
        </p:txBody>
      </p:sp>
      <p:sp>
        <p:nvSpPr>
          <p:cNvPr id="10" name="value3">
            <a:extLst>
              <a:ext uri="{FF2B5EF4-FFF2-40B4-BE49-F238E27FC236}">
                <a16:creationId xmlns:a16="http://schemas.microsoft.com/office/drawing/2014/main" id="{62D4F32A-4778-4DD4-97D3-0486D079E422}"/>
              </a:ext>
            </a:extLst>
          </p:cNvPr>
          <p:cNvSpPr>
            <a:spLocks noGrp="1"/>
          </p:cNvSpPr>
          <p:nvPr/>
        </p:nvSpPr>
        <p:spPr>
          <a:xfrm>
            <a:off x="4705350" y="4705350"/>
            <a:ext cx="680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В CI используем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2100" b="0">
                <a:solidFill>
                  <a:srgbClr val="26323E"/>
                </a:solidFill>
                <a:latin typeface="Courier New"/>
                <a:ea typeface="Courier New"/>
                <a:cs typeface="Courier New"/>
              </a:rPr>
              <a:t>format --check</a:t>
            </a:r>
            <a:r>
              <a:rPr sz="2100" b="0">
                <a:solidFill>
                  <a:srgbClr val="26323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2F1F1625-4ED9-4F23-AB9B-DA5C283D338B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3A4D5D"/>
                </a:solidFill>
                <a:latin typeface="Calibri"/>
                <a:ea typeface="Calibri"/>
                <a:cs typeface="Calibri"/>
              </a:rPr>
              <a:t>После изменения конфигов вручную запускаем оба этапа хуков.</a:t>
            </a:r>
          </a:p>
        </p:txBody>
      </p:sp>
    </p:spTree>
    <p:extLst>
      <p:ext uri="{BB962C8B-B14F-4D97-AF65-F5344CB8AC3E}">
        <p14:creationId xmlns:p14="http://schemas.microsoft.com/office/powerpoint/2010/main" val="21189106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A10BF9F-4C1A-47BF-A6E6-08986FF4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647700"/>
            <a:ext cx="10820400" cy="762000"/>
          </a:xfrm>
        </p:spPr>
        <p:txBody>
          <a:bodyPr anchor="b">
            <a:normAutofit fontScale="90000"/>
          </a:bodyPr>
          <a:lstStyle/>
          <a:p>
            <a:r>
              <a:t>Повседневный цикл</a:t>
            </a:r>
          </a:p>
        </p:txBody>
      </p:sp>
      <p:sp>
        <p:nvSpPr>
          <p:cNvPr id="7" name="step-number0">
            <a:extLst>
              <a:ext uri="{FF2B5EF4-FFF2-40B4-BE49-F238E27FC236}">
                <a16:creationId xmlns:a16="http://schemas.microsoft.com/office/drawing/2014/main" id="{958A77CC-D51F-42BC-BEFC-B6C6C0B748D8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8" name="step0">
            <a:extLst>
              <a:ext uri="{FF2B5EF4-FFF2-40B4-BE49-F238E27FC236}">
                <a16:creationId xmlns:a16="http://schemas.microsoft.com/office/drawing/2014/main" id="{B6FD1E82-2717-495A-89B0-E8CAB34FB6BF}"/>
              </a:ext>
            </a:extLst>
          </p:cNvPr>
          <p:cNvSpPr>
            <a:spLocks noGrp="1"/>
          </p:cNvSpPr>
          <p:nvPr/>
        </p:nvSpPr>
        <p:spPr>
          <a:xfrm>
            <a:off x="1257300" y="1971675"/>
            <a:ext cx="4648200" cy="685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sync</a:t>
            </a:r>
          </a:p>
        </p:txBody>
      </p:sp>
      <p:sp>
        <p:nvSpPr>
          <p:cNvPr id="9" name="step-number1">
            <a:extLst>
              <a:ext uri="{FF2B5EF4-FFF2-40B4-BE49-F238E27FC236}">
                <a16:creationId xmlns:a16="http://schemas.microsoft.com/office/drawing/2014/main" id="{FB4F7ABE-ADB3-40B2-B74C-03B21DA40935}"/>
              </a:ext>
            </a:extLst>
          </p:cNvPr>
          <p:cNvSpPr>
            <a:spLocks noGrp="1"/>
          </p:cNvSpPr>
          <p:nvPr/>
        </p:nvSpPr>
        <p:spPr>
          <a:xfrm>
            <a:off x="6143625" y="21145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10" name="step1">
            <a:extLst>
              <a:ext uri="{FF2B5EF4-FFF2-40B4-BE49-F238E27FC236}">
                <a16:creationId xmlns:a16="http://schemas.microsoft.com/office/drawing/2014/main" id="{1C8843AF-4377-4595-9775-5EAD3B3C17D4}"/>
              </a:ext>
            </a:extLst>
          </p:cNvPr>
          <p:cNvSpPr>
            <a:spLocks noGrp="1"/>
          </p:cNvSpPr>
          <p:nvPr/>
        </p:nvSpPr>
        <p:spPr>
          <a:xfrm>
            <a:off x="6543675" y="1971675"/>
            <a:ext cx="4648200" cy="685800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изменения кода</a:t>
            </a:r>
          </a:p>
        </p:txBody>
      </p:sp>
      <p:sp>
        <p:nvSpPr>
          <p:cNvPr id="11" name="step-number2">
            <a:extLst>
              <a:ext uri="{FF2B5EF4-FFF2-40B4-BE49-F238E27FC236}">
                <a16:creationId xmlns:a16="http://schemas.microsoft.com/office/drawing/2014/main" id="{6B75127D-7539-432C-9AC7-7187CC9577FC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12" name="step2">
            <a:extLst>
              <a:ext uri="{FF2B5EF4-FFF2-40B4-BE49-F238E27FC236}">
                <a16:creationId xmlns:a16="http://schemas.microsoft.com/office/drawing/2014/main" id="{6D52DC9E-2717-4929-96CE-1A6B86F831C8}"/>
              </a:ext>
            </a:extLst>
          </p:cNvPr>
          <p:cNvSpPr>
            <a:spLocks noGrp="1"/>
          </p:cNvSpPr>
          <p:nvPr/>
        </p:nvSpPr>
        <p:spPr>
          <a:xfrm>
            <a:off x="1257300" y="2886075"/>
            <a:ext cx="4648200" cy="685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fix</a:t>
            </a:r>
          </a:p>
        </p:txBody>
      </p:sp>
      <p:sp>
        <p:nvSpPr>
          <p:cNvPr id="13" name="step-number3">
            <a:extLst>
              <a:ext uri="{FF2B5EF4-FFF2-40B4-BE49-F238E27FC236}">
                <a16:creationId xmlns:a16="http://schemas.microsoft.com/office/drawing/2014/main" id="{B85E7009-7C81-4E71-A71E-7BFED31BACD4}"/>
              </a:ext>
            </a:extLst>
          </p:cNvPr>
          <p:cNvSpPr>
            <a:spLocks noGrp="1"/>
          </p:cNvSpPr>
          <p:nvPr/>
        </p:nvSpPr>
        <p:spPr>
          <a:xfrm>
            <a:off x="6143625" y="30289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4.</a:t>
            </a:r>
          </a:p>
        </p:txBody>
      </p:sp>
      <p:sp>
        <p:nvSpPr>
          <p:cNvPr id="14" name="step3">
            <a:extLst>
              <a:ext uri="{FF2B5EF4-FFF2-40B4-BE49-F238E27FC236}">
                <a16:creationId xmlns:a16="http://schemas.microsoft.com/office/drawing/2014/main" id="{E8782A7E-5F93-4008-AB8B-7AC341A504C4}"/>
              </a:ext>
            </a:extLst>
          </p:cNvPr>
          <p:cNvSpPr>
            <a:spLocks noGrp="1"/>
          </p:cNvSpPr>
          <p:nvPr/>
        </p:nvSpPr>
        <p:spPr>
          <a:xfrm>
            <a:off x="6543675" y="2886075"/>
            <a:ext cx="4648200" cy="685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make check</a:t>
            </a:r>
          </a:p>
        </p:txBody>
      </p:sp>
      <p:sp>
        <p:nvSpPr>
          <p:cNvPr id="15" name="step-number4">
            <a:extLst>
              <a:ext uri="{FF2B5EF4-FFF2-40B4-BE49-F238E27FC236}">
                <a16:creationId xmlns:a16="http://schemas.microsoft.com/office/drawing/2014/main" id="{6050487F-B92B-4F6D-9669-E2BA73B5ED4C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5.</a:t>
            </a:r>
          </a:p>
        </p:txBody>
      </p:sp>
      <p:sp>
        <p:nvSpPr>
          <p:cNvPr id="16" name="step4">
            <a:extLst>
              <a:ext uri="{FF2B5EF4-FFF2-40B4-BE49-F238E27FC236}">
                <a16:creationId xmlns:a16="http://schemas.microsoft.com/office/drawing/2014/main" id="{9586FD97-511E-468C-A83A-B14A1A4EFD9E}"/>
              </a:ext>
            </a:extLst>
          </p:cNvPr>
          <p:cNvSpPr>
            <a:spLocks noGrp="1"/>
          </p:cNvSpPr>
          <p:nvPr/>
        </p:nvSpPr>
        <p:spPr>
          <a:xfrm>
            <a:off x="1257300" y="3800475"/>
            <a:ext cx="4648200" cy="685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git add … → git commit</a:t>
            </a:r>
          </a:p>
        </p:txBody>
      </p:sp>
      <p:sp>
        <p:nvSpPr>
          <p:cNvPr id="17" name="step-number5">
            <a:extLst>
              <a:ext uri="{FF2B5EF4-FFF2-40B4-BE49-F238E27FC236}">
                <a16:creationId xmlns:a16="http://schemas.microsoft.com/office/drawing/2014/main" id="{438BC072-E32F-4322-849F-D46772A7138F}"/>
              </a:ext>
            </a:extLst>
          </p:cNvPr>
          <p:cNvSpPr>
            <a:spLocks noGrp="1"/>
          </p:cNvSpPr>
          <p:nvPr/>
        </p:nvSpPr>
        <p:spPr>
          <a:xfrm>
            <a:off x="6143625" y="3943350"/>
            <a:ext cx="34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1D415E"/>
                </a:solidFill>
                <a:latin typeface="Calibri"/>
                <a:ea typeface="Calibri"/>
                <a:cs typeface="Calibri"/>
              </a:rPr>
              <a:t>6.</a:t>
            </a:r>
          </a:p>
        </p:txBody>
      </p:sp>
      <p:sp>
        <p:nvSpPr>
          <p:cNvPr id="18" name="step5">
            <a:extLst>
              <a:ext uri="{FF2B5EF4-FFF2-40B4-BE49-F238E27FC236}">
                <a16:creationId xmlns:a16="http://schemas.microsoft.com/office/drawing/2014/main" id="{D5D57B01-48D2-433F-A51D-B2111C76D4A5}"/>
              </a:ext>
            </a:extLst>
          </p:cNvPr>
          <p:cNvSpPr>
            <a:spLocks noGrp="1"/>
          </p:cNvSpPr>
          <p:nvPr/>
        </p:nvSpPr>
        <p:spPr>
          <a:xfrm>
            <a:off x="6543675" y="3800475"/>
            <a:ext cx="4648200" cy="685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square" lIns="161925" tIns="161925" rIns="161925" bIns="161925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git push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59A3B897-5549-43BF-A687-273A73380015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344A5B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sz="2025" b="0">
                <a:solidFill>
                  <a:srgbClr val="344A5B"/>
                </a:solidFill>
                <a:latin typeface="Calibri"/>
                <a:ea typeface="Calibri"/>
                <a:cs typeface="Calibri"/>
              </a:rPr>
              <a:t> задаёт окружение. Ruff и Pyright проверяют код.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2025" b="0">
                <a:solidFill>
                  <a:srgbClr val="344A5B"/>
                </a:solidFill>
                <a:latin typeface="Courier New"/>
                <a:ea typeface="Courier New"/>
                <a:cs typeface="Courier New"/>
              </a:rPr>
              <a:t>Makefile</a:t>
            </a:r>
            <a:r>
              <a:rPr sz="2025" b="0">
                <a:solidFill>
                  <a:srgbClr val="344A5B"/>
                </a:solidFill>
                <a:latin typeface="Calibri"/>
                <a:ea typeface="Calibri"/>
                <a:cs typeface="Calibri"/>
              </a:rPr>
              <a:t> объединяет команды. Хуки и CI запускают их автоматически.</a:t>
            </a:r>
          </a:p>
        </p:txBody>
      </p:sp>
    </p:spTree>
    <p:extLst>
      <p:ext uri="{BB962C8B-B14F-4D97-AF65-F5344CB8AC3E}">
        <p14:creationId xmlns:p14="http://schemas.microsoft.com/office/powerpoint/2010/main" val="13410594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Заголовок раздела">
            <a:extLst>
              <a:ext uri="{FF2B5EF4-FFF2-40B4-BE49-F238E27FC236}">
                <a16:creationId xmlns:a16="http://schemas.microsoft.com/office/drawing/2014/main" id="{5ABE0C66-CC2E-46B8-ADBA-2A2EAAB2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476500"/>
            <a:ext cx="10572750" cy="1571625"/>
          </a:xfrm>
        </p:spPr>
        <p:txBody>
          <a:bodyPr anchor="b"/>
          <a:lstStyle/>
          <a:p>
            <a:r>
              <a:t>CI: проверяем поведение</a:t>
            </a:r>
          </a:p>
        </p:txBody>
      </p:sp>
      <p:sp>
        <p:nvSpPr>
          <p:cNvPr id="101" name="Подзаголовок">
            <a:extLst>
              <a:ext uri="{FF2B5EF4-FFF2-40B4-BE49-F238E27FC236}">
                <a16:creationId xmlns:a16="http://schemas.microsoft.com/office/drawing/2014/main" id="{816C630B-94AF-49BC-800B-454D52A12D40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1009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Тесты, покрытие и обратная связь</a:t>
            </a:r>
            <a:endParaRPr sz="2100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27385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Заголовок 1">
            <a:extLst>
              <a:ext uri="{FF2B5EF4-FFF2-40B4-BE49-F238E27FC236}">
                <a16:creationId xmlns:a16="http://schemas.microsoft.com/office/drawing/2014/main" id="{17D69318-8800-40BA-B9D9-589040D6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Ошибка, которую найдёт тест</a:t>
            </a:r>
          </a:p>
        </p:txBody>
      </p:sp>
      <p:sp>
        <p:nvSpPr>
          <p:cNvPr id="103" name="label pricing.py: намеренная ошибка">
            <a:extLst>
              <a:ext uri="{FF2B5EF4-FFF2-40B4-BE49-F238E27FC236}">
                <a16:creationId xmlns:a16="http://schemas.microsoft.com/office/drawing/2014/main" id="{9C5A627B-08C7-46A4-B281-874EE7736A43}"/>
              </a:ext>
            </a:extLst>
          </p:cNvPr>
          <p:cNvSpPr>
            <a:spLocks noGrp="1"/>
          </p:cNvSpPr>
          <p:nvPr/>
        </p:nvSpPr>
        <p:spPr>
          <a:xfrm>
            <a:off x="685800" y="1301442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600" b="1"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pricing.py</a:t>
            </a:r>
            <a:r>
              <a:rPr lang="ru-RU" sz="1600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: намеренная ошибка</a:t>
            </a:r>
            <a:endParaRPr lang="ru-RU" sz="1600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snippet python">
            <a:extLst>
              <a:ext uri="{FF2B5EF4-FFF2-40B4-BE49-F238E27FC236}">
                <a16:creationId xmlns:a16="http://schemas.microsoft.com/office/drawing/2014/main" id="{BAC741C6-3543-4218-9FDC-A0A1E55E09B5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919332" cy="746379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total(price: float, quantity: int) -&gt; float:</a:t>
            </a:r>
            <a:endParaRPr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0">
                <a:solidFill>
                  <a:srgbClr val="0000CC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price + quantity</a:t>
            </a:r>
            <a:endParaRPr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5" name="label tests/test_pricing.py">
            <a:extLst>
              <a:ext uri="{FF2B5EF4-FFF2-40B4-BE49-F238E27FC236}">
                <a16:creationId xmlns:a16="http://schemas.microsoft.com/office/drawing/2014/main" id="{E6B48DB6-EDCE-4290-B726-52C62293106B}"/>
              </a:ext>
            </a:extLst>
          </p:cNvPr>
          <p:cNvSpPr>
            <a:spLocks noGrp="1"/>
          </p:cNvSpPr>
          <p:nvPr/>
        </p:nvSpPr>
        <p:spPr>
          <a:xfrm>
            <a:off x="685800" y="2684736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25" b="1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tests/test_pricing.py</a:t>
            </a:r>
            <a:endParaRPr kumimoji="0" lang="en" sz="1425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6" name="snippet python">
            <a:extLst>
              <a:ext uri="{FF2B5EF4-FFF2-40B4-BE49-F238E27FC236}">
                <a16:creationId xmlns:a16="http://schemas.microsoft.com/office/drawing/2014/main" id="{6605101A-D2A1-4F83-9AC0-7EB278AF53EA}"/>
              </a:ext>
            </a:extLst>
          </p:cNvPr>
          <p:cNvSpPr>
            <a:spLocks noGrp="1"/>
          </p:cNvSpPr>
          <p:nvPr/>
        </p:nvSpPr>
        <p:spPr>
          <a:xfrm>
            <a:off x="685800" y="3015090"/>
            <a:ext cx="6667500" cy="1245108"/>
          </a:xfrm>
          <a:prstGeom prst="rect">
            <a:avLst/>
          </a:prstGeom>
          <a:solidFill>
            <a:srgbClr val="E6ECF1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import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pricing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def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test_total():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assert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pricing.total(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100.0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,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3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) ==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300.0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107" name="label Терминал: сокращённый пример вывода">
            <a:extLst>
              <a:ext uri="{FF2B5EF4-FFF2-40B4-BE49-F238E27FC236}">
                <a16:creationId xmlns:a16="http://schemas.microsoft.com/office/drawing/2014/main" id="{DAFA2FC5-BCF2-47BC-BA53-57C5FBC2ED5D}"/>
              </a:ext>
            </a:extLst>
          </p:cNvPr>
          <p:cNvSpPr>
            <a:spLocks noGrp="1"/>
          </p:cNvSpPr>
          <p:nvPr/>
        </p:nvSpPr>
        <p:spPr>
          <a:xfrm>
            <a:off x="685800" y="4734686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425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сокращённый пример вывода</a:t>
            </a:r>
            <a:endParaRPr sz="142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snippet terminal">
            <a:extLst>
              <a:ext uri="{FF2B5EF4-FFF2-40B4-BE49-F238E27FC236}">
                <a16:creationId xmlns:a16="http://schemas.microsoft.com/office/drawing/2014/main" id="{7648811F-2B74-488F-87E4-A4618E5B76CD}"/>
              </a:ext>
            </a:extLst>
          </p:cNvPr>
          <p:cNvSpPr>
            <a:spLocks noGrp="1"/>
          </p:cNvSpPr>
          <p:nvPr/>
        </p:nvSpPr>
        <p:spPr>
          <a:xfrm>
            <a:off x="685800" y="5065040"/>
            <a:ext cx="6667500" cy="995743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$ pytest -q</a:t>
            </a:r>
            <a:endParaRPr b="0">
              <a:solidFill>
                <a:srgbClr val="142735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E   assert 103.0 == 300.0</a:t>
            </a:r>
            <a:endParaRPr b="0">
              <a:solidFill>
                <a:srgbClr val="142735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>
                <a:solidFill>
                  <a:srgbClr val="72F777"/>
                </a:solidFill>
                <a:latin typeface="Lucida Console" panose="020B0609040504020204" pitchFamily="49" charset="0"/>
                <a:ea typeface="Courier New"/>
                <a:cs typeface="Courier New"/>
              </a:rPr>
              <a:t>FAILED tests/test_pricing.py::test_total</a:t>
            </a:r>
            <a:endParaRPr b="0">
              <a:solidFill>
                <a:srgbClr val="142735"/>
              </a:solidFill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109" name="Пояснения — единый список">
            <a:extLst>
              <a:ext uri="{FF2B5EF4-FFF2-40B4-BE49-F238E27FC236}">
                <a16:creationId xmlns:a16="http://schemas.microsoft.com/office/drawing/2014/main" id="{92FBF035-6A5D-4A7A-8C38-1C563EA03C3E}"/>
              </a:ext>
            </a:extLst>
          </p:cNvPr>
          <p:cNvSpPr>
            <a:spLocks noGrp="1"/>
          </p:cNvSpPr>
          <p:nvPr/>
        </p:nvSpPr>
        <p:spPr>
          <a:xfrm>
            <a:off x="7734300" y="1495425"/>
            <a:ext cx="3771900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Типы аргументов и результата корректны. Ошибка в формуле: вместо умножения выполнено сложение.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Тест фиксирует ожидаемое поведение: три товара по 100 дают 300.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Возвращаем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price * quantity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и повторяем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pytest -q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0" name="takeaway">
            <a:extLst>
              <a:ext uri="{FF2B5EF4-FFF2-40B4-BE49-F238E27FC236}">
                <a16:creationId xmlns:a16="http://schemas.microsoft.com/office/drawing/2014/main" id="{306AE296-8B84-40CD-8401-C2875886D23F}"/>
              </a:ext>
            </a:extLst>
          </p:cNvPr>
          <p:cNvSpPr>
            <a:spLocks noGrp="1"/>
          </p:cNvSpPr>
          <p:nvPr/>
        </p:nvSpPr>
        <p:spPr>
          <a:xfrm>
            <a:off x="685800" y="6322740"/>
            <a:ext cx="10820400" cy="3638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575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Линтер, тайпчекер и тесты проверяют разные свойства программы.</a:t>
            </a:r>
            <a:endParaRPr lang="ru-RU" sz="1575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20975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Заголовок 1">
            <a:extLst>
              <a:ext uri="{FF2B5EF4-FFF2-40B4-BE49-F238E27FC236}">
                <a16:creationId xmlns:a16="http://schemas.microsoft.com/office/drawing/2014/main" id="{73D0A7A6-83C9-4AC8-83C5-5ABEB341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Какие тесты запускать в CI</a:t>
            </a:r>
          </a:p>
        </p:txBody>
      </p:sp>
      <p:sp>
        <p:nvSpPr>
          <p:cNvPr id="112" name="label Терминал: отдельно по каталогам">
            <a:extLst>
              <a:ext uri="{FF2B5EF4-FFF2-40B4-BE49-F238E27FC236}">
                <a16:creationId xmlns:a16="http://schemas.microsoft.com/office/drawing/2014/main" id="{8F5C4D9E-88D1-4FAA-928D-D5621569016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425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Терминал: отдельно по каталогам</a:t>
            </a:r>
            <a:endParaRPr sz="142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snippet terminal">
            <a:extLst>
              <a:ext uri="{FF2B5EF4-FFF2-40B4-BE49-F238E27FC236}">
                <a16:creationId xmlns:a16="http://schemas.microsoft.com/office/drawing/2014/main" id="{EFFE0C0F-E9D4-4A74-AE67-9A630F24400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667500" cy="746379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pytest tests/unit -q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72F777"/>
                </a:solidFill>
                <a:latin typeface="Courier New"/>
                <a:ea typeface="Courier New"/>
                <a:cs typeface="Courier New"/>
              </a:rPr>
              <a:t>$ pytest tests/integration -q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14" name="label Makefile: команды проекта">
            <a:extLst>
              <a:ext uri="{FF2B5EF4-FFF2-40B4-BE49-F238E27FC236}">
                <a16:creationId xmlns:a16="http://schemas.microsoft.com/office/drawing/2014/main" id="{2377708B-CC62-4A41-92F4-0C9CEEE9BEE3}"/>
              </a:ext>
            </a:extLst>
          </p:cNvPr>
          <p:cNvSpPr>
            <a:spLocks noGrp="1"/>
          </p:cNvSpPr>
          <p:nvPr/>
        </p:nvSpPr>
        <p:spPr>
          <a:xfrm>
            <a:off x="685800" y="2584704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425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Makefile: команды проекта</a:t>
            </a:r>
            <a:endParaRPr sz="142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snippet make">
            <a:extLst>
              <a:ext uri="{FF2B5EF4-FFF2-40B4-BE49-F238E27FC236}">
                <a16:creationId xmlns:a16="http://schemas.microsoft.com/office/drawing/2014/main" id="{C1037F66-CCE1-442B-B4E5-A045FC6F79F6}"/>
              </a:ext>
            </a:extLst>
          </p:cNvPr>
          <p:cNvSpPr>
            <a:spLocks noGrp="1"/>
          </p:cNvSpPr>
          <p:nvPr/>
        </p:nvSpPr>
        <p:spPr>
          <a:xfrm>
            <a:off x="685800" y="2870454"/>
            <a:ext cx="7048500" cy="2492121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PHONY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test-unit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test-integration</a:t>
            </a: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test-unit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</a:t>
            </a: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--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locked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pytest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tests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unit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-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q</a:t>
            </a: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test-integration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</a:t>
            </a: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--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locked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pytest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tests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integration</a:t>
            </a:r>
            <a:r>
              <a:rPr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-</a:t>
            </a:r>
            <a:r>
              <a:rPr b="0" dirty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q</a:t>
            </a:r>
            <a:endParaRPr b="0" dirty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16" name="Пояснения — единый список">
            <a:extLst>
              <a:ext uri="{FF2B5EF4-FFF2-40B4-BE49-F238E27FC236}">
                <a16:creationId xmlns:a16="http://schemas.microsoft.com/office/drawing/2014/main" id="{8A36C730-4460-4F0F-A3C2-BE11F12B723E}"/>
              </a:ext>
            </a:extLst>
          </p:cNvPr>
          <p:cNvSpPr>
            <a:spLocks noGrp="1"/>
          </p:cNvSpPr>
          <p:nvPr/>
        </p:nvSpPr>
        <p:spPr>
          <a:xfrm>
            <a:off x="7734299" y="1495425"/>
            <a:ext cx="4309017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Unit-тест проверяет небольшую часть логики: расчёт суммы, валидацию количества.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Интеграционный тест проверяет взаимодействие: приложение сохраняет и читает данные в БД.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Быстрые тесты запускаем при каждом PR. Более дорогие выделяем в отдельный job.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Критичные сценарии должны пройти до merge, даже если требуют больше времени.</a:t>
            </a:r>
            <a:endParaRPr lang="ru-RU" sz="1800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takeaway">
            <a:extLst>
              <a:ext uri="{FF2B5EF4-FFF2-40B4-BE49-F238E27FC236}">
                <a16:creationId xmlns:a16="http://schemas.microsoft.com/office/drawing/2014/main" id="{5358969D-6C4C-4B8C-ABB8-D5E5900635D9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575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Разделение по каталогам позволяет запускать один и тот же набор локально и в CI.</a:t>
            </a:r>
            <a:endParaRPr sz="157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30688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Заголовок раздела">
            <a:extLst>
              <a:ext uri="{FF2B5EF4-FFF2-40B4-BE49-F238E27FC236}">
                <a16:creationId xmlns:a16="http://schemas.microsoft.com/office/drawing/2014/main" id="{1B0793B2-C4A0-4B1D-A55A-32427151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476500"/>
            <a:ext cx="10572750" cy="1571625"/>
          </a:xfrm>
        </p:spPr>
        <p:txBody>
          <a:bodyPr anchor="b"/>
          <a:lstStyle/>
          <a:p>
            <a:r>
              <a:t>Устройство pipeline</a:t>
            </a:r>
          </a:p>
        </p:txBody>
      </p:sp>
      <p:sp>
        <p:nvSpPr>
          <p:cNvPr id="126" name="Подзаголовок">
            <a:extLst>
              <a:ext uri="{FF2B5EF4-FFF2-40B4-BE49-F238E27FC236}">
                <a16:creationId xmlns:a16="http://schemas.microsoft.com/office/drawing/2014/main" id="{3748D479-57D4-4698-B93A-DDDFCF659E22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1009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Параллельные задания, матрица и разбор сбоев</a:t>
            </a:r>
            <a:endParaRPr sz="2100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50329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Заголовок 1">
            <a:extLst>
              <a:ext uri="{FF2B5EF4-FFF2-40B4-BE49-F238E27FC236}">
                <a16:creationId xmlns:a16="http://schemas.microsoft.com/office/drawing/2014/main" id="{5C4B2250-F52D-4DF3-AB6C-CD45884B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rPr dirty="0"/>
              <a:t>Workflow, jobs </a:t>
            </a:r>
            <a:r>
              <a:rPr dirty="0" err="1"/>
              <a:t>и</a:t>
            </a:r>
            <a:r>
              <a:rPr dirty="0"/>
              <a:t> steps</a:t>
            </a:r>
          </a:p>
        </p:txBody>
      </p:sp>
      <p:sp>
        <p:nvSpPr>
          <p:cNvPr id="128" name="label .github/workflows/ci.yml: секция jobs">
            <a:extLst>
              <a:ext uri="{FF2B5EF4-FFF2-40B4-BE49-F238E27FC236}">
                <a16:creationId xmlns:a16="http://schemas.microsoft.com/office/drawing/2014/main" id="{84583B6D-3348-4E48-B6DC-4354B583BB4D}"/>
              </a:ext>
            </a:extLst>
          </p:cNvPr>
          <p:cNvSpPr>
            <a:spLocks noGrp="1"/>
          </p:cNvSpPr>
          <p:nvPr/>
        </p:nvSpPr>
        <p:spPr>
          <a:xfrm>
            <a:off x="685800" y="1290291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.github/workflows/ci.yml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</a:t>
            </a: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секция 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jobs</a:t>
            </a:r>
            <a:endParaRPr kumimoji="0" lang="en" sz="16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9" name="snippet yaml">
            <a:extLst>
              <a:ext uri="{FF2B5EF4-FFF2-40B4-BE49-F238E27FC236}">
                <a16:creationId xmlns:a16="http://schemas.microsoft.com/office/drawing/2014/main" id="{A5FF6A82-35EA-43B6-AC0D-BA9AE1E6215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667500" cy="443865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1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jobs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en" sz="1800" b="1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quality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runs-on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ubuntu-latest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steps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actions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checkout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v7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astral-sh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setup-uv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v10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1.0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sync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lint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format-check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typecheck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en" sz="1800" b="1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runs-on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ubuntu-latest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steps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actions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checkout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v7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astral-sh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setup-uv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v10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1.0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sync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130" name="Пояснения — единый список">
            <a:extLst>
              <a:ext uri="{FF2B5EF4-FFF2-40B4-BE49-F238E27FC236}">
                <a16:creationId xmlns:a16="http://schemas.microsoft.com/office/drawing/2014/main" id="{B0FD35E0-2FEC-4373-8FEC-1395269229F4}"/>
              </a:ext>
            </a:extLst>
          </p:cNvPr>
          <p:cNvSpPr>
            <a:spLocks noGrp="1"/>
          </p:cNvSpPr>
          <p:nvPr/>
        </p:nvSpPr>
        <p:spPr>
          <a:xfrm>
            <a:off x="7449015" y="1495425"/>
            <a:ext cx="4583151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Workflow задаёт события и набор заданий.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quality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и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могут выполняться параллельно, поскольку между ними нет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needs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Шаги внутри одного job идут последовательно. Ошибка проверки обычно останавливает следующие шаги.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На GitHub-hosted runner каждый job получает своё окружение: checkout и установка нужны обоим.</a:t>
            </a:r>
          </a:p>
        </p:txBody>
      </p:sp>
      <p:sp>
        <p:nvSpPr>
          <p:cNvPr id="131" name="takeaway">
            <a:extLst>
              <a:ext uri="{FF2B5EF4-FFF2-40B4-BE49-F238E27FC236}">
                <a16:creationId xmlns:a16="http://schemas.microsoft.com/office/drawing/2014/main" id="{EA39433E-3E09-41BB-B719-FC312D61F5FC}"/>
              </a:ext>
            </a:extLst>
          </p:cNvPr>
          <p:cNvSpPr>
            <a:spLocks noGrp="1"/>
          </p:cNvSpPr>
          <p:nvPr/>
        </p:nvSpPr>
        <p:spPr>
          <a:xfrm>
            <a:off x="685800" y="6311590"/>
            <a:ext cx="10820400" cy="374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ru-RU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Раздельные jobs позволяют сразу увидеть, какая часть проверок не прошла.</a:t>
            </a:r>
            <a:endParaRPr lang="ru-RU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29901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Заголовок 1">
            <a:extLst>
              <a:ext uri="{FF2B5EF4-FFF2-40B4-BE49-F238E27FC236}">
                <a16:creationId xmlns:a16="http://schemas.microsoft.com/office/drawing/2014/main" id="{098486A6-E649-4B88-A0C2-09D7CB5A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Зависимости между заданиями</a:t>
            </a:r>
          </a:p>
        </p:txBody>
      </p:sp>
      <p:sp>
        <p:nvSpPr>
          <p:cNvPr id="133" name="label ci.yml: дополнительный job после проверок">
            <a:extLst>
              <a:ext uri="{FF2B5EF4-FFF2-40B4-BE49-F238E27FC236}">
                <a16:creationId xmlns:a16="http://schemas.microsoft.com/office/drawing/2014/main" id="{AF517FF1-EA91-436A-9486-1A26D24C6D3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ci.yml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</a:t>
            </a: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дополнительный 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job </a:t>
            </a: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после проверок</a:t>
            </a:r>
            <a:endParaRPr kumimoji="0" lang="ru-RU" sz="16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4" name="snippet yaml">
            <a:extLst>
              <a:ext uri="{FF2B5EF4-FFF2-40B4-BE49-F238E27FC236}">
                <a16:creationId xmlns:a16="http://schemas.microsoft.com/office/drawing/2014/main" id="{BA5299B6-EE7D-4D60-A14F-459E21D7C593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6667500" cy="2524822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package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needs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[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quality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tests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]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runs-on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ubuntu-latest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steps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-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uses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actions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checkout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@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v7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-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uses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astral-sh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setup-uv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@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v10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000" b="0">
                <a:solidFill>
                  <a:srgbClr val="087443"/>
                </a:solidFill>
                <a:latin typeface="Courier New"/>
                <a:ea typeface="Courier New"/>
                <a:cs typeface="Courier New"/>
              </a:rPr>
              <a:t>1.0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-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uv</a:t>
            </a:r>
            <a:r>
              <a:rPr sz="20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0">
                <a:solidFill>
                  <a:srgbClr val="0058A8"/>
                </a:solidFill>
                <a:latin typeface="Courier New"/>
                <a:ea typeface="Courier New"/>
                <a:cs typeface="Courier New"/>
              </a:rPr>
              <a:t>build</a:t>
            </a:r>
            <a:endParaRPr sz="2000" b="0">
              <a:solidFill>
                <a:srgbClr val="1427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35" name="Пояснения — единый список">
            <a:extLst>
              <a:ext uri="{FF2B5EF4-FFF2-40B4-BE49-F238E27FC236}">
                <a16:creationId xmlns:a16="http://schemas.microsoft.com/office/drawing/2014/main" id="{3B576D84-E7FC-4173-93EB-707B88823106}"/>
              </a:ext>
            </a:extLst>
          </p:cNvPr>
          <p:cNvSpPr>
            <a:spLocks noGrp="1"/>
          </p:cNvSpPr>
          <p:nvPr/>
        </p:nvSpPr>
        <p:spPr>
          <a:xfrm>
            <a:off x="7515921" y="1495425"/>
            <a:ext cx="4438185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needs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ждёт успешного завершения перечисленных jobs.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Сначала параллельно проходят </a:t>
            </a: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quality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tests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, затем начинается </a:t>
            </a: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package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Если обязательная проверка упала, зависимый job по умолчанию пропускается.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Файлы одного job не появляются в другом автоматически. Для передачи результатов нужны артефакты.</a:t>
            </a:r>
            <a:endParaRPr lang="ru-RU" sz="1800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takeaway">
            <a:extLst>
              <a:ext uri="{FF2B5EF4-FFF2-40B4-BE49-F238E27FC236}">
                <a16:creationId xmlns:a16="http://schemas.microsoft.com/office/drawing/2014/main" id="{A93BF993-B8C6-4AD7-B96A-8A6261FAA3E5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575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Зависимость добавляем тогда, когда следующий шаг действительно требует результата предыдущего.</a:t>
            </a:r>
            <a:endParaRPr sz="157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32635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Заголовок 1">
            <a:extLst>
              <a:ext uri="{FF2B5EF4-FFF2-40B4-BE49-F238E27FC236}">
                <a16:creationId xmlns:a16="http://schemas.microsoft.com/office/drawing/2014/main" id="{67F216C1-6B78-4912-B057-0E8B6DF35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Матрица версий Python</a:t>
            </a:r>
          </a:p>
        </p:txBody>
      </p:sp>
      <p:sp>
        <p:nvSpPr>
          <p:cNvPr id="138" name="label ci.yml: отдельный вариант job tests">
            <a:extLst>
              <a:ext uri="{FF2B5EF4-FFF2-40B4-BE49-F238E27FC236}">
                <a16:creationId xmlns:a16="http://schemas.microsoft.com/office/drawing/2014/main" id="{3778ABB7-0B8C-4302-8010-ACC3D627859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526174"/>
                </a:solidFill>
                <a:latin typeface="Courier New"/>
                <a:ea typeface="Courier New"/>
                <a:cs typeface="Courier New"/>
              </a:rPr>
              <a:t>ci.yml</a:t>
            </a:r>
            <a:r>
              <a:rPr sz="1600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: отдельный вариант job tests</a:t>
            </a:r>
            <a:endParaRPr sz="1600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snippet yaml">
            <a:extLst>
              <a:ext uri="{FF2B5EF4-FFF2-40B4-BE49-F238E27FC236}">
                <a16:creationId xmlns:a16="http://schemas.microsoft.com/office/drawing/2014/main" id="{9853AB6A-B33F-4BF8-B650-329B65CDF793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667500" cy="403860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runs-on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ubuntu-latest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strategy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fail-fast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false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matrix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python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[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"3.12"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,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"3.13"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]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steps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-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actions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checkout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v7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-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uses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astral-sh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/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setup-uv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@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v10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1.0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with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 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python-version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${{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matrix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.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python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}}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-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sync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-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test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140" name="Пояснения — единый список">
            <a:extLst>
              <a:ext uri="{FF2B5EF4-FFF2-40B4-BE49-F238E27FC236}">
                <a16:creationId xmlns:a16="http://schemas.microsoft.com/office/drawing/2014/main" id="{E85249E6-15E1-47F9-B321-F15F7635BFFF}"/>
              </a:ext>
            </a:extLst>
          </p:cNvPr>
          <p:cNvSpPr>
            <a:spLocks noGrp="1"/>
          </p:cNvSpPr>
          <p:nvPr/>
        </p:nvSpPr>
        <p:spPr>
          <a:xfrm>
            <a:off x="7734300" y="1495425"/>
            <a:ext cx="3771900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GitHub создаст отдельный запуск тестов для каждой версии из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matrix.python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Проверяем те версии Python, поддержку которых обещает проект.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fail-fast: false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позволяет получить результаты остальных вариантов, даже если один упал.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Матрицу ОС добавляем, когда важна совместимость с Windows или macOS.</a:t>
            </a:r>
          </a:p>
        </p:txBody>
      </p:sp>
      <p:sp>
        <p:nvSpPr>
          <p:cNvPr id="141" name="takeaway">
            <a:extLst>
              <a:ext uri="{FF2B5EF4-FFF2-40B4-BE49-F238E27FC236}">
                <a16:creationId xmlns:a16="http://schemas.microsoft.com/office/drawing/2014/main" id="{C1594498-34DB-4BFD-B2C0-9EAF144F5DC6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3E566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Каждая новая комбинация увеличивает число jobs и затраты на CI.</a:t>
            </a: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19260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Заголовок 1">
            <a:extLst>
              <a:ext uri="{FF2B5EF4-FFF2-40B4-BE49-F238E27FC236}">
                <a16:creationId xmlns:a16="http://schemas.microsoft.com/office/drawing/2014/main" id="{62E50BA1-6DF1-443F-A6C5-9BD66811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CI упал: где искать причину</a:t>
            </a:r>
          </a:p>
        </p:txBody>
      </p:sp>
      <p:sp>
        <p:nvSpPr>
          <p:cNvPr id="143" name="label Лог шага Run project checks: пример">
            <a:extLst>
              <a:ext uri="{FF2B5EF4-FFF2-40B4-BE49-F238E27FC236}">
                <a16:creationId xmlns:a16="http://schemas.microsoft.com/office/drawing/2014/main" id="{FF5C5200-EC13-4888-96F9-1C6C3BB684C7}"/>
              </a:ext>
            </a:extLst>
          </p:cNvPr>
          <p:cNvSpPr>
            <a:spLocks noGrp="1"/>
          </p:cNvSpPr>
          <p:nvPr/>
        </p:nvSpPr>
        <p:spPr>
          <a:xfrm>
            <a:off x="268559" y="1419225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600" b="0">
                <a:solidFill>
                  <a:srgbClr val="526174"/>
                </a:solidFill>
                <a:latin typeface="Calibri"/>
                <a:ea typeface="Calibri"/>
                <a:cs typeface="Calibri"/>
              </a:rPr>
              <a:t>Лог шага Run project checks: пример</a:t>
            </a:r>
            <a:endParaRPr lang="ru-RU" sz="1600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snippet terminal">
            <a:extLst>
              <a:ext uri="{FF2B5EF4-FFF2-40B4-BE49-F238E27FC236}">
                <a16:creationId xmlns:a16="http://schemas.microsoft.com/office/drawing/2014/main" id="{0CB56D35-BCAF-4A5E-927D-66425670D413}"/>
              </a:ext>
            </a:extLst>
          </p:cNvPr>
          <p:cNvSpPr>
            <a:spLocks noGrp="1"/>
          </p:cNvSpPr>
          <p:nvPr/>
        </p:nvSpPr>
        <p:spPr>
          <a:xfrm>
            <a:off x="268559" y="1790700"/>
            <a:ext cx="7465741" cy="2276273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make ci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ruff check .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All checks passed!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...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pytest -q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E   ModuleNotFoundError: No module named "pricing"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make: *** [test] Error 2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145" name="Пояснения — единый список">
            <a:extLst>
              <a:ext uri="{FF2B5EF4-FFF2-40B4-BE49-F238E27FC236}">
                <a16:creationId xmlns:a16="http://schemas.microsoft.com/office/drawing/2014/main" id="{45F71ECA-7760-4842-9899-7D55E048AFB1}"/>
              </a:ext>
            </a:extLst>
          </p:cNvPr>
          <p:cNvSpPr>
            <a:spLocks noGrp="1"/>
          </p:cNvSpPr>
          <p:nvPr/>
        </p:nvSpPr>
        <p:spPr>
          <a:xfrm>
            <a:off x="7734300" y="1552575"/>
            <a:ext cx="4342471" cy="346547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Открываем первый неуспешный job и упавший step.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Находим первую содержательную ошибку. Последняя строка </a:t>
            </a: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make</a:t>
            </a: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сообщает только о неуспешной команде.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Записываем SHA ревизии, версию Python и команду запуска.</a:t>
            </a:r>
          </a:p>
          <a:p>
            <a:pPr marL="228600" marR="0" lvl="0" indent="-19050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alibri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1">
                <a:ln>
                  <a:noFill/>
                </a:ln>
                <a:solidFill>
                  <a:srgbClr val="1427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Повторяем эту команду локально в подготовленном окружении.</a:t>
            </a:r>
          </a:p>
        </p:txBody>
      </p:sp>
      <p:sp>
        <p:nvSpPr>
          <p:cNvPr id="146" name="takeaway">
            <a:extLst>
              <a:ext uri="{FF2B5EF4-FFF2-40B4-BE49-F238E27FC236}">
                <a16:creationId xmlns:a16="http://schemas.microsoft.com/office/drawing/2014/main" id="{B4B01B35-C448-4D77-8AD5-921B2357978A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575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Красный job может означать ошибку кода, зависимостей, конфигурации или инфраструктуры.</a:t>
            </a:r>
            <a:endParaRPr sz="157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3164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Заголовок 1">
            <a:extLst>
              <a:ext uri="{FF2B5EF4-FFF2-40B4-BE49-F238E27FC236}">
                <a16:creationId xmlns:a16="http://schemas.microsoft.com/office/drawing/2014/main" id="{B2CDA3E2-6456-49AE-AF23-2E06D4D00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Локально проходит, в CI падает</a:t>
            </a:r>
          </a:p>
        </p:txBody>
      </p:sp>
      <p:sp>
        <p:nvSpPr>
          <p:cNvPr id="148" name="label Терминал: состояние и окружение">
            <a:extLst>
              <a:ext uri="{FF2B5EF4-FFF2-40B4-BE49-F238E27FC236}">
                <a16:creationId xmlns:a16="http://schemas.microsoft.com/office/drawing/2014/main" id="{62824E45-0FBE-45F9-A632-67EBBC457C6C}"/>
              </a:ext>
            </a:extLst>
          </p:cNvPr>
          <p:cNvSpPr>
            <a:spLocks noGrp="1"/>
          </p:cNvSpPr>
          <p:nvPr/>
        </p:nvSpPr>
        <p:spPr>
          <a:xfrm>
            <a:off x="685800" y="1328738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Терминал: состояние и окружение</a:t>
            </a:r>
            <a:endParaRPr kumimoji="0" lang="ru-RU" sz="16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9" name="snippet terminal">
            <a:extLst>
              <a:ext uri="{FF2B5EF4-FFF2-40B4-BE49-F238E27FC236}">
                <a16:creationId xmlns:a16="http://schemas.microsoft.com/office/drawing/2014/main" id="{03DEFA22-D1B6-4417-80DB-33CED8A7683A}"/>
              </a:ext>
            </a:extLst>
          </p:cNvPr>
          <p:cNvSpPr>
            <a:spLocks noGrp="1"/>
          </p:cNvSpPr>
          <p:nvPr/>
        </p:nvSpPr>
        <p:spPr>
          <a:xfrm>
            <a:off x="685800" y="1581847"/>
            <a:ext cx="6667500" cy="2175131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status --short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?? pricing.py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ls-files pricing.py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python --version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Python 3.12.8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uv sync --locked --dev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150" name="label Терминал: проверка в отдельном checkout">
            <a:extLst>
              <a:ext uri="{FF2B5EF4-FFF2-40B4-BE49-F238E27FC236}">
                <a16:creationId xmlns:a16="http://schemas.microsoft.com/office/drawing/2014/main" id="{505D4FEC-43EB-4BBE-9A10-DA507105FD0A}"/>
              </a:ext>
            </a:extLst>
          </p:cNvPr>
          <p:cNvSpPr>
            <a:spLocks noGrp="1"/>
          </p:cNvSpPr>
          <p:nvPr/>
        </p:nvSpPr>
        <p:spPr>
          <a:xfrm>
            <a:off x="685800" y="4095117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Терминал: проверка в отдельном </a:t>
            </a:r>
            <a:r>
              <a:rPr kumimoji="0" lang="en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checkout</a:t>
            </a:r>
            <a:endParaRPr kumimoji="0" lang="en" sz="16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1" name="snippet terminal">
            <a:extLst>
              <a:ext uri="{FF2B5EF4-FFF2-40B4-BE49-F238E27FC236}">
                <a16:creationId xmlns:a16="http://schemas.microsoft.com/office/drawing/2014/main" id="{C673CD74-077C-405E-8967-946BE3712C9F}"/>
              </a:ext>
            </a:extLst>
          </p:cNvPr>
          <p:cNvSpPr>
            <a:spLocks noGrp="1"/>
          </p:cNvSpPr>
          <p:nvPr/>
        </p:nvSpPr>
        <p:spPr>
          <a:xfrm>
            <a:off x="685800" y="4380867"/>
            <a:ext cx="6667500" cy="149605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git worktree add ../ci-repro HEAD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cd ../ci-repro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make sync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1">
                <a:ln>
                  <a:noFill/>
                </a:ln>
                <a:solidFill>
                  <a:srgbClr val="72F777"/>
                </a:solidFill>
                <a:effectLst/>
                <a:uLnTx/>
                <a:uFillTx/>
                <a:latin typeface="Lucida Console" panose="020B0609040504020204" pitchFamily="49" charset="0"/>
                <a:ea typeface="Courier New"/>
                <a:cs typeface="Courier New"/>
              </a:rPr>
              <a:t>$ make ci</a:t>
            </a:r>
            <a:endParaRPr kumimoji="0" lang="en" sz="20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Lucida Console" panose="020B0609040504020204" pitchFamily="49" charset="0"/>
              <a:ea typeface="Courier New"/>
              <a:cs typeface="Courier New"/>
            </a:endParaRPr>
          </a:p>
        </p:txBody>
      </p:sp>
      <p:sp>
        <p:nvSpPr>
          <p:cNvPr id="152" name="Пояснения — единый список">
            <a:extLst>
              <a:ext uri="{FF2B5EF4-FFF2-40B4-BE49-F238E27FC236}">
                <a16:creationId xmlns:a16="http://schemas.microsoft.com/office/drawing/2014/main" id="{D43893D5-E61A-48B3-9983-6D25CA1B5BAC}"/>
              </a:ext>
            </a:extLst>
          </p:cNvPr>
          <p:cNvSpPr>
            <a:spLocks noGrp="1"/>
          </p:cNvSpPr>
          <p:nvPr/>
        </p:nvSpPr>
        <p:spPr>
          <a:xfrm>
            <a:off x="7734300" y="1495425"/>
            <a:ext cx="3771900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Файл с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??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ещё не отслеживается Git. На сервер он не попадёт.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Зависимость могла быть установлена вручную и отсутствовать в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pyproject.toml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Проверяем регистр путей, текущий каталог, переменные окружения и версию Python.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Отдельный worktree помогает воспроизвести чистое состояние. При необходимости указываем SHA упавшего запуска вместо </a:t>
            </a:r>
            <a:r>
              <a:rPr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HEAD</a:t>
            </a:r>
            <a:r>
              <a:rPr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3" name="takeaway">
            <a:extLst>
              <a:ext uri="{FF2B5EF4-FFF2-40B4-BE49-F238E27FC236}">
                <a16:creationId xmlns:a16="http://schemas.microsoft.com/office/drawing/2014/main" id="{B8CF1414-5CC6-4A1A-97AD-49F756E6F46D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sz="1575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Незакоммиченные изменения не попадут в worktree, созданный из HEAD.</a:t>
            </a:r>
            <a:endParaRPr sz="1575" b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7360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1">
            <a:extLst>
              <a:ext uri="{FF2B5EF4-FFF2-40B4-BE49-F238E27FC236}">
                <a16:creationId xmlns:a16="http://schemas.microsoft.com/office/drawing/2014/main" id="{B92F7837-7090-47F9-A296-05B38602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t>PostgreSQL как сервис для тестов</a:t>
            </a:r>
          </a:p>
        </p:txBody>
      </p:sp>
      <p:sp>
        <p:nvSpPr>
          <p:cNvPr id="207" name="label ci.yml: фрагмент внутри job integration">
            <a:extLst>
              <a:ext uri="{FF2B5EF4-FFF2-40B4-BE49-F238E27FC236}">
                <a16:creationId xmlns:a16="http://schemas.microsoft.com/office/drawing/2014/main" id="{53A20293-FFC6-42B7-BD75-6570205D0EF5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ci.yml</a:t>
            </a: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srgbClr val="52617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фрагмент внутри job integration</a:t>
            </a:r>
            <a:endParaRPr kumimoji="0" lang="ru-RU" sz="16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8" name="snippet yaml">
            <a:extLst>
              <a:ext uri="{FF2B5EF4-FFF2-40B4-BE49-F238E27FC236}">
                <a16:creationId xmlns:a16="http://schemas.microsoft.com/office/drawing/2014/main" id="{C4F09796-065D-49CC-8501-3800FDF2802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667500" cy="4438650"/>
          </a:xfrm>
          <a:prstGeom prst="rect">
            <a:avLst/>
          </a:prstGeom>
          <a:solidFill>
            <a:srgbClr val="ECECEC"/>
          </a:solidFill>
          <a:ln w="0">
            <a:noFill/>
          </a:ln>
        </p:spPr>
        <p:txBody>
          <a:bodyPr wrap="none" lIns="171450" tIns="114300" rIns="171450" bIns="9525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runs-on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ubuntu-latest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services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image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17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env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POSTGRES_USER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POSTGRES_PASSWORD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POSTGRES_DB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app_test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ports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5432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5432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options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: &gt;-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--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health-cmd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"pg_isready -U postgres"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--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health-interval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10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--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health-timeout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5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s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     --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058A8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health-retries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</a:t>
            </a:r>
            <a:r>
              <a:rPr kumimoji="0" lang="en" sz="1800" b="0" i="0" u="none" strike="noStrike" kern="1200" cap="none" spc="0" normalizeH="0" baseline="0" noProof="1">
                <a:ln>
                  <a:noFill/>
                </a:ln>
                <a:solidFill>
                  <a:srgbClr val="087443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5</a:t>
            </a:r>
            <a:endParaRPr kumimoji="0" lang="en" sz="1800" b="0" i="0" u="none" strike="noStrike" kern="1200" cap="none" spc="0" normalizeH="0" baseline="0" noProof="1">
              <a:ln>
                <a:noFill/>
              </a:ln>
              <a:solidFill>
                <a:srgbClr val="142735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sp>
        <p:nvSpPr>
          <p:cNvPr id="209" name="Пояснения — единый список">
            <a:extLst>
              <a:ext uri="{FF2B5EF4-FFF2-40B4-BE49-F238E27FC236}">
                <a16:creationId xmlns:a16="http://schemas.microsoft.com/office/drawing/2014/main" id="{9BB2CED5-BDA4-4262-9254-EFDD28B50CF5}"/>
              </a:ext>
            </a:extLst>
          </p:cNvPr>
          <p:cNvSpPr>
            <a:spLocks noGrp="1"/>
          </p:cNvSpPr>
          <p:nvPr/>
        </p:nvSpPr>
        <p:spPr>
          <a:xfrm>
            <a:off x="7493620" y="1495425"/>
            <a:ext cx="4012580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GitHub запускает отдельный PostgreSQL для этого job на Linux runner.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Health check ждёт готовности сервера до выполнения тестовых шагов.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В примере job работает на runner, поэтому подключение идёт к </a:t>
            </a: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localhost:5432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28600" indent="-190500">
              <a:lnSpc>
                <a:spcPct val="105000"/>
              </a:lnSpc>
              <a:spcAft>
                <a:spcPts val="1000"/>
              </a:spcAft>
              <a:buFont typeface="Calibri"/>
              <a:buChar char="•"/>
            </a:pP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Пароль </a:t>
            </a:r>
            <a:r>
              <a:rPr lang="ru-RU" sz="1800" b="1">
                <a:solidFill>
                  <a:srgbClr val="142735"/>
                </a:solidFill>
                <a:latin typeface="Courier New"/>
                <a:ea typeface="Courier New"/>
                <a:cs typeface="Courier New"/>
              </a:rPr>
              <a:t>postgres</a:t>
            </a:r>
            <a:r>
              <a:rPr lang="ru-RU" sz="1800" b="0">
                <a:solidFill>
                  <a:srgbClr val="142735"/>
                </a:solidFill>
                <a:latin typeface="Calibri"/>
                <a:ea typeface="Calibri"/>
                <a:cs typeface="Calibri"/>
              </a:rPr>
              <a:t> относится к одноразовой тестовой БД. Доступ к production здесь не нужен.</a:t>
            </a:r>
            <a:endParaRPr lang="ru-RU" sz="1800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takeaway">
            <a:extLst>
              <a:ext uri="{FF2B5EF4-FFF2-40B4-BE49-F238E27FC236}">
                <a16:creationId xmlns:a16="http://schemas.microsoft.com/office/drawing/2014/main" id="{0A001018-5A83-440F-86DD-02774E076A2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ru-RU" b="0">
                <a:solidFill>
                  <a:srgbClr val="3E5669"/>
                </a:solidFill>
                <a:latin typeface="Calibri"/>
                <a:ea typeface="Calibri"/>
                <a:cs typeface="Calibri"/>
              </a:rPr>
              <a:t>Версию PostgreSQL выбираем под поддерживаемую версию приложения.</a:t>
            </a:r>
            <a:endParaRPr lang="ru-RU" b="0" dirty="0">
              <a:solidFill>
                <a:srgbClr val="1427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4403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Заголовок 1">
            <a:extLst>
              <a:ext uri="{FF2B5EF4-FFF2-40B4-BE49-F238E27FC236}">
                <a16:creationId xmlns:a16="http://schemas.microsoft.com/office/drawing/2014/main" id="{9C92212E-17CB-42F4-8A91-987616E9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0050"/>
            <a:ext cx="10820400" cy="857250"/>
          </a:xfrm>
        </p:spPr>
        <p:txBody>
          <a:bodyPr/>
          <a:lstStyle/>
          <a:p>
            <a:r>
              <a:rPr lang="ru-RU"/>
              <a:t>Практика: настроить CI для своего проекта</a:t>
            </a:r>
            <a:endParaRPr lang="ru-RU" dirty="0"/>
          </a:p>
        </p:txBody>
      </p:sp>
      <p:sp>
        <p:nvSpPr>
          <p:cNvPr id="229" name="Пояснения — единый список">
            <a:extLst>
              <a:ext uri="{FF2B5EF4-FFF2-40B4-BE49-F238E27FC236}">
                <a16:creationId xmlns:a16="http://schemas.microsoft.com/office/drawing/2014/main" id="{809FBD7D-1A67-4F92-B4EE-73E9C2CBFC6C}"/>
              </a:ext>
            </a:extLst>
          </p:cNvPr>
          <p:cNvSpPr>
            <a:spLocks noGrp="1"/>
          </p:cNvSpPr>
          <p:nvPr/>
        </p:nvSpPr>
        <p:spPr>
          <a:xfrm>
            <a:off x="685800" y="1351723"/>
            <a:ext cx="11093824" cy="505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ru-RU" sz="2000" dirty="0"/>
              <a:t>Взять за основу </a:t>
            </a:r>
            <a:r>
              <a:rPr lang="ru-RU" sz="2000" b="1" dirty="0"/>
              <a:t>существующий проект на Python</a:t>
            </a:r>
            <a:r>
              <a:rPr lang="ru-RU" sz="2000" dirty="0"/>
              <a:t>, в котором не настроен CI и прочие инструменты автоматической проверки кода.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ru-RU" sz="2000" dirty="0"/>
              <a:t>В результате выполнения работы проект должен получить</a:t>
            </a:r>
            <a:r>
              <a:rPr lang="en-US" sz="2000" dirty="0"/>
              <a:t>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конфиги для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ruff</a:t>
            </a:r>
            <a:r>
              <a:rPr lang="en-US" sz="2000" dirty="0"/>
              <a:t>,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pyright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Makefile — </a:t>
            </a:r>
            <a:r>
              <a:rPr lang="ru-RU" sz="2000" dirty="0"/>
              <a:t>набор команд для качества кода</a:t>
            </a:r>
            <a:r>
              <a:rPr lang="en-US" sz="2000" dirty="0"/>
              <a:t>:</a:t>
            </a:r>
          </a:p>
          <a:p>
            <a:pPr marL="1200150"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статический анализ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ruff check</a:t>
            </a:r>
            <a:r>
              <a:rPr lang="ru-RU" sz="2000" dirty="0"/>
              <a:t>),</a:t>
            </a:r>
          </a:p>
          <a:p>
            <a:pPr marL="1200150"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автоформаттинг</a:t>
            </a:r>
            <a:r>
              <a:rPr lang="en-US" sz="2000" dirty="0"/>
              <a:t>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ruff format</a:t>
            </a:r>
            <a:r>
              <a:rPr lang="en-US" sz="2000" dirty="0"/>
              <a:t>)</a:t>
            </a:r>
            <a:endParaRPr lang="ru-RU" sz="2000" dirty="0"/>
          </a:p>
          <a:p>
            <a:pPr marL="1200150"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проверки типов</a:t>
            </a:r>
            <a:r>
              <a:rPr lang="en-US" sz="2000" dirty="0"/>
              <a:t>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pyright</a:t>
            </a:r>
            <a:r>
              <a:rPr lang="en-US" sz="2000" dirty="0"/>
              <a:t>)</a:t>
            </a:r>
            <a:endParaRPr lang="ru-RU" sz="2000" dirty="0"/>
          </a:p>
          <a:p>
            <a:pPr marL="1200150"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запуска тестов (если они уже есть в проекте)</a:t>
            </a:r>
            <a:endParaRPr lang="en-US" sz="2000" dirty="0"/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pre-commit </a:t>
            </a:r>
            <a:r>
              <a:rPr lang="ru-RU" sz="2000" dirty="0"/>
              <a:t>и/или </a:t>
            </a:r>
            <a:r>
              <a:rPr lang="en-US" sz="2000" dirty="0"/>
              <a:t>pre-push hooks — </a:t>
            </a:r>
            <a:r>
              <a:rPr lang="ru-RU" sz="2000" dirty="0"/>
              <a:t>автоматические проверки перед коммитом и/или отправкой изменений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по желанию (за доп. балл) — автоматическая проверка </a:t>
            </a:r>
            <a:r>
              <a:rPr lang="en-US" sz="2000" dirty="0"/>
              <a:t>pull requests</a:t>
            </a:r>
            <a:r>
              <a:rPr lang="ru-RU" sz="2000" dirty="0"/>
              <a:t> через </a:t>
            </a:r>
            <a:r>
              <a:rPr lang="en-US" sz="2000" dirty="0"/>
              <a:t>GitHub Actions</a:t>
            </a:r>
            <a:r>
              <a:rPr lang="ru-RU" sz="2000" dirty="0"/>
              <a:t>.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ru-RU" sz="2000" dirty="0"/>
              <a:t>Исправить все замечания анализаторов + автоформатинг</a:t>
            </a:r>
          </a:p>
          <a:p>
            <a:pPr marL="914400" lvl="1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в результате должен получиться чистый репозиторий с </a:t>
            </a:r>
            <a:r>
              <a:rPr lang="en-US" sz="2000" dirty="0"/>
              <a:t>0 </a:t>
            </a:r>
            <a:r>
              <a:rPr lang="ru-RU" sz="2000" dirty="0"/>
              <a:t>ошибок и предупреждений</a:t>
            </a:r>
          </a:p>
        </p:txBody>
      </p:sp>
    </p:spTree>
    <p:extLst>
      <p:ext uri="{BB962C8B-B14F-4D97-AF65-F5344CB8AC3E}">
        <p14:creationId xmlns:p14="http://schemas.microsoft.com/office/powerpoint/2010/main" val="1040247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12491</Words>
  <Application>Microsoft Macintosh PowerPoint</Application>
  <DocSecurity>0</DocSecurity>
  <PresentationFormat>Широкоэкранный</PresentationFormat>
  <Paragraphs>1716</Paragraphs>
  <Slides>79</Slides>
  <Notes>79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86" baseType="lpstr">
      <vt:lpstr>Arial</vt:lpstr>
      <vt:lpstr>Calibri</vt:lpstr>
      <vt:lpstr>Calibri Light</vt:lpstr>
      <vt:lpstr>Consolas</vt:lpstr>
      <vt:lpstr>Courier New</vt:lpstr>
      <vt:lpstr>Lucida Console</vt:lpstr>
      <vt:lpstr>Тема Office</vt:lpstr>
      <vt:lpstr>Презентация PowerPoint</vt:lpstr>
      <vt:lpstr>Презентация PowerPoint</vt:lpstr>
      <vt:lpstr>CI (на примере Python)</vt:lpstr>
      <vt:lpstr>Где мы замечаем ошибку</vt:lpstr>
      <vt:lpstr>Статический анализ Python</vt:lpstr>
      <vt:lpstr>Статические инструменты для кода в Python</vt:lpstr>
      <vt:lpstr>Статический анализ: инструменты</vt:lpstr>
      <vt:lpstr>Сквозной пример: стоимость заказа</vt:lpstr>
      <vt:lpstr>Ruff</vt:lpstr>
      <vt:lpstr>Ruff: три роли</vt:lpstr>
      <vt:lpstr>Линтер: неиспользуемый импорт</vt:lpstr>
      <vt:lpstr>Ruff: как найти правила</vt:lpstr>
      <vt:lpstr>Пример--show-setting </vt:lpstr>
      <vt:lpstr>Автоисправление: результат виден в diff</vt:lpstr>
      <vt:lpstr>Форматтер: единое оформление</vt:lpstr>
      <vt:lpstr>Настройки Ruff в pyproject.toml</vt:lpstr>
      <vt:lpstr>Ruff: выбор и расширение правил</vt:lpstr>
      <vt:lpstr>Ruff: какие файлы попадут в проверку</vt:lpstr>
      <vt:lpstr>Ruff: группы и коды правил</vt:lpstr>
      <vt:lpstr>Исключения: точное правило и место</vt:lpstr>
      <vt:lpstr>Ruff: настройки форматтера</vt:lpstr>
      <vt:lpstr>Ruff: политика автоисправлений</vt:lpstr>
      <vt:lpstr>Pyright — проверка типов</vt:lpstr>
      <vt:lpstr>Тайпчекеры: короткий обзор</vt:lpstr>
      <vt:lpstr>Pyright: ошибка на границе функции</vt:lpstr>
      <vt:lpstr>Pyright: зачем нужна проверка None</vt:lpstr>
      <vt:lpstr>Конфигурация Pyright</vt:lpstr>
      <vt:lpstr>Pyright: постепенное усиление проверок</vt:lpstr>
      <vt:lpstr>Внедрение типизации</vt:lpstr>
      <vt:lpstr>basedpyright: отличия от Pyright</vt:lpstr>
      <vt:lpstr>uv</vt:lpstr>
      <vt:lpstr>uv: что это и для чего нужен</vt:lpstr>
      <vt:lpstr>uv: окружение и зависимости</vt:lpstr>
      <vt:lpstr>Файлы проекта uv</vt:lpstr>
      <vt:lpstr>uv sync, uv run и uvx</vt:lpstr>
      <vt:lpstr>Воспроизводимый запуск</vt:lpstr>
      <vt:lpstr>uv: обновление одной зависимости</vt:lpstr>
      <vt:lpstr>Окружение uv: успешные проверки</vt:lpstr>
      <vt:lpstr>make и Makefile</vt:lpstr>
      <vt:lpstr>Зачем появился make</vt:lpstr>
      <vt:lpstr>Классическая сборка C</vt:lpstr>
      <vt:lpstr>Makefile описывает зависимости</vt:lpstr>
      <vt:lpstr>Когда make пересобирает цель</vt:lpstr>
      <vt:lpstr>make в консоли: план и повторная сборка</vt:lpstr>
      <vt:lpstr>Переменные и шаблонные правила</vt:lpstr>
      <vt:lpstr>Makefile для обработки аудио</vt:lpstr>
      <vt:lpstr>От файлов к частым командам</vt:lpstr>
      <vt:lpstr>Переменные команд проекта</vt:lpstr>
      <vt:lpstr>Команды рецепта (recipe) и оболочка</vt:lpstr>
      <vt:lpstr>Составная цель и порядок выполнения</vt:lpstr>
      <vt:lpstr>Подготовка после клонирования</vt:lpstr>
      <vt:lpstr>Git-хуки и pre-commit</vt:lpstr>
      <vt:lpstr>Git-хуки и пакет pre-commit</vt:lpstr>
      <vt:lpstr>Распределение проверок по этапам</vt:lpstr>
      <vt:lpstr>Конфигурация хука pre-commit</vt:lpstr>
      <vt:lpstr>Проверка хуков вручную</vt:lpstr>
      <vt:lpstr>Если коммит остановлен</vt:lpstr>
      <vt:lpstr>Что именно проверяет хук</vt:lpstr>
      <vt:lpstr>Общая настройка проекта</vt:lpstr>
      <vt:lpstr>Все команды проверок в Makefile</vt:lpstr>
      <vt:lpstr>Ручной запуск, хуки и CI</vt:lpstr>
      <vt:lpstr>Одна конфигурация — три точки входа</vt:lpstr>
      <vt:lpstr>CI на сервере</vt:lpstr>
      <vt:lpstr>GitHub Actions: запуск задания</vt:lpstr>
      <vt:lpstr>GitHub Actions: окружение и проверки</vt:lpstr>
      <vt:lpstr>Что делает проверку обязательной</vt:lpstr>
      <vt:lpstr>Частые ошибки настройки</vt:lpstr>
      <vt:lpstr>Повседневный цикл</vt:lpstr>
      <vt:lpstr>CI: проверяем поведение</vt:lpstr>
      <vt:lpstr>Ошибка, которую найдёт тест</vt:lpstr>
      <vt:lpstr>Какие тесты запускать в CI</vt:lpstr>
      <vt:lpstr>Устройство pipeline</vt:lpstr>
      <vt:lpstr>Workflow, jobs и steps</vt:lpstr>
      <vt:lpstr>Зависимости между заданиями</vt:lpstr>
      <vt:lpstr>Матрица версий Python</vt:lpstr>
      <vt:lpstr>CI упал: где искать причину</vt:lpstr>
      <vt:lpstr>Локально проходит, в CI падает</vt:lpstr>
      <vt:lpstr>PostgreSQL как сервис для тестов</vt:lpstr>
      <vt:lpstr>Практика: настроить CI для своего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Валерий Студенников</cp:lastModifiedBy>
  <cp:revision>9</cp:revision>
  <dcterms:created xsi:type="dcterms:W3CDTF">2026-09-29T06:16:45Z</dcterms:created>
  <dcterms:modified xsi:type="dcterms:W3CDTF">2026-09-29T12:26:26Z</dcterms:modified>
</cp:coreProperties>
</file>